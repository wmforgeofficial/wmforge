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71" r:id="rId7"/>
    <p:sldId id="259" r:id="rId8"/>
    <p:sldId id="272" r:id="rId9"/>
    <p:sldId id="260" r:id="rId10"/>
    <p:sldId id="273" r:id="rId11"/>
    <p:sldId id="261" r:id="rId12"/>
    <p:sldId id="274" r:id="rId13"/>
    <p:sldId id="267" r:id="rId14"/>
  </p:sldIdLst>
  <p:sldSz cx="18288000" cy="10287000"/>
  <p:notesSz cx="6858000" cy="9144000"/>
  <p:embeddedFontLst>
    <p:embeddedFont>
      <p:font typeface="SimSun" panose="02010600030101010101" pitchFamily="2" charset="-122"/>
      <p:regular r:id="rId18"/>
    </p:embeddedFont>
    <p:embeddedFont>
      <p:font typeface="Calibri" panose="020F0502020204030204"/>
      <p:regular r:id="rId19"/>
      <p:bold r:id="rId20"/>
      <p:italic r:id="rId21"/>
      <p:boldItalic r:id="rId22"/>
    </p:embeddedFont>
    <p:embeddedFont>
      <p:font typeface="Poppins" panose="0000050000000000000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92"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1A7"/>
    <a:srgbClr val="FABC14"/>
    <a:srgbClr val="FFF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9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9.fntdata"/><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8" name="Google Shape;108;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8" name="Google Shape;108;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0" name="Google Shape;120;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0" name="Google Shape;120;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8" name="Google Shape;228;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3332"/>
        </a:solidFill>
        <a:effectLst/>
      </p:bgPr>
    </p:bg>
    <p:spTree>
      <p:nvGrpSpPr>
        <p:cNvPr id="83" name="Shape 83"/>
        <p:cNvGrpSpPr/>
        <p:nvPr/>
      </p:nvGrpSpPr>
      <p:grpSpPr>
        <a:xfrm>
          <a:off x="0" y="0"/>
          <a:ext cx="0" cy="0"/>
          <a:chOff x="0" y="0"/>
          <a:chExt cx="0" cy="0"/>
        </a:xfrm>
      </p:grpSpPr>
      <p:cxnSp>
        <p:nvCxnSpPr>
          <p:cNvPr id="85" name="Google Shape;85;p13"/>
          <p:cNvCxnSpPr/>
          <p:nvPr/>
        </p:nvCxnSpPr>
        <p:spPr>
          <a:xfrm>
            <a:off x="594155" y="9944100"/>
            <a:ext cx="9401838" cy="0"/>
          </a:xfrm>
          <a:prstGeom prst="straightConnector1">
            <a:avLst/>
          </a:prstGeom>
          <a:noFill/>
          <a:ln w="19050" cap="rnd" cmpd="sng">
            <a:solidFill>
              <a:srgbClr val="FFE6A8"/>
            </a:solidFill>
            <a:prstDash val="solid"/>
            <a:round/>
            <a:headEnd type="none" w="sm" len="sm"/>
            <a:tailEnd type="none" w="sm" len="sm"/>
          </a:ln>
        </p:spPr>
      </p:cxnSp>
      <p:sp>
        <p:nvSpPr>
          <p:cNvPr id="86" name="Google Shape;86;p13"/>
          <p:cNvSpPr txBox="1"/>
          <p:nvPr/>
        </p:nvSpPr>
        <p:spPr>
          <a:xfrm>
            <a:off x="520700" y="644525"/>
            <a:ext cx="9476105" cy="1850361"/>
          </a:xfrm>
          <a:prstGeom prst="roundRect">
            <a:avLst/>
          </a:prstGeom>
          <a:noFill/>
          <a:ln w="38100">
            <a:solidFill>
              <a:srgbClr val="FFE1A7"/>
            </a:solid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IN" altLang="en-US" sz="5400" b="1" i="0" u="none" strike="noStrike" cap="none">
                <a:solidFill>
                  <a:srgbClr val="FFE6A8"/>
                </a:solidFill>
                <a:latin typeface="Poppins" panose="00000500000000000000"/>
                <a:ea typeface="Poppins" panose="00000500000000000000"/>
                <a:cs typeface="Poppins" panose="00000500000000000000"/>
                <a:sym typeface="Poppins" panose="00000500000000000000"/>
              </a:rPr>
              <a:t>Shelf Life </a:t>
            </a:r>
            <a:endParaRPr lang="en-IN" altLang="en-US" sz="5400" b="1"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00000"/>
              </a:lnSpc>
              <a:spcBef>
                <a:spcPts val="0"/>
              </a:spcBef>
              <a:spcAft>
                <a:spcPts val="0"/>
              </a:spcAft>
              <a:buNone/>
            </a:pPr>
            <a:r>
              <a:rPr lang="en-IN" altLang="en-US" sz="5400" b="1" i="0" u="none" strike="noStrike" cap="none">
                <a:solidFill>
                  <a:srgbClr val="FABC14"/>
                </a:solidFill>
                <a:latin typeface="Poppins" panose="00000500000000000000"/>
                <a:ea typeface="Poppins" panose="00000500000000000000"/>
                <a:cs typeface="Poppins" panose="00000500000000000000"/>
                <a:sym typeface="Poppins" panose="00000500000000000000"/>
              </a:rPr>
              <a:t>Expiration Date in SAP WM</a:t>
            </a:r>
            <a:endParaRPr lang="en-IN" altLang="en-US" sz="5400" b="1" i="0" u="none" strike="noStrike" cap="none">
              <a:solidFill>
                <a:srgbClr val="FABC14"/>
              </a:solidFill>
              <a:latin typeface="Poppins" panose="00000500000000000000"/>
              <a:ea typeface="Poppins" panose="00000500000000000000"/>
              <a:cs typeface="Poppins" panose="00000500000000000000"/>
              <a:sym typeface="Poppins" panose="00000500000000000000"/>
            </a:endParaRPr>
          </a:p>
        </p:txBody>
      </p:sp>
      <p:sp>
        <p:nvSpPr>
          <p:cNvPr id="88" name="Google Shape;88;p13"/>
          <p:cNvSpPr txBox="1"/>
          <p:nvPr/>
        </p:nvSpPr>
        <p:spPr>
          <a:xfrm>
            <a:off x="594360" y="9185520"/>
            <a:ext cx="8325000" cy="294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600" b="1" i="0" u="none" strike="noStrike" cap="none">
                <a:solidFill>
                  <a:srgbClr val="FFE6A8"/>
                </a:solidFill>
                <a:latin typeface="Poppins" panose="00000500000000000000"/>
                <a:ea typeface="Poppins" panose="00000500000000000000"/>
                <a:cs typeface="Poppins" panose="00000500000000000000"/>
                <a:sym typeface="Poppins" panose="00000500000000000000"/>
              </a:rPr>
              <a:t>PREPARED </a:t>
            </a:r>
            <a:r>
              <a:rPr lang="en-IN" altLang="en-US" sz="1600" b="1" i="0" u="none" strike="noStrike" cap="none">
                <a:solidFill>
                  <a:srgbClr val="FFE6A8"/>
                </a:solidFill>
                <a:latin typeface="Poppins" panose="00000500000000000000"/>
                <a:ea typeface="Poppins" panose="00000500000000000000"/>
                <a:cs typeface="Poppins" panose="00000500000000000000"/>
                <a:sym typeface="Poppins" panose="00000500000000000000"/>
              </a:rPr>
              <a:t>BY: ANSHUL kHATIYAN</a:t>
            </a:r>
            <a:endParaRPr lang="en-IN" altLang="en-US" sz="1600" b="1"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p:txBody>
      </p:sp>
      <p:pic>
        <p:nvPicPr>
          <p:cNvPr id="90" name="Google Shape;90;p13" descr="D:/Downloads/WMForge SAP Warehouse Hero Banner.pngWMForge SAP Warehouse Hero Banner"/>
          <p:cNvPicPr preferRelativeResize="0"/>
          <p:nvPr/>
        </p:nvPicPr>
        <p:blipFill>
          <a:blip r:embed="rId1"/>
          <a:srcRect l="12391" r="44329"/>
          <a:stretch>
            <a:fillRect/>
          </a:stretch>
        </p:blipFill>
        <p:spPr>
          <a:xfrm>
            <a:off x="10450830" y="0"/>
            <a:ext cx="7837805" cy="10287635"/>
          </a:xfrm>
          <a:prstGeom prst="rect">
            <a:avLst/>
          </a:prstGeom>
          <a:noFill/>
          <a:ln>
            <a:noFill/>
          </a:ln>
        </p:spPr>
      </p:pic>
      <p:pic>
        <p:nvPicPr>
          <p:cNvPr id="2" name="Picture 1" descr="logo_from_poster"/>
          <p:cNvPicPr>
            <a:picLocks noChangeAspect="1"/>
          </p:cNvPicPr>
          <p:nvPr/>
        </p:nvPicPr>
        <p:blipFill>
          <a:blip r:embed="rId2"/>
          <a:stretch>
            <a:fillRect/>
          </a:stretch>
        </p:blipFill>
        <p:spPr>
          <a:xfrm>
            <a:off x="15206345" y="0"/>
            <a:ext cx="3081528" cy="1029586"/>
          </a:xfrm>
          <a:prstGeom prst="rect">
            <a:avLst/>
          </a:prstGeom>
        </p:spPr>
      </p:pic>
      <p:sp>
        <p:nvSpPr>
          <p:cNvPr id="3" name="Google Shape;88;p13"/>
          <p:cNvSpPr txBox="1"/>
          <p:nvPr/>
        </p:nvSpPr>
        <p:spPr>
          <a:xfrm>
            <a:off x="594360" y="9500480"/>
            <a:ext cx="8325000" cy="294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IN" altLang="en-US" sz="1600" b="1" i="0" u="none" strike="noStrike" cap="none">
                <a:solidFill>
                  <a:srgbClr val="FFE6A8"/>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p:txBody>
      </p:sp>
      <p:sp>
        <p:nvSpPr>
          <p:cNvPr id="4" name="Text Box 3"/>
          <p:cNvSpPr txBox="1"/>
          <p:nvPr/>
        </p:nvSpPr>
        <p:spPr>
          <a:xfrm>
            <a:off x="627380" y="3575050"/>
            <a:ext cx="9295130" cy="3538220"/>
          </a:xfrm>
          <a:prstGeom prst="rect">
            <a:avLst/>
          </a:prstGeom>
        </p:spPr>
        <p:txBody>
          <a:bodyPr wrap="square">
            <a:spAutoFit/>
          </a:bodyPr>
          <a:p>
            <a:r>
              <a:rPr lang="en-US" altLang="zh-CN" sz="3200">
                <a:solidFill>
                  <a:srgbClr val="FFE1A7"/>
                </a:solidFill>
              </a:rPr>
              <a:t>In a warehouse, simply knowing how much stock is available is not enough. We also need to know when that stock will expire. SLED helps SAP track the expiration dates of materials so that users can check shelf-life requirements during goods receipt and manage stock based on its remaining shelf life.</a:t>
            </a:r>
            <a:endParaRPr lang="en-US" altLang="zh-CN" sz="3200">
              <a:solidFill>
                <a:srgbClr val="FFE1A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94" name="Shape 94"/>
        <p:cNvGrpSpPr/>
        <p:nvPr/>
      </p:nvGrpSpPr>
      <p:grpSpPr>
        <a:xfrm>
          <a:off x="0" y="0"/>
          <a:ext cx="0" cy="0"/>
          <a:chOff x="0" y="0"/>
          <a:chExt cx="0" cy="0"/>
        </a:xfrm>
      </p:grpSpPr>
      <p:sp>
        <p:nvSpPr>
          <p:cNvPr id="97" name="Google Shape;97;p14"/>
          <p:cNvSpPr txBox="1"/>
          <p:nvPr/>
        </p:nvSpPr>
        <p:spPr>
          <a:xfrm>
            <a:off x="1028700" y="3997946"/>
            <a:ext cx="7124700" cy="1676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0400" b="0" i="0" u="none" strike="noStrike" cap="none">
                <a:solidFill>
                  <a:srgbClr val="293332"/>
                </a:solidFill>
                <a:latin typeface="Poppins" panose="00000500000000000000"/>
                <a:ea typeface="Poppins" panose="00000500000000000000"/>
                <a:cs typeface="Poppins" panose="00000500000000000000"/>
                <a:sym typeface="Poppins" panose="00000500000000000000"/>
              </a:rPr>
              <a:t>Agenda</a:t>
            </a:r>
            <a:endParaRPr lang="en-US" sz="104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5" name="Text Box 4"/>
          <p:cNvSpPr txBox="1"/>
          <p:nvPr/>
        </p:nvSpPr>
        <p:spPr>
          <a:xfrm>
            <a:off x="9149715" y="1496695"/>
            <a:ext cx="8049895" cy="7355205"/>
          </a:xfrm>
          <a:prstGeom prst="rect">
            <a:avLst/>
          </a:prstGeom>
        </p:spPr>
        <p:txBody>
          <a:bodyPr wrap="square">
            <a:spAutoFit/>
          </a:bodyPr>
          <a:p>
            <a:pPr marL="0" indent="0">
              <a:buFont typeface="Arial" panose="020B0604020202020204" pitchFamily="34" charset="0"/>
              <a:buNone/>
            </a:pPr>
            <a:r>
              <a:rPr lang="en-IN" altLang="en-US" sz="2800" b="1">
                <a:solidFill>
                  <a:srgbClr val="293332"/>
                </a:solidFill>
                <a:latin typeface="Poppins" panose="00000500000000000000"/>
                <a:ea typeface="Poppins" panose="00000500000000000000"/>
                <a:cs typeface="Poppins" panose="00000500000000000000"/>
                <a:sym typeface="Poppins" panose="00000500000000000000"/>
              </a:rPr>
              <a:t>Configuration :</a:t>
            </a:r>
            <a:endParaRPr lang="en-IN" altLang="en-US" sz="2800" b="1"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r>
              <a:rPr lang="en-US" altLang="zh-CN" sz="2400"/>
              <a:t>Activate SLED Check in Inventory Management (MM)</a:t>
            </a: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r>
              <a:rPr lang="en-IN" altLang="en-US" sz="2400"/>
              <a:t>Activate SLED per warehouse and </a:t>
            </a:r>
            <a:r>
              <a:rPr lang="en-US" altLang="zh-CN" sz="2400"/>
              <a:t>Define Stock Removal Strategy in SAP WM</a:t>
            </a:r>
            <a:endParaRPr lang="en-US" altLang="zh-CN" sz="2400"/>
          </a:p>
          <a:p>
            <a:pPr marL="0" indent="0">
              <a:buFont typeface="Arial" panose="020B0604020202020204" pitchFamily="34" charset="0"/>
              <a:buNone/>
            </a:pPr>
            <a:endParaRPr lang="en-US" altLang="zh-CN" sz="2400"/>
          </a:p>
          <a:p>
            <a:pPr marL="457200" indent="-457200">
              <a:buFont typeface="Arial" panose="020B0604020202020204" pitchFamily="34" charset="0"/>
              <a:buChar char="•"/>
            </a:pPr>
            <a:r>
              <a:rPr lang="en-US" altLang="zh-CN" sz="2400"/>
              <a:t>Maintain SLED Parameters in Material Master</a:t>
            </a:r>
            <a:endParaRPr lang="en-US" altLang="zh-CN" sz="2400"/>
          </a:p>
          <a:p>
            <a:pPr marL="0" indent="0">
              <a:buFont typeface="Arial" panose="020B0604020202020204" pitchFamily="34" charset="0"/>
              <a:buNone/>
            </a:pPr>
            <a:endParaRPr lang="en-US" altLang="zh-CN" sz="2800"/>
          </a:p>
          <a:p>
            <a:pPr marL="0" indent="0">
              <a:buFont typeface="Arial" panose="020B0604020202020204" pitchFamily="34" charset="0"/>
              <a:buNone/>
            </a:pPr>
            <a:r>
              <a:rPr lang="en-IN" altLang="en-US" sz="2800" b="1">
                <a:solidFill>
                  <a:srgbClr val="293332"/>
                </a:solidFill>
                <a:latin typeface="Poppins" panose="00000500000000000000"/>
                <a:ea typeface="Poppins" panose="00000500000000000000"/>
                <a:cs typeface="Poppins" panose="00000500000000000000"/>
                <a:sym typeface="Poppins" panose="00000500000000000000"/>
              </a:rPr>
              <a:t>Execution :</a:t>
            </a:r>
            <a:endParaRPr lang="en-IN" altLang="en-US" sz="2800" b="1"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indent="0">
              <a:buFont typeface="Arial" panose="020B0604020202020204" pitchFamily="34" charset="0"/>
              <a:buNone/>
            </a:pPr>
            <a:endParaRPr lang="en-US" altLang="zh-CN" sz="2800"/>
          </a:p>
          <a:p>
            <a:pPr marL="457200" indent="-457200">
              <a:buFont typeface="Arial" panose="020B0604020202020204" pitchFamily="34" charset="0"/>
              <a:buChar char="•"/>
            </a:pPr>
            <a:r>
              <a:rPr lang="en-US" altLang="zh-CN" sz="2400"/>
              <a:t>Create Purchase Order and Check Remaining Shelf Life</a:t>
            </a: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r>
              <a:rPr lang="en-US" altLang="zh-CN" sz="2400"/>
              <a:t>Post Goods Receipt and Enter Manufacturing Date</a:t>
            </a:r>
            <a:endParaRPr lang="en-US" altLang="zh-CN" sz="2400"/>
          </a:p>
          <a:p>
            <a:pPr marL="457200" indent="-457200">
              <a:buFont typeface="Arial" panose="020B0604020202020204" pitchFamily="34" charset="0"/>
              <a:buChar char="•"/>
            </a:pPr>
            <a:endParaRPr lang="en-US" altLang="zh-CN" sz="2400"/>
          </a:p>
          <a:p>
            <a:pPr marL="457200" indent="-457200">
              <a:buFont typeface="Arial" panose="020B0604020202020204" pitchFamily="34" charset="0"/>
              <a:buChar char="•"/>
            </a:pPr>
            <a:r>
              <a:rPr lang="en-US" altLang="zh-CN" sz="2400"/>
              <a:t>Validate Shelf Life Expiration Date</a:t>
            </a:r>
            <a:r>
              <a:rPr lang="en-IN" altLang="en-US" sz="2400"/>
              <a:t>, </a:t>
            </a:r>
            <a:r>
              <a:rPr lang="en-US" altLang="zh-CN" sz="2400"/>
              <a:t>Error Messages</a:t>
            </a:r>
            <a:r>
              <a:rPr lang="en-IN" altLang="en-US" sz="2400"/>
              <a:t> and </a:t>
            </a:r>
            <a:r>
              <a:rPr lang="en-US" altLang="zh-CN" sz="2400"/>
              <a:t>Verify SLED/Best Before Date After Goods Receipt</a:t>
            </a:r>
            <a:endParaRPr lang="en-US" altLang="zh-CN" sz="2400"/>
          </a:p>
        </p:txBody>
      </p:sp>
      <p:pic>
        <p:nvPicPr>
          <p:cNvPr id="6" name="Picture 5" descr="logo_from_poster"/>
          <p:cNvPicPr>
            <a:picLocks noChangeAspect="1"/>
          </p:cNvPicPr>
          <p:nvPr/>
        </p:nvPicPr>
        <p:blipFill>
          <a:blip r:embed="rId1"/>
          <a:stretch>
            <a:fillRect/>
          </a:stretch>
        </p:blipFill>
        <p:spPr>
          <a:xfrm>
            <a:off x="15209520" y="0"/>
            <a:ext cx="3078480" cy="1028700"/>
          </a:xfrm>
          <a:prstGeom prst="rect">
            <a:avLst/>
          </a:prstGeom>
        </p:spPr>
      </p:pic>
      <p:sp>
        <p:nvSpPr>
          <p:cNvPr id="7" name="Google Shape;88;p13"/>
          <p:cNvSpPr txBox="1"/>
          <p:nvPr/>
        </p:nvSpPr>
        <p:spPr>
          <a:xfrm>
            <a:off x="323850" y="9795120"/>
            <a:ext cx="8325000" cy="294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IN" altLang="en-US" sz="1600" b="1">
                <a:solidFill>
                  <a:schemeClr val="tx1"/>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sp>
        <p:nvSpPr>
          <p:cNvPr id="12" name="Rectangle 11"/>
          <p:cNvSpPr/>
          <p:nvPr/>
        </p:nvSpPr>
        <p:spPr>
          <a:xfrm>
            <a:off x="8438515" y="-26670"/>
            <a:ext cx="76200" cy="10310495"/>
          </a:xfrm>
          <a:prstGeom prst="rect">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3332"/>
        </a:solidFill>
        <a:effectLst/>
      </p:bgPr>
    </p:bg>
    <p:spTree>
      <p:nvGrpSpPr>
        <p:cNvPr id="101" name="Shape 101"/>
        <p:cNvGrpSpPr/>
        <p:nvPr/>
      </p:nvGrpSpPr>
      <p:grpSpPr>
        <a:xfrm>
          <a:off x="0" y="0"/>
          <a:ext cx="0" cy="0"/>
          <a:chOff x="0" y="0"/>
          <a:chExt cx="0" cy="0"/>
        </a:xfrm>
      </p:grpSpPr>
      <p:sp>
        <p:nvSpPr>
          <p:cNvPr id="103" name="Google Shape;103;p15"/>
          <p:cNvSpPr txBox="1"/>
          <p:nvPr/>
        </p:nvSpPr>
        <p:spPr>
          <a:xfrm>
            <a:off x="9465945" y="2880995"/>
            <a:ext cx="8656955" cy="5684520"/>
          </a:xfrm>
          <a:prstGeom prst="rect">
            <a:avLst/>
          </a:prstGeom>
          <a:noFill/>
          <a:ln>
            <a:noFill/>
          </a:ln>
        </p:spPr>
        <p:txBody>
          <a:bodyPr spcFirstLastPara="1" wrap="square" lIns="0" tIns="0" rIns="0" bIns="0" anchor="t" anchorCtr="0">
            <a:spAutoFit/>
          </a:bodyPr>
          <a:lstStyle/>
          <a:p>
            <a:pPr marL="342900" marR="0" lvl="0" indent="-342900" algn="l" rtl="0">
              <a:lnSpc>
                <a:spcPct val="140000"/>
              </a:lnSpc>
              <a:spcBef>
                <a:spcPts val="0"/>
              </a:spcBef>
              <a:spcAft>
                <a:spcPts val="0"/>
              </a:spcAft>
              <a:buClr>
                <a:srgbClr val="FFE1A7"/>
              </a:buClr>
              <a:buFont typeface="Arial" panose="020B0604020202020204" pitchFamily="34" charset="0"/>
              <a:buChar char="•"/>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Activate SLED Check in Inventory Management (MM)</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342900" marR="0" lvl="0" indent="-342900" algn="l" rtl="0">
              <a:lnSpc>
                <a:spcPct val="140000"/>
              </a:lnSpc>
              <a:spcBef>
                <a:spcPts val="0"/>
              </a:spcBef>
              <a:spcAft>
                <a:spcPts val="0"/>
              </a:spcAft>
              <a:buClr>
                <a:srgbClr val="FFE1A7"/>
              </a:buClr>
              <a:buFont typeface="Arial" panose="020B0604020202020204" pitchFamily="34" charset="0"/>
              <a:buChar char="•"/>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Activating the Shelf Life Expiration Date (SLED) check is the first step in configuring shelf-life management in SAP WM. It enables SAP to check shelf-life information during goods receipt based on the settings maintained for the relevant plant and movement type.</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342900" marR="0" lvl="0" indent="-342900" algn="l" rtl="0">
              <a:lnSpc>
                <a:spcPct val="140000"/>
              </a:lnSpc>
              <a:spcBef>
                <a:spcPts val="0"/>
              </a:spcBef>
              <a:spcAft>
                <a:spcPts val="0"/>
              </a:spcAft>
              <a:buClr>
                <a:srgbClr val="FFE1A7"/>
              </a:buClr>
              <a:buFont typeface="Arial" panose="020B0604020202020204" pitchFamily="34" charset="0"/>
              <a:buChar char="•"/>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T-code: SPRO</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342900" marR="0" lvl="0" indent="-342900" algn="l" rtl="0">
              <a:lnSpc>
                <a:spcPct val="140000"/>
              </a:lnSpc>
              <a:spcBef>
                <a:spcPts val="0"/>
              </a:spcBef>
              <a:spcAft>
                <a:spcPts val="0"/>
              </a:spcAft>
              <a:buClr>
                <a:srgbClr val="FFE1A7"/>
              </a:buClr>
              <a:buFont typeface="Arial" panose="020B0604020202020204" pitchFamily="34" charset="0"/>
              <a:buChar char="•"/>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Configuration Path: Materials Management → Inventory Management and Physical Inventory → Goods Receipt → Set Expiration Date Check</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342900" marR="0" lvl="0" indent="-342900" algn="l" rtl="0">
              <a:lnSpc>
                <a:spcPct val="140000"/>
              </a:lnSpc>
              <a:spcBef>
                <a:spcPts val="0"/>
              </a:spcBef>
              <a:spcAft>
                <a:spcPts val="0"/>
              </a:spcAft>
              <a:buClr>
                <a:srgbClr val="FFE1A7"/>
              </a:buClr>
              <a:buFont typeface="Arial" panose="020B0604020202020204" pitchFamily="34" charset="0"/>
              <a:buChar char="•"/>
            </a:pP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p:txBody>
      </p:sp>
      <p:pic>
        <p:nvPicPr>
          <p:cNvPr id="5" name="Picture 1"/>
          <p:cNvPicPr>
            <a:picLocks noChangeAspect="1"/>
          </p:cNvPicPr>
          <p:nvPr/>
        </p:nvPicPr>
        <p:blipFill>
          <a:blip r:embed="rId1"/>
          <a:stretch>
            <a:fillRect/>
          </a:stretch>
        </p:blipFill>
        <p:spPr>
          <a:xfrm>
            <a:off x="402590" y="1137920"/>
            <a:ext cx="8581390" cy="8359775"/>
          </a:xfrm>
          <a:prstGeom prst="rect">
            <a:avLst/>
          </a:prstGeom>
          <a:noFill/>
          <a:ln>
            <a:noFill/>
          </a:ln>
        </p:spPr>
      </p:pic>
      <p:sp>
        <p:nvSpPr>
          <p:cNvPr id="2" name="Rectangle 1"/>
          <p:cNvSpPr/>
          <p:nvPr/>
        </p:nvSpPr>
        <p:spPr>
          <a:xfrm>
            <a:off x="229870" y="923925"/>
            <a:ext cx="8977630" cy="8797290"/>
          </a:xfrm>
          <a:prstGeom prst="rect">
            <a:avLst/>
          </a:prstGeom>
          <a:ln w="38100">
            <a:solidFill>
              <a:srgbClr val="FFE1A7"/>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pic>
        <p:nvPicPr>
          <p:cNvPr id="3" name="Picture 2" descr="logo_from_poster"/>
          <p:cNvPicPr>
            <a:picLocks noChangeAspect="1"/>
          </p:cNvPicPr>
          <p:nvPr/>
        </p:nvPicPr>
        <p:blipFill>
          <a:blip r:embed="rId2"/>
          <a:stretch>
            <a:fillRect/>
          </a:stretch>
        </p:blipFill>
        <p:spPr>
          <a:xfrm>
            <a:off x="15206345" y="0"/>
            <a:ext cx="3081528" cy="1029833"/>
          </a:xfrm>
          <a:prstGeom prst="rect">
            <a:avLst/>
          </a:prstGeom>
        </p:spPr>
      </p:pic>
      <p:sp>
        <p:nvSpPr>
          <p:cNvPr id="7" name="Google Shape;88;p13"/>
          <p:cNvSpPr txBox="1"/>
          <p:nvPr/>
        </p:nvSpPr>
        <p:spPr>
          <a:xfrm>
            <a:off x="9631680" y="9795120"/>
            <a:ext cx="832500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rgbClr val="FFE6A8"/>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rgbClr val="FFE1A7"/>
              </a:solidFill>
              <a:latin typeface="Poppins" panose="00000500000000000000"/>
              <a:ea typeface="Poppins" panose="00000500000000000000"/>
              <a:cs typeface="Poppins" panose="00000500000000000000"/>
              <a:sym typeface="Poppins" panose="00000500000000000000"/>
            </a:endParaRPr>
          </a:p>
        </p:txBody>
      </p:sp>
      <p:sp>
        <p:nvSpPr>
          <p:cNvPr id="4" name="Text Box 3"/>
          <p:cNvSpPr txBox="1"/>
          <p:nvPr/>
        </p:nvSpPr>
        <p:spPr>
          <a:xfrm>
            <a:off x="9631045" y="1491615"/>
            <a:ext cx="8325485" cy="1076325"/>
          </a:xfrm>
          <a:prstGeom prst="rect">
            <a:avLst/>
          </a:prstGeom>
          <a:noFill/>
        </p:spPr>
        <p:txBody>
          <a:bodyPr wrap="square" rtlCol="0" anchor="t">
            <a:spAutoFit/>
          </a:bodyPr>
          <a:p>
            <a:pPr marL="0" indent="0">
              <a:buFont typeface="Arial" panose="020B0604020202020204" pitchFamily="34" charset="0"/>
              <a:buNone/>
            </a:pPr>
            <a:r>
              <a:rPr lang="en-IN" altLang="en-US" sz="3200">
                <a:solidFill>
                  <a:srgbClr val="FFE1A7"/>
                </a:solidFill>
                <a:sym typeface="+mn-ea"/>
              </a:rPr>
              <a:t> </a:t>
            </a:r>
            <a:r>
              <a:rPr lang="en-US" altLang="zh-CN" sz="3200">
                <a:solidFill>
                  <a:srgbClr val="FFE1A7"/>
                </a:solidFill>
                <a:sym typeface="+mn-ea"/>
              </a:rPr>
              <a:t>Activate SLED Check in Inventory Management (MM)</a:t>
            </a:r>
            <a:endParaRPr lang="en-US" altLang="zh-CN" sz="3200">
              <a:solidFill>
                <a:srgbClr val="FFE1A7"/>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3332"/>
        </a:solidFill>
        <a:effectLst/>
      </p:bgPr>
    </p:bg>
    <p:spTree>
      <p:nvGrpSpPr>
        <p:cNvPr id="101" name="Shape 101"/>
        <p:cNvGrpSpPr/>
        <p:nvPr/>
      </p:nvGrpSpPr>
      <p:grpSpPr>
        <a:xfrm>
          <a:off x="0" y="0"/>
          <a:ext cx="0" cy="0"/>
          <a:chOff x="0" y="0"/>
          <a:chExt cx="0" cy="0"/>
        </a:xfrm>
      </p:grpSpPr>
      <p:sp>
        <p:nvSpPr>
          <p:cNvPr id="103" name="Google Shape;103;p15"/>
          <p:cNvSpPr txBox="1"/>
          <p:nvPr/>
        </p:nvSpPr>
        <p:spPr>
          <a:xfrm>
            <a:off x="9300845" y="1450975"/>
            <a:ext cx="8987155" cy="775208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altLang="en-US" sz="2400" b="1" i="0" u="none" strike="noStrike" cap="none">
                <a:solidFill>
                  <a:srgbClr val="FFE6A8"/>
                </a:solidFill>
                <a:latin typeface="Poppins" panose="00000500000000000000"/>
                <a:ea typeface="Poppins" panose="00000500000000000000"/>
                <a:cs typeface="Poppins" panose="00000500000000000000"/>
                <a:sym typeface="Poppins" panose="00000500000000000000"/>
              </a:rPr>
              <a:t>- Plant:</a:t>
            </a: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Select the required plant and activate the SLED</a:t>
            </a:r>
            <a:r>
              <a:rPr lang="en-IN"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(BBD/ProdDt)</a:t>
            </a: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check.</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altLang="en-US" sz="2400" b="1" i="0" u="none" strike="noStrike" cap="none">
                <a:solidFill>
                  <a:srgbClr val="FFE6A8"/>
                </a:solidFill>
                <a:latin typeface="Poppins" panose="00000500000000000000"/>
                <a:ea typeface="Poppins" panose="00000500000000000000"/>
                <a:cs typeface="Poppins" panose="00000500000000000000"/>
                <a:sym typeface="Poppins" panose="00000500000000000000"/>
              </a:rPr>
              <a:t>- Movement Type:</a:t>
            </a: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Select the relevant movement type, such as 101 for goods receipt against a purchase order.</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altLang="en-US" sz="2400" b="1" i="0" u="none" strike="noStrike" cap="none">
                <a:solidFill>
                  <a:srgbClr val="FFE6A8"/>
                </a:solidFill>
                <a:latin typeface="Poppins" panose="00000500000000000000"/>
                <a:ea typeface="Poppins" panose="00000500000000000000"/>
                <a:cs typeface="Poppins" panose="00000500000000000000"/>
                <a:sym typeface="Poppins" panose="00000500000000000000"/>
              </a:rPr>
              <a:t>- SLED Check Indicator:</a:t>
            </a:r>
            <a:endParaRPr lang="en-US" altLang="en-US" sz="2400" b="1"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IN"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a:t>
            </a: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1 – Enter and check SLED: Enter the expiration date and let SAP validate it.</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2 – Enter manufacturing date and calculate SLED: Enter the manufacturing date, and SAP calculates the expiration date using the material's total shelf life.</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3 – No Check at Goods Issue: Do not perform the SLED check during the relevant goods issue movement.</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40000"/>
              </a:lnSpc>
              <a:spcBef>
                <a:spcPts val="0"/>
              </a:spcBef>
              <a:spcAft>
                <a:spcPts val="0"/>
              </a:spcAft>
              <a:buNone/>
            </a:pPr>
            <a:r>
              <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rPr>
              <a:t> </a:t>
            </a:r>
            <a:endParaRPr lang="en-US" altLang="en-US" sz="2400" b="0" i="0" u="none" strike="noStrike" cap="none">
              <a:solidFill>
                <a:srgbClr val="FFE6A8"/>
              </a:solidFill>
              <a:latin typeface="Poppins" panose="00000500000000000000"/>
              <a:ea typeface="Poppins" panose="00000500000000000000"/>
              <a:cs typeface="Poppins" panose="00000500000000000000"/>
              <a:sym typeface="Poppins" panose="00000500000000000000"/>
            </a:endParaRPr>
          </a:p>
        </p:txBody>
      </p:sp>
      <p:pic>
        <p:nvPicPr>
          <p:cNvPr id="2" name="Picture 2"/>
          <p:cNvPicPr>
            <a:picLocks noChangeAspect="1"/>
          </p:cNvPicPr>
          <p:nvPr/>
        </p:nvPicPr>
        <p:blipFill>
          <a:blip r:embed="rId1"/>
          <a:stretch>
            <a:fillRect/>
          </a:stretch>
        </p:blipFill>
        <p:spPr>
          <a:xfrm>
            <a:off x="333375" y="290830"/>
            <a:ext cx="8452485" cy="3220720"/>
          </a:xfrm>
          <a:prstGeom prst="rect">
            <a:avLst/>
          </a:prstGeom>
          <a:noFill/>
          <a:ln>
            <a:noFill/>
          </a:ln>
        </p:spPr>
      </p:pic>
      <p:pic>
        <p:nvPicPr>
          <p:cNvPr id="3" name="Picture 3"/>
          <p:cNvPicPr>
            <a:picLocks noChangeAspect="1"/>
          </p:cNvPicPr>
          <p:nvPr/>
        </p:nvPicPr>
        <p:blipFill>
          <a:blip r:embed="rId2"/>
          <a:stretch>
            <a:fillRect/>
          </a:stretch>
        </p:blipFill>
        <p:spPr>
          <a:xfrm>
            <a:off x="308610" y="3709035"/>
            <a:ext cx="8477250" cy="2437130"/>
          </a:xfrm>
          <a:prstGeom prst="rect">
            <a:avLst/>
          </a:prstGeom>
          <a:noFill/>
          <a:ln>
            <a:noFill/>
          </a:ln>
        </p:spPr>
      </p:pic>
      <p:pic>
        <p:nvPicPr>
          <p:cNvPr id="4" name="Picture 4"/>
          <p:cNvPicPr>
            <a:picLocks noChangeAspect="1"/>
          </p:cNvPicPr>
          <p:nvPr/>
        </p:nvPicPr>
        <p:blipFill>
          <a:blip r:embed="rId3"/>
          <a:stretch>
            <a:fillRect/>
          </a:stretch>
        </p:blipFill>
        <p:spPr>
          <a:xfrm>
            <a:off x="333375" y="6343650"/>
            <a:ext cx="8452485" cy="3609340"/>
          </a:xfrm>
          <a:prstGeom prst="rect">
            <a:avLst/>
          </a:prstGeom>
          <a:noFill/>
          <a:ln>
            <a:noFill/>
          </a:ln>
        </p:spPr>
      </p:pic>
      <p:pic>
        <p:nvPicPr>
          <p:cNvPr id="6" name="Picture 5" descr="logo_from_poster"/>
          <p:cNvPicPr>
            <a:picLocks noChangeAspect="1"/>
          </p:cNvPicPr>
          <p:nvPr/>
        </p:nvPicPr>
        <p:blipFill>
          <a:blip r:embed="rId4"/>
          <a:stretch>
            <a:fillRect/>
          </a:stretch>
        </p:blipFill>
        <p:spPr>
          <a:xfrm>
            <a:off x="15206345" y="0"/>
            <a:ext cx="3081528" cy="1029833"/>
          </a:xfrm>
          <a:prstGeom prst="rect">
            <a:avLst/>
          </a:prstGeom>
        </p:spPr>
      </p:pic>
      <p:sp>
        <p:nvSpPr>
          <p:cNvPr id="7" name="Rectangle 6"/>
          <p:cNvSpPr/>
          <p:nvPr/>
        </p:nvSpPr>
        <p:spPr>
          <a:xfrm>
            <a:off x="204470" y="128905"/>
            <a:ext cx="8746490" cy="10003155"/>
          </a:xfrm>
          <a:prstGeom prst="rect">
            <a:avLst/>
          </a:prstGeom>
          <a:ln>
            <a:solidFill>
              <a:srgbClr val="FFE1A7"/>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8" name="Google Shape;88;p13"/>
          <p:cNvSpPr txBox="1"/>
          <p:nvPr/>
        </p:nvSpPr>
        <p:spPr>
          <a:xfrm>
            <a:off x="9631680" y="9795120"/>
            <a:ext cx="832500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rgbClr val="FFE6A8"/>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rgbClr val="FFE1A7"/>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109" name="Shape 109"/>
        <p:cNvGrpSpPr/>
        <p:nvPr/>
      </p:nvGrpSpPr>
      <p:grpSpPr>
        <a:xfrm>
          <a:off x="0" y="0"/>
          <a:ext cx="0" cy="0"/>
          <a:chOff x="0" y="0"/>
          <a:chExt cx="0" cy="0"/>
        </a:xfrm>
      </p:grpSpPr>
      <p:sp>
        <p:nvSpPr>
          <p:cNvPr id="114" name="Google Shape;114;p16"/>
          <p:cNvSpPr txBox="1"/>
          <p:nvPr/>
        </p:nvSpPr>
        <p:spPr>
          <a:xfrm>
            <a:off x="516890" y="2863215"/>
            <a:ext cx="9210675" cy="556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rPr>
              <a:t>Activating SLED management and defining the stock removal strategy in SAP WM helps the warehouse manage materials according to their expiration dates. Once the relevant settings are configured, SAP can use the shelf-life information maintained for stock to determine which material should be picked first. In classic SAP WM, the Shortest Remaining Shelf Life strategy (H) is used to prioritize stock with the shortest remaining shelf life, supporting the FEFO (First Expired, First Out) approach.</a:t>
            </a:r>
            <a:endPar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rPr>
              <a:t>- T-code: SPRO</a:t>
            </a:r>
            <a:endPar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rPr>
              <a:t>- Configuration path: Logistics Execution → Warehouse Management → Strategies → Stock Removal Strategies → Define Strategy</a:t>
            </a:r>
            <a:r>
              <a:rPr lang="en-IN"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rPr>
              <a:t> for expiration date</a:t>
            </a:r>
            <a:endParaRPr lang="en-IN"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21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116" name="Google Shape;116;p16"/>
          <p:cNvSpPr txBox="1"/>
          <p:nvPr/>
        </p:nvSpPr>
        <p:spPr>
          <a:xfrm>
            <a:off x="670560" y="1226185"/>
            <a:ext cx="9210675" cy="984885"/>
          </a:xfrm>
          <a:prstGeom prst="rect">
            <a:avLst/>
          </a:prstGeom>
          <a:noFill/>
          <a:ln>
            <a:noFill/>
          </a:ln>
        </p:spPr>
        <p:txBody>
          <a:bodyPr spcFirstLastPara="1" wrap="square" lIns="0" tIns="0" rIns="0" bIns="0" anchor="t" anchorCtr="0">
            <a:spAutoFit/>
          </a:bodyPr>
          <a:lstStyle/>
          <a:p>
            <a:pPr marL="0" indent="0">
              <a:buFont typeface="Arial" panose="020B0604020202020204" pitchFamily="34" charset="0"/>
              <a:buNone/>
            </a:pPr>
            <a:r>
              <a:rPr lang="en-IN" altLang="en-US" sz="3200">
                <a:sym typeface="+mn-ea"/>
              </a:rPr>
              <a:t>Activate SLED per warehouse and </a:t>
            </a:r>
            <a:r>
              <a:rPr lang="en-US" altLang="zh-CN" sz="3200">
                <a:sym typeface="+mn-ea"/>
              </a:rPr>
              <a:t>Define Stock Removal Strategy in SAP WM</a:t>
            </a:r>
            <a:endParaRPr lang="en-US" altLang="en-US" sz="32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pic>
        <p:nvPicPr>
          <p:cNvPr id="5" name="Picture 5"/>
          <p:cNvPicPr>
            <a:picLocks noChangeAspect="1"/>
          </p:cNvPicPr>
          <p:nvPr/>
        </p:nvPicPr>
        <p:blipFill>
          <a:blip r:embed="rId1"/>
          <a:stretch>
            <a:fillRect/>
          </a:stretch>
        </p:blipFill>
        <p:spPr>
          <a:xfrm>
            <a:off x="10177780" y="1226185"/>
            <a:ext cx="7654290" cy="8083550"/>
          </a:xfrm>
          <a:prstGeom prst="rect">
            <a:avLst/>
          </a:prstGeom>
          <a:noFill/>
          <a:ln>
            <a:noFill/>
          </a:ln>
        </p:spPr>
      </p:pic>
      <p:pic>
        <p:nvPicPr>
          <p:cNvPr id="3" name="Picture 2" descr="logo_from_poster"/>
          <p:cNvPicPr>
            <a:picLocks noChangeAspect="1"/>
          </p:cNvPicPr>
          <p:nvPr/>
        </p:nvPicPr>
        <p:blipFill>
          <a:blip r:embed="rId2"/>
          <a:stretch>
            <a:fillRect/>
          </a:stretch>
        </p:blipFill>
        <p:spPr>
          <a:xfrm>
            <a:off x="15206345" y="0"/>
            <a:ext cx="3081528" cy="1029833"/>
          </a:xfrm>
          <a:prstGeom prst="rect">
            <a:avLst/>
          </a:prstGeom>
        </p:spPr>
      </p:pic>
      <p:sp>
        <p:nvSpPr>
          <p:cNvPr id="2" name="Rectangle 1"/>
          <p:cNvSpPr/>
          <p:nvPr/>
        </p:nvSpPr>
        <p:spPr>
          <a:xfrm>
            <a:off x="10079355" y="1129030"/>
            <a:ext cx="7900035" cy="8310245"/>
          </a:xfrm>
          <a:prstGeom prst="rect">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7" name="Google Shape;88;p13"/>
          <p:cNvSpPr txBox="1"/>
          <p:nvPr/>
        </p:nvSpPr>
        <p:spPr>
          <a:xfrm>
            <a:off x="323850" y="9795120"/>
            <a:ext cx="8325000" cy="294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IN" altLang="en-US" sz="1600" b="1">
                <a:solidFill>
                  <a:schemeClr val="tx1"/>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109" name="Shape 109"/>
        <p:cNvGrpSpPr/>
        <p:nvPr/>
      </p:nvGrpSpPr>
      <p:grpSpPr>
        <a:xfrm>
          <a:off x="0" y="0"/>
          <a:ext cx="0" cy="0"/>
          <a:chOff x="0" y="0"/>
          <a:chExt cx="0" cy="0"/>
        </a:xfrm>
      </p:grpSpPr>
      <p:pic>
        <p:nvPicPr>
          <p:cNvPr id="3" name="Picture 2" descr="logo_from_poster"/>
          <p:cNvPicPr>
            <a:picLocks noChangeAspect="1"/>
          </p:cNvPicPr>
          <p:nvPr/>
        </p:nvPicPr>
        <p:blipFill>
          <a:blip r:embed="rId1"/>
          <a:stretch>
            <a:fillRect/>
          </a:stretch>
        </p:blipFill>
        <p:spPr>
          <a:xfrm>
            <a:off x="15206345" y="0"/>
            <a:ext cx="3081528" cy="1029833"/>
          </a:xfrm>
          <a:prstGeom prst="rect">
            <a:avLst/>
          </a:prstGeom>
        </p:spPr>
      </p:pic>
      <p:pic>
        <p:nvPicPr>
          <p:cNvPr id="6" name="Picture 6"/>
          <p:cNvPicPr>
            <a:picLocks noChangeAspect="1"/>
          </p:cNvPicPr>
          <p:nvPr/>
        </p:nvPicPr>
        <p:blipFill>
          <a:blip r:embed="rId2"/>
          <a:stretch>
            <a:fillRect/>
          </a:stretch>
        </p:blipFill>
        <p:spPr>
          <a:xfrm>
            <a:off x="91440" y="91440"/>
            <a:ext cx="7537450" cy="2952115"/>
          </a:xfrm>
          <a:prstGeom prst="rect">
            <a:avLst/>
          </a:prstGeom>
          <a:noFill/>
          <a:ln>
            <a:noFill/>
          </a:ln>
        </p:spPr>
      </p:pic>
      <p:pic>
        <p:nvPicPr>
          <p:cNvPr id="2" name="Picture 1"/>
          <p:cNvPicPr>
            <a:picLocks noChangeAspect="1"/>
          </p:cNvPicPr>
          <p:nvPr/>
        </p:nvPicPr>
        <p:blipFill>
          <a:blip r:embed="rId3"/>
          <a:stretch>
            <a:fillRect/>
          </a:stretch>
        </p:blipFill>
        <p:spPr>
          <a:xfrm>
            <a:off x="109728" y="3108960"/>
            <a:ext cx="7537450" cy="2743835"/>
          </a:xfrm>
          <a:prstGeom prst="rect">
            <a:avLst/>
          </a:prstGeom>
        </p:spPr>
      </p:pic>
      <p:pic>
        <p:nvPicPr>
          <p:cNvPr id="4" name="Picture 3"/>
          <p:cNvPicPr>
            <a:picLocks noChangeAspect="1"/>
          </p:cNvPicPr>
          <p:nvPr/>
        </p:nvPicPr>
        <p:blipFill>
          <a:blip r:embed="rId4"/>
          <a:stretch>
            <a:fillRect/>
          </a:stretch>
        </p:blipFill>
        <p:spPr>
          <a:xfrm>
            <a:off x="91440" y="5943600"/>
            <a:ext cx="7537450" cy="4220845"/>
          </a:xfrm>
          <a:prstGeom prst="rect">
            <a:avLst/>
          </a:prstGeom>
        </p:spPr>
      </p:pic>
      <p:sp>
        <p:nvSpPr>
          <p:cNvPr id="8" name="Rectangle 7"/>
          <p:cNvSpPr/>
          <p:nvPr/>
        </p:nvSpPr>
        <p:spPr>
          <a:xfrm>
            <a:off x="-51435" y="-24765"/>
            <a:ext cx="7847965" cy="10285095"/>
          </a:xfrm>
          <a:prstGeom prst="rect">
            <a:avLst/>
          </a:prstGeom>
          <a:ln w="38100">
            <a:solidFill>
              <a:srgbClr val="FFFDF4"/>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Google Shape;114;p16"/>
          <p:cNvSpPr txBox="1"/>
          <p:nvPr/>
        </p:nvSpPr>
        <p:spPr>
          <a:xfrm>
            <a:off x="8340090" y="1209675"/>
            <a:ext cx="9287510" cy="890524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.1. Activate SLED Management per Warehouse</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In the first screen, select </a:t>
            </a:r>
            <a:r>
              <a:rPr lang="en-US" altLang="en-US" sz="1800" b="1" i="0" u="none" strike="noStrike" cap="none">
                <a:solidFill>
                  <a:srgbClr val="293332"/>
                </a:solidFill>
                <a:latin typeface="Poppins" panose="00000500000000000000"/>
                <a:ea typeface="Poppins" panose="00000500000000000000"/>
                <a:cs typeface="Poppins" panose="00000500000000000000"/>
                <a:sym typeface="Poppins" panose="00000500000000000000"/>
              </a:rPr>
              <a:t>Activate</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beside SLED management per whse no.</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In the next screen, activate the </a:t>
            </a:r>
            <a:r>
              <a:rPr lang="en-US" altLang="en-US" sz="1800" b="1" i="0" u="none" strike="noStrike" cap="none">
                <a:solidFill>
                  <a:srgbClr val="293332"/>
                </a:solidFill>
                <a:latin typeface="Poppins" panose="00000500000000000000"/>
                <a:ea typeface="Poppins" panose="00000500000000000000"/>
                <a:cs typeface="Poppins" panose="00000500000000000000"/>
                <a:sym typeface="Poppins" panose="00000500000000000000"/>
              </a:rPr>
              <a:t>SLED Mgmt Active</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checkbox for the relevant warehouse number, as shown for warehouse VKM in your screenshot.</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2. Activate Stock Removal Strategy</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Return to the Stock Removal Strategy "SLED" screen.</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Select </a:t>
            </a:r>
            <a:r>
              <a:rPr lang="en-US" altLang="en-US" sz="1800" b="1" i="0" u="none" strike="noStrike" cap="none">
                <a:solidFill>
                  <a:srgbClr val="293332"/>
                </a:solidFill>
                <a:latin typeface="Poppins" panose="00000500000000000000"/>
                <a:ea typeface="Poppins" panose="00000500000000000000"/>
                <a:cs typeface="Poppins" panose="00000500000000000000"/>
                <a:sym typeface="Poppins" panose="00000500000000000000"/>
              </a:rPr>
              <a:t>Activate</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beside Stock Removal Strategy to activate the SLED stock-removal strategy configuration.</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This step enables the configuration used to determine which stock should be selected first based on its expiration date.</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3. Assign </a:t>
            </a:r>
            <a:r>
              <a:rPr lang="en-US" altLang="en-US" sz="1800" b="1" i="0" u="none" strike="noStrike" cap="none">
                <a:solidFill>
                  <a:srgbClr val="293332"/>
                </a:solidFill>
                <a:latin typeface="Poppins" panose="00000500000000000000"/>
                <a:ea typeface="Poppins" panose="00000500000000000000"/>
                <a:cs typeface="Poppins" panose="00000500000000000000"/>
                <a:sym typeface="Poppins" panose="00000500000000000000"/>
              </a:rPr>
              <a:t>Strategy H</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to the Storage Type</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In the Storage Type Control for Strategies screen, locate the storage type where you want to apply SLED-based picking.</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In the Stock Removal column, </a:t>
            </a:r>
            <a:r>
              <a:rPr lang="en-US" altLang="en-US" sz="1800" b="1" i="0" u="none" strike="noStrike" cap="none">
                <a:solidFill>
                  <a:srgbClr val="293332"/>
                </a:solidFill>
                <a:latin typeface="Poppins" panose="00000500000000000000"/>
                <a:ea typeface="Poppins" panose="00000500000000000000"/>
                <a:cs typeface="Poppins" panose="00000500000000000000"/>
                <a:sym typeface="Poppins" panose="00000500000000000000"/>
              </a:rPr>
              <a:t>select H</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 Shelf life expiration date.</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In </a:t>
            </a:r>
            <a:r>
              <a:rPr lang="en-IN"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our</a:t>
            </a:r>
            <a:r>
              <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rPr>
              <a:t> screenshot, strategy H is assigned to storage type 333 — Main High Rack Pallet Storage.</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r>
              <a:rPr lang="en-US" altLang="en-US" sz="1800">
                <a:solidFill>
                  <a:srgbClr val="293332"/>
                </a:solidFill>
                <a:latin typeface="Poppins" panose="00000500000000000000"/>
                <a:ea typeface="Poppins" panose="00000500000000000000"/>
                <a:cs typeface="Poppins" panose="00000500000000000000"/>
                <a:sym typeface="Poppins" panose="00000500000000000000"/>
              </a:rPr>
              <a:t>Practical example: Suppose the same material is stored in two bins: Bin A contains stock expiring on 10 November, and Bin B contains stock expiring on 25 November. With strategy H, SAP can propose stock from Bin A first when creating a stock-removal transfer order, provided the relevant stock is eligible and the configured search sequence includes it.</a:t>
            </a: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l" rtl="0">
              <a:lnSpc>
                <a:spcPct val="115000"/>
              </a:lnSpc>
              <a:spcBef>
                <a:spcPts val="0"/>
              </a:spcBef>
              <a:spcAft>
                <a:spcPts val="0"/>
              </a:spcAft>
              <a:buNone/>
            </a:pPr>
            <a:endParaRPr lang="en-US" altLang="en-US" sz="18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11" name="Google Shape;88;p13"/>
          <p:cNvSpPr txBox="1"/>
          <p:nvPr/>
        </p:nvSpPr>
        <p:spPr>
          <a:xfrm>
            <a:off x="9582785" y="9795120"/>
            <a:ext cx="832500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chemeClr val="tx1"/>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3332"/>
        </a:solidFill>
        <a:effectLst/>
      </p:bgPr>
    </p:bg>
    <p:spTree>
      <p:nvGrpSpPr>
        <p:cNvPr id="121" name="Shape 121"/>
        <p:cNvGrpSpPr/>
        <p:nvPr/>
      </p:nvGrpSpPr>
      <p:grpSpPr>
        <a:xfrm>
          <a:off x="0" y="0"/>
          <a:ext cx="0" cy="0"/>
          <a:chOff x="0" y="0"/>
          <a:chExt cx="0" cy="0"/>
        </a:xfrm>
      </p:grpSpPr>
      <p:sp>
        <p:nvSpPr>
          <p:cNvPr id="124" name="Google Shape;124;p17"/>
          <p:cNvSpPr txBox="1"/>
          <p:nvPr/>
        </p:nvSpPr>
        <p:spPr>
          <a:xfrm>
            <a:off x="6667226" y="2971800"/>
            <a:ext cx="4953547" cy="38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i="0" u="none" strike="noStrike" cap="none">
                <a:solidFill>
                  <a:srgbClr val="293332"/>
                </a:solidFill>
                <a:latin typeface="Poppins" panose="00000500000000000000"/>
                <a:ea typeface="Poppins" panose="00000500000000000000"/>
                <a:cs typeface="Poppins" panose="00000500000000000000"/>
                <a:sym typeface="Poppins" panose="00000500000000000000"/>
              </a:rPr>
              <a:t>June 2035</a:t>
            </a:r>
            <a:endParaRPr lang="en-US" sz="2400" b="1"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4" name="Text Box 3"/>
          <p:cNvSpPr txBox="1"/>
          <p:nvPr/>
        </p:nvSpPr>
        <p:spPr>
          <a:xfrm>
            <a:off x="577215" y="1029970"/>
            <a:ext cx="7734300" cy="1076325"/>
          </a:xfrm>
          <a:prstGeom prst="rect">
            <a:avLst/>
          </a:prstGeom>
          <a:noFill/>
        </p:spPr>
        <p:txBody>
          <a:bodyPr wrap="square" rtlCol="0" anchor="t">
            <a:spAutoFit/>
          </a:bodyPr>
          <a:p>
            <a:pPr marL="0" indent="0">
              <a:buFont typeface="Arial" panose="020B0604020202020204" pitchFamily="34" charset="0"/>
              <a:buNone/>
            </a:pPr>
            <a:r>
              <a:rPr lang="en-US" altLang="zh-CN" sz="3200" b="1">
                <a:solidFill>
                  <a:srgbClr val="FFE1A7"/>
                </a:solidFill>
                <a:sym typeface="+mn-ea"/>
              </a:rPr>
              <a:t>Maintain SLED Parameters in Material Master</a:t>
            </a:r>
            <a:endParaRPr lang="en-US" altLang="zh-CN" sz="3200" b="1">
              <a:solidFill>
                <a:srgbClr val="FFE1A7"/>
              </a:solidFill>
              <a:sym typeface="+mn-ea"/>
            </a:endParaRPr>
          </a:p>
        </p:txBody>
      </p:sp>
      <p:pic>
        <p:nvPicPr>
          <p:cNvPr id="10" name="Picture 10"/>
          <p:cNvPicPr>
            <a:picLocks noChangeAspect="1"/>
          </p:cNvPicPr>
          <p:nvPr/>
        </p:nvPicPr>
        <p:blipFill>
          <a:blip r:embed="rId1"/>
          <a:stretch>
            <a:fillRect/>
          </a:stretch>
        </p:blipFill>
        <p:spPr>
          <a:xfrm>
            <a:off x="8651875" y="1496695"/>
            <a:ext cx="8814435" cy="7847965"/>
          </a:xfrm>
          <a:prstGeom prst="rect">
            <a:avLst/>
          </a:prstGeom>
          <a:noFill/>
          <a:ln>
            <a:noFill/>
          </a:ln>
        </p:spPr>
      </p:pic>
      <p:pic>
        <p:nvPicPr>
          <p:cNvPr id="3" name="Picture 2" descr="logo_from_poster"/>
          <p:cNvPicPr>
            <a:picLocks noChangeAspect="1"/>
          </p:cNvPicPr>
          <p:nvPr/>
        </p:nvPicPr>
        <p:blipFill>
          <a:blip r:embed="rId2"/>
          <a:stretch>
            <a:fillRect/>
          </a:stretch>
        </p:blipFill>
        <p:spPr>
          <a:xfrm>
            <a:off x="15206345" y="0"/>
            <a:ext cx="3081528" cy="1029833"/>
          </a:xfrm>
          <a:prstGeom prst="rect">
            <a:avLst/>
          </a:prstGeom>
        </p:spPr>
      </p:pic>
      <p:sp>
        <p:nvSpPr>
          <p:cNvPr id="2" name="Text Box 1"/>
          <p:cNvSpPr txBox="1"/>
          <p:nvPr/>
        </p:nvSpPr>
        <p:spPr>
          <a:xfrm>
            <a:off x="878840" y="2540000"/>
            <a:ext cx="7131050" cy="5761990"/>
          </a:xfrm>
          <a:prstGeom prst="rect">
            <a:avLst/>
          </a:prstGeom>
        </p:spPr>
        <p:txBody>
          <a:bodyPr wrap="square">
            <a:spAutoFit/>
          </a:bodyPr>
          <a:p>
            <a:pPr marL="0" indent="0" algn="l" defTabSz="266700">
              <a:spcBef>
                <a:spcPts val="900"/>
              </a:spcBef>
              <a:spcAft>
                <a:spcPts val="1200"/>
              </a:spcAft>
            </a:pPr>
            <a:r>
              <a:rPr lang="en-US" altLang="zh-CN" sz="2400">
                <a:solidFill>
                  <a:srgbClr val="FFE1A7"/>
                </a:solidFill>
                <a:latin typeface="Times New Roman" panose="02020603050405020304"/>
                <a:ea typeface="Arial" panose="020B0604020202020204"/>
              </a:rPr>
              <a:t>For a material to trigger SLED processing, specific fields must be maintained in the Material Master.</a:t>
            </a:r>
            <a:endParaRPr lang="en-US" altLang="zh-CN" sz="2400">
              <a:solidFill>
                <a:srgbClr val="FFE1A7"/>
              </a:solidFill>
              <a:latin typeface="Times New Roman" panose="02020603050405020304"/>
              <a:ea typeface="Arial" panose="020B0604020202020204"/>
            </a:endParaRPr>
          </a:p>
          <a:p>
            <a:pPr marL="685800" indent="-228600" defTabSz="266700">
              <a:spcBef>
                <a:spcPct val="0"/>
              </a:spcBef>
              <a:spcAft>
                <a:spcPts val="900"/>
              </a:spcAft>
              <a:buClr>
                <a:srgbClr val="FFE1A7"/>
              </a:buClr>
              <a:buFont typeface="Symbol" panose="05050102010706020507"/>
              <a:buChar char=""/>
              <a:tabLst>
                <a:tab pos="457200" algn="l"/>
              </a:tabLst>
            </a:pPr>
            <a:r>
              <a:rPr lang="en-US" altLang="zh-CN" sz="2400" b="1">
                <a:solidFill>
                  <a:srgbClr val="FFE1A7"/>
                </a:solidFill>
                <a:latin typeface="Times New Roman" panose="02020603050405020304"/>
                <a:ea typeface="Arial" panose="020B0604020202020204"/>
              </a:rPr>
              <a:t>T-Code:</a:t>
            </a:r>
            <a:r>
              <a:rPr lang="en-US" altLang="zh-CN" sz="2400">
                <a:solidFill>
                  <a:srgbClr val="FFE1A7"/>
                </a:solidFill>
                <a:latin typeface="Times New Roman" panose="02020603050405020304"/>
                <a:ea typeface="Arial" panose="020B0604020202020204"/>
              </a:rPr>
              <a:t> </a:t>
            </a:r>
            <a:r>
              <a:rPr lang="en-US" altLang="zh-CN" sz="2400">
                <a:solidFill>
                  <a:srgbClr val="FFE1A7"/>
                </a:solidFill>
                <a:latin typeface="Courier New" panose="02070309020205020404"/>
                <a:ea typeface="monospace"/>
              </a:rPr>
              <a:t>MM01</a:t>
            </a:r>
            <a:r>
              <a:rPr lang="en-US" altLang="zh-CN" sz="2400">
                <a:solidFill>
                  <a:srgbClr val="FFE1A7"/>
                </a:solidFill>
                <a:latin typeface="Times New Roman" panose="02020603050405020304"/>
                <a:ea typeface="Arial" panose="020B0604020202020204"/>
              </a:rPr>
              <a:t> (Create) or </a:t>
            </a:r>
            <a:r>
              <a:rPr lang="en-US" altLang="zh-CN" sz="2400">
                <a:solidFill>
                  <a:srgbClr val="FFE1A7"/>
                </a:solidFill>
                <a:latin typeface="Courier New" panose="02070309020205020404"/>
                <a:ea typeface="monospace"/>
              </a:rPr>
              <a:t>MM02</a:t>
            </a:r>
            <a:r>
              <a:rPr lang="en-US" altLang="zh-CN" sz="2400">
                <a:solidFill>
                  <a:srgbClr val="FFE1A7"/>
                </a:solidFill>
                <a:latin typeface="Times New Roman" panose="02020603050405020304"/>
                <a:ea typeface="Arial" panose="020B0604020202020204"/>
              </a:rPr>
              <a:t> (Change)</a:t>
            </a:r>
            <a:endParaRPr lang="en-US" altLang="zh-CN" sz="2400">
              <a:solidFill>
                <a:srgbClr val="FFE1A7"/>
              </a:solidFill>
              <a:latin typeface="Times New Roman" panose="02020603050405020304"/>
              <a:ea typeface="Arial" panose="020B0604020202020204"/>
            </a:endParaRPr>
          </a:p>
          <a:p>
            <a:pPr marL="685800" indent="-228600" defTabSz="266700">
              <a:spcBef>
                <a:spcPct val="0"/>
              </a:spcBef>
              <a:spcAft>
                <a:spcPts val="900"/>
              </a:spcAft>
              <a:buClr>
                <a:srgbClr val="FFE1A7"/>
              </a:buClr>
              <a:buFont typeface="Symbol" panose="05050102010706020507"/>
              <a:buChar char=""/>
              <a:tabLst>
                <a:tab pos="457200" algn="l"/>
              </a:tabLst>
            </a:pPr>
            <a:r>
              <a:rPr lang="en-US" altLang="zh-CN" sz="2400" b="1">
                <a:solidFill>
                  <a:srgbClr val="FFE1A7"/>
                </a:solidFill>
                <a:latin typeface="Times New Roman" panose="02020603050405020304"/>
                <a:ea typeface="Arial" panose="020B0604020202020204"/>
              </a:rPr>
              <a:t>Views Required:</a:t>
            </a:r>
            <a:r>
              <a:rPr lang="en-US" altLang="zh-CN" sz="2400">
                <a:solidFill>
                  <a:srgbClr val="FFE1A7"/>
                </a:solidFill>
                <a:latin typeface="Times New Roman" panose="02020603050405020304"/>
                <a:ea typeface="Arial" panose="020B0604020202020204"/>
              </a:rPr>
              <a:t> </a:t>
            </a:r>
            <a:r>
              <a:rPr lang="en-US" altLang="zh-CN" sz="2400" i="1">
                <a:solidFill>
                  <a:srgbClr val="FFE1A7"/>
                </a:solidFill>
                <a:latin typeface="Times New Roman" panose="02020603050405020304"/>
                <a:ea typeface="Arial" panose="020B0604020202020204"/>
              </a:rPr>
              <a:t>Plant Data / Stor. 1</a:t>
            </a:r>
            <a:r>
              <a:rPr lang="en-US" altLang="zh-CN" sz="2400">
                <a:solidFill>
                  <a:srgbClr val="FFE1A7"/>
                </a:solidFill>
                <a:latin typeface="Times New Roman" panose="02020603050405020304"/>
                <a:ea typeface="Arial" panose="020B0604020202020204"/>
              </a:rPr>
              <a:t> </a:t>
            </a:r>
            <a:endParaRPr lang="en-US" altLang="zh-CN" sz="2400">
              <a:solidFill>
                <a:srgbClr val="FFE1A7"/>
              </a:solidFill>
              <a:latin typeface="Times New Roman" panose="02020603050405020304"/>
              <a:ea typeface="Arial" panose="020B0604020202020204"/>
            </a:endParaRPr>
          </a:p>
          <a:p>
            <a:pPr marL="685800" indent="-228600" defTabSz="266700">
              <a:spcBef>
                <a:spcPct val="0"/>
              </a:spcBef>
              <a:spcAft>
                <a:spcPct val="0"/>
              </a:spcAft>
              <a:buClr>
                <a:srgbClr val="FFE1A7"/>
              </a:buClr>
              <a:buFont typeface="Symbol" panose="05050102010706020507"/>
              <a:buChar char=""/>
              <a:tabLst>
                <a:tab pos="457200" algn="l"/>
              </a:tabLst>
            </a:pPr>
            <a:r>
              <a:rPr lang="en-US" altLang="zh-CN" sz="2400" b="1">
                <a:solidFill>
                  <a:srgbClr val="FFE1A7"/>
                </a:solidFill>
                <a:latin typeface="Times New Roman" panose="02020603050405020304"/>
                <a:ea typeface="Arial" panose="020B0604020202020204"/>
              </a:rPr>
              <a:t>Key Fields to Maintain:</a:t>
            </a:r>
            <a:endParaRPr lang="en-US" altLang="zh-CN" sz="2400" b="1">
              <a:solidFill>
                <a:srgbClr val="FFE1A7"/>
              </a:solidFill>
              <a:latin typeface="Times New Roman" panose="02020603050405020304"/>
              <a:ea typeface="Arial" panose="020B0604020202020204"/>
            </a:endParaRPr>
          </a:p>
          <a:p>
            <a:pPr marL="1371600" lvl="1" indent="-457200" defTabSz="266700">
              <a:spcBef>
                <a:spcPct val="0"/>
              </a:spcBef>
              <a:spcAft>
                <a:spcPts val="900"/>
              </a:spcAft>
              <a:buClr>
                <a:srgbClr val="FFE1A7"/>
              </a:buClr>
              <a:buFont typeface="Arial" panose="020B0604020202020204" pitchFamily="34" charset="0"/>
              <a:buChar char="•"/>
              <a:tabLst>
                <a:tab pos="914400" algn="l"/>
              </a:tabLst>
            </a:pPr>
            <a:r>
              <a:rPr lang="en-US" altLang="zh-CN" sz="2400" b="1">
                <a:solidFill>
                  <a:srgbClr val="FFE1A7"/>
                </a:solidFill>
                <a:latin typeface="Times New Roman" panose="02020603050405020304"/>
                <a:ea typeface="Arial" panose="020B0604020202020204"/>
              </a:rPr>
              <a:t>Min. Rem. Shelf Life:</a:t>
            </a:r>
            <a:r>
              <a:rPr lang="en-US" altLang="zh-CN" sz="2400">
                <a:solidFill>
                  <a:srgbClr val="FFE1A7"/>
                </a:solidFill>
                <a:latin typeface="Times New Roman" panose="02020603050405020304"/>
                <a:ea typeface="Arial" panose="020B0604020202020204"/>
              </a:rPr>
              <a:t> The minimum number of days the material must have left before expiring for the system to accept it during goods receipt.</a:t>
            </a:r>
            <a:endParaRPr lang="en-US" altLang="zh-CN" sz="2400">
              <a:solidFill>
                <a:srgbClr val="FFE1A7"/>
              </a:solidFill>
              <a:latin typeface="Times New Roman" panose="02020603050405020304"/>
              <a:ea typeface="Arial" panose="020B0604020202020204"/>
            </a:endParaRPr>
          </a:p>
          <a:p>
            <a:pPr marL="1371600" lvl="1" indent="-457200" defTabSz="266700">
              <a:spcBef>
                <a:spcPct val="0"/>
              </a:spcBef>
              <a:spcAft>
                <a:spcPts val="900"/>
              </a:spcAft>
              <a:buClr>
                <a:srgbClr val="FFE1A7"/>
              </a:buClr>
              <a:buFont typeface="Arial" panose="020B0604020202020204" pitchFamily="34" charset="0"/>
              <a:buChar char="•"/>
              <a:tabLst>
                <a:tab pos="914400" algn="l"/>
              </a:tabLst>
            </a:pPr>
            <a:r>
              <a:rPr lang="en-US" altLang="zh-CN" sz="2400" b="1">
                <a:solidFill>
                  <a:srgbClr val="FFE1A7"/>
                </a:solidFill>
                <a:latin typeface="Times New Roman" panose="02020603050405020304"/>
                <a:ea typeface="Arial" panose="020B0604020202020204"/>
              </a:rPr>
              <a:t>Total Shelf Life:</a:t>
            </a:r>
            <a:r>
              <a:rPr lang="en-US" altLang="zh-CN" sz="2400">
                <a:solidFill>
                  <a:srgbClr val="FFE1A7"/>
                </a:solidFill>
                <a:latin typeface="Times New Roman" panose="02020603050405020304"/>
                <a:ea typeface="Arial" panose="020B0604020202020204"/>
              </a:rPr>
              <a:t> The total lifespan of the material from the date of manufacture. If maintained, entering the manufacturing date during goods receipt will cause SAP to automatically calculate the expiration date.</a:t>
            </a:r>
            <a:endParaRPr lang="en-US" altLang="zh-CN" sz="2400">
              <a:solidFill>
                <a:srgbClr val="FFE1A7"/>
              </a:solidFill>
              <a:latin typeface="Times New Roman" panose="02020603050405020304"/>
              <a:ea typeface="Arial" panose="020B0604020202020204"/>
            </a:endParaRPr>
          </a:p>
        </p:txBody>
      </p:sp>
      <p:sp>
        <p:nvSpPr>
          <p:cNvPr id="7" name="Google Shape;88;p13"/>
          <p:cNvSpPr txBox="1"/>
          <p:nvPr/>
        </p:nvSpPr>
        <p:spPr>
          <a:xfrm>
            <a:off x="323850" y="9795120"/>
            <a:ext cx="8325000" cy="29464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IN" altLang="en-US" sz="1600" b="1">
                <a:solidFill>
                  <a:srgbClr val="FFE6A8"/>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3332"/>
        </a:solidFill>
        <a:effectLst/>
      </p:bgPr>
    </p:bg>
    <p:spTree>
      <p:nvGrpSpPr>
        <p:cNvPr id="121" name="Shape 121"/>
        <p:cNvGrpSpPr/>
        <p:nvPr/>
      </p:nvGrpSpPr>
      <p:grpSpPr>
        <a:xfrm>
          <a:off x="0" y="0"/>
          <a:ext cx="0" cy="0"/>
          <a:chOff x="0" y="0"/>
          <a:chExt cx="0" cy="0"/>
        </a:xfrm>
      </p:grpSpPr>
      <p:sp>
        <p:nvSpPr>
          <p:cNvPr id="124" name="Google Shape;124;p17"/>
          <p:cNvSpPr txBox="1"/>
          <p:nvPr/>
        </p:nvSpPr>
        <p:spPr>
          <a:xfrm>
            <a:off x="6667226" y="2971800"/>
            <a:ext cx="4953547" cy="381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400" b="1" i="0" u="none" strike="noStrike" cap="none">
                <a:solidFill>
                  <a:srgbClr val="293332"/>
                </a:solidFill>
                <a:latin typeface="Poppins" panose="00000500000000000000"/>
                <a:ea typeface="Poppins" panose="00000500000000000000"/>
                <a:cs typeface="Poppins" panose="00000500000000000000"/>
                <a:sym typeface="Poppins" panose="00000500000000000000"/>
              </a:rPr>
              <a:t>June 2035</a:t>
            </a:r>
            <a:endParaRPr lang="en-US" sz="2400" b="1"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2" name="Text Box 1"/>
          <p:cNvSpPr txBox="1"/>
          <p:nvPr/>
        </p:nvSpPr>
        <p:spPr>
          <a:xfrm>
            <a:off x="2863215" y="8143875"/>
            <a:ext cx="12112625" cy="1198880"/>
          </a:xfrm>
          <a:prstGeom prst="rect">
            <a:avLst/>
          </a:prstGeom>
          <a:noFill/>
        </p:spPr>
        <p:txBody>
          <a:bodyPr wrap="square" rtlCol="0" anchor="t">
            <a:spAutoFit/>
          </a:bodyPr>
          <a:p>
            <a:pPr marL="0" indent="0">
              <a:buFont typeface="Arial" panose="020B0604020202020204" pitchFamily="34" charset="0"/>
              <a:buNone/>
            </a:pPr>
            <a:r>
              <a:rPr lang="en-US" altLang="en-US" sz="2400">
                <a:solidFill>
                  <a:srgbClr val="FFE1A7"/>
                </a:solidFill>
                <a:sym typeface="+mn-ea"/>
              </a:rPr>
              <a:t>Create PO U</a:t>
            </a:r>
            <a:r>
              <a:rPr lang="en-IN" altLang="en-US" sz="2400">
                <a:solidFill>
                  <a:srgbClr val="FFE1A7"/>
                </a:solidFill>
                <a:sym typeface="+mn-ea"/>
              </a:rPr>
              <a:t>sing</a:t>
            </a:r>
            <a:r>
              <a:rPr lang="en-US" altLang="en-US" sz="2400">
                <a:solidFill>
                  <a:srgbClr val="FFE1A7"/>
                </a:solidFill>
                <a:sym typeface="+mn-ea"/>
              </a:rPr>
              <a:t> ME21N </a:t>
            </a:r>
            <a:r>
              <a:rPr lang="en-IN" altLang="en-US" sz="2400">
                <a:solidFill>
                  <a:srgbClr val="FFE1A7"/>
                </a:solidFill>
                <a:sym typeface="+mn-ea"/>
              </a:rPr>
              <a:t>and</a:t>
            </a:r>
            <a:r>
              <a:rPr lang="en-US" altLang="en-US" sz="2400">
                <a:solidFill>
                  <a:srgbClr val="FFE1A7"/>
                </a:solidFill>
                <a:sym typeface="+mn-ea"/>
              </a:rPr>
              <a:t>  </a:t>
            </a:r>
            <a:r>
              <a:rPr lang="en-IN" altLang="en-US" sz="2400">
                <a:solidFill>
                  <a:srgbClr val="FFE1A7"/>
                </a:solidFill>
                <a:sym typeface="+mn-ea"/>
              </a:rPr>
              <a:t>you can see the remaining </a:t>
            </a:r>
            <a:r>
              <a:rPr lang="en-US" altLang="en-US" sz="2400">
                <a:solidFill>
                  <a:srgbClr val="FFE1A7"/>
                </a:solidFill>
                <a:sym typeface="+mn-ea"/>
              </a:rPr>
              <a:t> shelf life day below in delivery tab</a:t>
            </a:r>
            <a:r>
              <a:rPr lang="en-IN" altLang="en-US" sz="2400">
                <a:solidFill>
                  <a:srgbClr val="FFE1A7"/>
                </a:solidFill>
                <a:sym typeface="+mn-ea"/>
              </a:rPr>
              <a:t> (highlighted with green), same which we have maintain in material master during configuration.</a:t>
            </a:r>
            <a:endParaRPr lang="en-IN" altLang="en-US" sz="2400">
              <a:solidFill>
                <a:srgbClr val="FFE1A7"/>
              </a:solidFill>
              <a:sym typeface="+mn-ea"/>
            </a:endParaRPr>
          </a:p>
        </p:txBody>
      </p:sp>
      <p:pic>
        <p:nvPicPr>
          <p:cNvPr id="3" name="Picture 2" descr="logo_from_poster"/>
          <p:cNvPicPr>
            <a:picLocks noChangeAspect="1"/>
          </p:cNvPicPr>
          <p:nvPr/>
        </p:nvPicPr>
        <p:blipFill>
          <a:blip r:embed="rId1"/>
          <a:stretch>
            <a:fillRect/>
          </a:stretch>
        </p:blipFill>
        <p:spPr>
          <a:xfrm>
            <a:off x="15206345" y="0"/>
            <a:ext cx="3081528" cy="1029833"/>
          </a:xfrm>
          <a:prstGeom prst="rect">
            <a:avLst/>
          </a:prstGeom>
        </p:spPr>
      </p:pic>
      <p:sp>
        <p:nvSpPr>
          <p:cNvPr id="7" name="Google Shape;88;p13"/>
          <p:cNvSpPr txBox="1"/>
          <p:nvPr/>
        </p:nvSpPr>
        <p:spPr>
          <a:xfrm>
            <a:off x="13712825" y="9794875"/>
            <a:ext cx="404114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rgbClr val="FFE6A8"/>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pic>
        <p:nvPicPr>
          <p:cNvPr id="11" name="Picture 11"/>
          <p:cNvPicPr>
            <a:picLocks noChangeAspect="1"/>
          </p:cNvPicPr>
          <p:nvPr/>
        </p:nvPicPr>
        <p:blipFill>
          <a:blip r:embed="rId2"/>
          <a:stretch>
            <a:fillRect/>
          </a:stretch>
        </p:blipFill>
        <p:spPr>
          <a:xfrm>
            <a:off x="2863850" y="1511935"/>
            <a:ext cx="12111990" cy="6057265"/>
          </a:xfrm>
          <a:prstGeom prst="rect">
            <a:avLst/>
          </a:prstGeom>
          <a:noFill/>
          <a:ln>
            <a:noFill/>
          </a:ln>
        </p:spPr>
      </p:pic>
      <p:sp>
        <p:nvSpPr>
          <p:cNvPr id="4" name="Text Box 3"/>
          <p:cNvSpPr txBox="1"/>
          <p:nvPr/>
        </p:nvSpPr>
        <p:spPr>
          <a:xfrm>
            <a:off x="323850" y="446405"/>
            <a:ext cx="10670540" cy="953135"/>
          </a:xfrm>
          <a:prstGeom prst="rect">
            <a:avLst/>
          </a:prstGeom>
          <a:noFill/>
        </p:spPr>
        <p:txBody>
          <a:bodyPr wrap="square" rtlCol="0" anchor="t">
            <a:spAutoFit/>
          </a:bodyPr>
          <a:p>
            <a:pPr marL="0" indent="0">
              <a:buFont typeface="Arial" panose="020B0604020202020204" pitchFamily="34" charset="0"/>
              <a:buNone/>
            </a:pPr>
            <a:r>
              <a:rPr lang="en-US" altLang="en-US" sz="2800" b="1">
                <a:solidFill>
                  <a:srgbClr val="FFE1A7"/>
                </a:solidFill>
                <a:sym typeface="+mn-ea"/>
              </a:rPr>
              <a:t>E</a:t>
            </a:r>
            <a:r>
              <a:rPr lang="en-IN" altLang="en-US" sz="2800" b="1">
                <a:solidFill>
                  <a:srgbClr val="FFE1A7"/>
                </a:solidFill>
                <a:sym typeface="+mn-ea"/>
              </a:rPr>
              <a:t>XECUTION: </a:t>
            </a:r>
            <a:r>
              <a:rPr lang="en-US" altLang="zh-CN" sz="2800" b="1">
                <a:solidFill>
                  <a:srgbClr val="FFE1A7"/>
                </a:solidFill>
                <a:sym typeface="+mn-ea"/>
              </a:rPr>
              <a:t>Create Purchase Order and Check Remaining Shelf Life</a:t>
            </a:r>
            <a:endParaRPr lang="en-IN" altLang="en-US" sz="2800" b="1">
              <a:solidFill>
                <a:srgbClr val="FFE1A7"/>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129" name="Shape 129"/>
        <p:cNvGrpSpPr/>
        <p:nvPr/>
      </p:nvGrpSpPr>
      <p:grpSpPr>
        <a:xfrm>
          <a:off x="0" y="0"/>
          <a:ext cx="0" cy="0"/>
          <a:chOff x="0" y="0"/>
          <a:chExt cx="0" cy="0"/>
        </a:xfrm>
      </p:grpSpPr>
      <p:pic>
        <p:nvPicPr>
          <p:cNvPr id="13" name="Picture 13"/>
          <p:cNvPicPr>
            <a:picLocks noChangeAspect="1"/>
          </p:cNvPicPr>
          <p:nvPr/>
        </p:nvPicPr>
        <p:blipFill>
          <a:blip r:embed="rId1"/>
          <a:stretch>
            <a:fillRect/>
          </a:stretch>
        </p:blipFill>
        <p:spPr>
          <a:xfrm>
            <a:off x="9144635" y="1170305"/>
            <a:ext cx="8815705" cy="5408930"/>
          </a:xfrm>
          <a:prstGeom prst="rect">
            <a:avLst/>
          </a:prstGeom>
          <a:noFill/>
          <a:ln>
            <a:noFill/>
          </a:ln>
        </p:spPr>
      </p:pic>
      <p:pic>
        <p:nvPicPr>
          <p:cNvPr id="2" name="Picture 1"/>
          <p:cNvPicPr>
            <a:picLocks noChangeAspect="1"/>
          </p:cNvPicPr>
          <p:nvPr/>
        </p:nvPicPr>
        <p:blipFill>
          <a:blip r:embed="rId2"/>
          <a:stretch>
            <a:fillRect/>
          </a:stretch>
        </p:blipFill>
        <p:spPr>
          <a:xfrm>
            <a:off x="302260" y="1170305"/>
            <a:ext cx="8499475" cy="5408295"/>
          </a:xfrm>
          <a:prstGeom prst="rect">
            <a:avLst/>
          </a:prstGeom>
        </p:spPr>
      </p:pic>
      <p:pic>
        <p:nvPicPr>
          <p:cNvPr id="3" name="Picture 2" descr="logo_from_poster"/>
          <p:cNvPicPr>
            <a:picLocks noChangeAspect="1"/>
          </p:cNvPicPr>
          <p:nvPr/>
        </p:nvPicPr>
        <p:blipFill>
          <a:blip r:embed="rId3"/>
          <a:stretch>
            <a:fillRect/>
          </a:stretch>
        </p:blipFill>
        <p:spPr>
          <a:xfrm>
            <a:off x="15206345" y="0"/>
            <a:ext cx="3081528" cy="1029833"/>
          </a:xfrm>
          <a:prstGeom prst="rect">
            <a:avLst/>
          </a:prstGeom>
        </p:spPr>
      </p:pic>
      <p:sp>
        <p:nvSpPr>
          <p:cNvPr id="4" name="Text Box 3"/>
          <p:cNvSpPr txBox="1"/>
          <p:nvPr/>
        </p:nvSpPr>
        <p:spPr>
          <a:xfrm>
            <a:off x="302260" y="7345045"/>
            <a:ext cx="8499475" cy="1198880"/>
          </a:xfrm>
          <a:prstGeom prst="rect">
            <a:avLst/>
          </a:prstGeom>
        </p:spPr>
        <p:txBody>
          <a:bodyPr wrap="square">
            <a:spAutoFit/>
          </a:bodyPr>
          <a:p>
            <a:pPr marL="0" indent="0" defTabSz="266700">
              <a:spcBef>
                <a:spcPct val="0"/>
              </a:spcBef>
              <a:spcAft>
                <a:spcPts val="900"/>
              </a:spcAft>
            </a:pPr>
            <a:r>
              <a:rPr lang="en-US" altLang="zh-CN" sz="2400">
                <a:latin typeface="Times New Roman" panose="02020603050405020304"/>
                <a:ea typeface="SimSun" panose="02010600030101010101" pitchFamily="2" charset="-122"/>
              </a:rPr>
              <a:t>N</a:t>
            </a:r>
            <a:r>
              <a:rPr lang="en-IN" altLang="en-US" sz="2400">
                <a:latin typeface="Times New Roman" panose="02020603050405020304"/>
                <a:ea typeface="SimSun" panose="02010600030101010101" pitchFamily="2" charset="-122"/>
              </a:rPr>
              <a:t>ow </a:t>
            </a:r>
            <a:r>
              <a:rPr lang="en-US" altLang="zh-CN" sz="2400">
                <a:latin typeface="Times New Roman" panose="02020603050405020304"/>
                <a:ea typeface="SimSun" panose="02010600030101010101" pitchFamily="2" charset="-122"/>
              </a:rPr>
              <a:t>Post MIGO with reference to </a:t>
            </a:r>
            <a:r>
              <a:rPr lang="en-IN" altLang="en-US" sz="2400">
                <a:latin typeface="Times New Roman" panose="02020603050405020304"/>
                <a:ea typeface="SimSun" panose="02010600030101010101" pitchFamily="2" charset="-122"/>
              </a:rPr>
              <a:t>the newly created </a:t>
            </a:r>
            <a:r>
              <a:rPr lang="en-US" altLang="zh-CN" sz="2400">
                <a:latin typeface="Times New Roman" panose="02020603050405020304"/>
                <a:ea typeface="SimSun" panose="02010600030101010101" pitchFamily="2" charset="-122"/>
              </a:rPr>
              <a:t>PO and when you will do the system check, it will ask you to </a:t>
            </a:r>
            <a:r>
              <a:rPr lang="en-IN" altLang="en-US" sz="2400">
                <a:latin typeface="Times New Roman" panose="02020603050405020304"/>
                <a:ea typeface="SimSun" panose="02010600030101010101" pitchFamily="2" charset="-122"/>
              </a:rPr>
              <a:t>E</a:t>
            </a:r>
            <a:r>
              <a:rPr lang="en-US" altLang="zh-CN" sz="2400">
                <a:latin typeface="Times New Roman" panose="02020603050405020304"/>
                <a:ea typeface="SimSun" panose="02010600030101010101" pitchFamily="2" charset="-122"/>
              </a:rPr>
              <a:t>nter the date of production</a:t>
            </a:r>
            <a:endParaRPr lang="en-US" altLang="zh-CN" sz="2400">
              <a:latin typeface="Times New Roman" panose="02020603050405020304"/>
              <a:ea typeface="SimSun" panose="02010600030101010101" pitchFamily="2" charset="-122"/>
            </a:endParaRPr>
          </a:p>
        </p:txBody>
      </p:sp>
      <p:sp>
        <p:nvSpPr>
          <p:cNvPr id="5" name="Text Box 4"/>
          <p:cNvSpPr txBox="1"/>
          <p:nvPr/>
        </p:nvSpPr>
        <p:spPr>
          <a:xfrm>
            <a:off x="9144635" y="7345045"/>
            <a:ext cx="8815070" cy="891540"/>
          </a:xfrm>
          <a:prstGeom prst="rect">
            <a:avLst/>
          </a:prstGeom>
        </p:spPr>
        <p:txBody>
          <a:bodyPr wrap="square">
            <a:spAutoFit/>
          </a:bodyPr>
          <a:p>
            <a:pPr marL="0" indent="0" defTabSz="266700">
              <a:spcBef>
                <a:spcPct val="0"/>
              </a:spcBef>
              <a:spcAft>
                <a:spcPts val="900"/>
              </a:spcAft>
            </a:pPr>
            <a:r>
              <a:rPr lang="en-US" altLang="zh-CN" sz="2400">
                <a:latin typeface="Times New Roman" panose="02020603050405020304"/>
                <a:ea typeface="SimSun" panose="02010600030101010101" pitchFamily="2" charset="-122"/>
              </a:rPr>
              <a:t>Then you need to enter the </a:t>
            </a:r>
            <a:r>
              <a:rPr lang="en-IN" altLang="en-US" sz="2400">
                <a:latin typeface="Times New Roman" panose="02020603050405020304"/>
                <a:ea typeface="SimSun" panose="02010600030101010101" pitchFamily="2" charset="-122"/>
              </a:rPr>
              <a:t>Date  of M</a:t>
            </a:r>
            <a:r>
              <a:rPr lang="en-US" altLang="zh-CN" sz="2400">
                <a:latin typeface="Times New Roman" panose="02020603050405020304"/>
                <a:ea typeface="SimSun" panose="02010600030101010101" pitchFamily="2" charset="-122"/>
              </a:rPr>
              <a:t>anufacture  it should be past date or the same day date</a:t>
            </a:r>
            <a:r>
              <a:rPr lang="en-IN" altLang="en-US" sz="2400">
                <a:latin typeface="Times New Roman" panose="02020603050405020304"/>
                <a:ea typeface="SimSun" panose="02010600030101010101" pitchFamily="2" charset="-122"/>
              </a:rPr>
              <a:t> and </a:t>
            </a:r>
            <a:r>
              <a:rPr lang="en-US" altLang="zh-CN" sz="2400">
                <a:latin typeface="Times New Roman" panose="02020603050405020304"/>
                <a:ea typeface="SimSun" panose="02010600030101010101" pitchFamily="2" charset="-122"/>
              </a:rPr>
              <a:t> not future date</a:t>
            </a:r>
            <a:r>
              <a:rPr lang="en-US" altLang="zh-CN" sz="2800">
                <a:latin typeface="Times New Roman" panose="02020603050405020304"/>
                <a:ea typeface="SimSun" panose="02010600030101010101" pitchFamily="2" charset="-122"/>
              </a:rPr>
              <a:t> </a:t>
            </a:r>
            <a:endParaRPr lang="en-US" altLang="zh-CN" sz="2800">
              <a:latin typeface="Times New Roman" panose="02020603050405020304"/>
              <a:ea typeface="SimSun" panose="02010600030101010101" pitchFamily="2" charset="-122"/>
            </a:endParaRPr>
          </a:p>
        </p:txBody>
      </p:sp>
      <p:sp>
        <p:nvSpPr>
          <p:cNvPr id="8" name="Rectangle 7"/>
          <p:cNvSpPr/>
          <p:nvPr/>
        </p:nvSpPr>
        <p:spPr>
          <a:xfrm>
            <a:off x="229870" y="1078992"/>
            <a:ext cx="8695690" cy="561721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Rectangle 8"/>
          <p:cNvSpPr/>
          <p:nvPr/>
        </p:nvSpPr>
        <p:spPr>
          <a:xfrm>
            <a:off x="9053830" y="1077595"/>
            <a:ext cx="9053830" cy="559181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Google Shape;88;p13"/>
          <p:cNvSpPr txBox="1"/>
          <p:nvPr/>
        </p:nvSpPr>
        <p:spPr>
          <a:xfrm>
            <a:off x="13712825" y="9794875"/>
            <a:ext cx="404114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chemeClr val="tx1"/>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sp>
        <p:nvSpPr>
          <p:cNvPr id="11" name="Text Box 10"/>
          <p:cNvSpPr txBox="1"/>
          <p:nvPr/>
        </p:nvSpPr>
        <p:spPr>
          <a:xfrm>
            <a:off x="302260" y="284480"/>
            <a:ext cx="9144000" cy="460375"/>
          </a:xfrm>
          <a:prstGeom prst="rect">
            <a:avLst/>
          </a:prstGeom>
          <a:noFill/>
        </p:spPr>
        <p:txBody>
          <a:bodyPr wrap="square" rtlCol="0" anchor="t">
            <a:spAutoFit/>
          </a:bodyPr>
          <a:p>
            <a:pPr marL="0" indent="0">
              <a:buFont typeface="Arial" panose="020B0604020202020204" pitchFamily="34" charset="0"/>
              <a:buNone/>
            </a:pPr>
            <a:r>
              <a:rPr lang="en-US" altLang="zh-CN" sz="2400" b="1">
                <a:sym typeface="+mn-ea"/>
              </a:rPr>
              <a:t>Post Goods Receipt and Enter Manufacturing Date</a:t>
            </a:r>
            <a:endParaRPr lang="en-US" altLang="zh-CN" sz="2400" b="1">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129" name="Shape 129"/>
        <p:cNvGrpSpPr/>
        <p:nvPr/>
      </p:nvGrpSpPr>
      <p:grpSpPr>
        <a:xfrm>
          <a:off x="0" y="0"/>
          <a:ext cx="0" cy="0"/>
          <a:chOff x="0" y="0"/>
          <a:chExt cx="0" cy="0"/>
        </a:xfrm>
      </p:grpSpPr>
      <p:pic>
        <p:nvPicPr>
          <p:cNvPr id="3" name="Picture 2" descr="logo_from_poster"/>
          <p:cNvPicPr>
            <a:picLocks noChangeAspect="1"/>
          </p:cNvPicPr>
          <p:nvPr/>
        </p:nvPicPr>
        <p:blipFill>
          <a:blip r:embed="rId1"/>
          <a:stretch>
            <a:fillRect/>
          </a:stretch>
        </p:blipFill>
        <p:spPr>
          <a:xfrm>
            <a:off x="15206345" y="0"/>
            <a:ext cx="3081528" cy="1029833"/>
          </a:xfrm>
          <a:prstGeom prst="rect">
            <a:avLst/>
          </a:prstGeom>
        </p:spPr>
      </p:pic>
      <p:sp>
        <p:nvSpPr>
          <p:cNvPr id="4" name="Text Box 3"/>
          <p:cNvSpPr txBox="1"/>
          <p:nvPr/>
        </p:nvSpPr>
        <p:spPr>
          <a:xfrm>
            <a:off x="302260" y="7909560"/>
            <a:ext cx="8499475" cy="829945"/>
          </a:xfrm>
          <a:prstGeom prst="rect">
            <a:avLst/>
          </a:prstGeom>
        </p:spPr>
        <p:txBody>
          <a:bodyPr wrap="square">
            <a:spAutoFit/>
          </a:bodyPr>
          <a:p>
            <a:pPr marL="0" indent="0" defTabSz="266700">
              <a:spcBef>
                <a:spcPct val="0"/>
              </a:spcBef>
              <a:spcAft>
                <a:spcPts val="900"/>
              </a:spcAft>
              <a:buFont typeface="Arial" panose="020B0604020202020204" pitchFamily="34" charset="0"/>
              <a:buNone/>
            </a:pPr>
            <a:r>
              <a:rPr lang="en-US" altLang="en-US" sz="2400">
                <a:latin typeface="Times New Roman" panose="02020603050405020304"/>
                <a:ea typeface="SimSun" panose="02010600030101010101" pitchFamily="2" charset="-122"/>
              </a:rPr>
              <a:t>And if the manufacture date is older than the total shelf life we have maintain</a:t>
            </a:r>
            <a:r>
              <a:rPr lang="en-IN" altLang="en-US" sz="2400">
                <a:latin typeface="Times New Roman" panose="02020603050405020304"/>
                <a:ea typeface="SimSun" panose="02010600030101010101" pitchFamily="2" charset="-122"/>
              </a:rPr>
              <a:t> in material master</a:t>
            </a:r>
            <a:r>
              <a:rPr lang="en-US" altLang="en-US" sz="2400">
                <a:latin typeface="Times New Roman" panose="02020603050405020304"/>
                <a:ea typeface="SimSun" panose="02010600030101010101" pitchFamily="2" charset="-122"/>
              </a:rPr>
              <a:t> then also it will throw the error</a:t>
            </a:r>
            <a:endParaRPr lang="en-US" altLang="en-US" sz="2400">
              <a:latin typeface="Times New Roman" panose="02020603050405020304"/>
              <a:ea typeface="SimSun" panose="02010600030101010101" pitchFamily="2" charset="-122"/>
            </a:endParaRPr>
          </a:p>
        </p:txBody>
      </p:sp>
      <p:sp>
        <p:nvSpPr>
          <p:cNvPr id="5" name="Text Box 4"/>
          <p:cNvSpPr txBox="1"/>
          <p:nvPr/>
        </p:nvSpPr>
        <p:spPr>
          <a:xfrm>
            <a:off x="9144635" y="7909560"/>
            <a:ext cx="8815070" cy="829945"/>
          </a:xfrm>
          <a:prstGeom prst="rect">
            <a:avLst/>
          </a:prstGeom>
        </p:spPr>
        <p:txBody>
          <a:bodyPr wrap="square">
            <a:spAutoFit/>
          </a:bodyPr>
          <a:p>
            <a:pPr marL="0" indent="0" defTabSz="266700">
              <a:spcBef>
                <a:spcPct val="0"/>
              </a:spcBef>
              <a:spcAft>
                <a:spcPts val="900"/>
              </a:spcAft>
            </a:pPr>
            <a:r>
              <a:rPr lang="en-US" altLang="en-US" sz="2400">
                <a:latin typeface="Times New Roman" panose="02020603050405020304"/>
                <a:ea typeface="SimSun" panose="02010600030101010101" pitchFamily="2" charset="-122"/>
              </a:rPr>
              <a:t> And once we post the goods reciept you can check the shelf life expiration date/Best Before date now in same </a:t>
            </a:r>
            <a:r>
              <a:rPr lang="en-IN" altLang="en-US" sz="2400" b="1">
                <a:latin typeface="Times New Roman" panose="02020603050405020304"/>
                <a:ea typeface="SimSun" panose="02010600030101010101" pitchFamily="2" charset="-122"/>
              </a:rPr>
              <a:t>Material</a:t>
            </a:r>
            <a:r>
              <a:rPr lang="en-US" altLang="en-US" sz="2400">
                <a:latin typeface="Times New Roman" panose="02020603050405020304"/>
                <a:ea typeface="SimSun" panose="02010600030101010101" pitchFamily="2" charset="-122"/>
              </a:rPr>
              <a:t> tab</a:t>
            </a:r>
            <a:endParaRPr lang="en-US" altLang="en-US" sz="2400">
              <a:latin typeface="Times New Roman" panose="02020603050405020304"/>
              <a:ea typeface="SimSun" panose="02010600030101010101" pitchFamily="2" charset="-122"/>
            </a:endParaRPr>
          </a:p>
        </p:txBody>
      </p:sp>
      <p:sp>
        <p:nvSpPr>
          <p:cNvPr id="8" name="Rectangle 7"/>
          <p:cNvSpPr/>
          <p:nvPr/>
        </p:nvSpPr>
        <p:spPr>
          <a:xfrm>
            <a:off x="229870" y="1515237"/>
            <a:ext cx="8695690" cy="561721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Rectangle 8"/>
          <p:cNvSpPr/>
          <p:nvPr/>
        </p:nvSpPr>
        <p:spPr>
          <a:xfrm>
            <a:off x="9053830" y="1538605"/>
            <a:ext cx="9053830" cy="5591810"/>
          </a:xfrm>
          <a:prstGeom prst="rect">
            <a:avLst/>
          </a:prstGeom>
          <a:ln>
            <a:solidFill>
              <a:schemeClr val="bg1"/>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Google Shape;88;p13"/>
          <p:cNvSpPr txBox="1"/>
          <p:nvPr/>
        </p:nvSpPr>
        <p:spPr>
          <a:xfrm>
            <a:off x="13712825" y="9794875"/>
            <a:ext cx="4041140" cy="29464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IN" altLang="en-US" sz="1600" b="1">
                <a:solidFill>
                  <a:schemeClr val="tx1"/>
                </a:solidFill>
                <a:latin typeface="Poppins" panose="00000500000000000000"/>
                <a:ea typeface="Poppins" panose="00000500000000000000"/>
                <a:cs typeface="Poppins" panose="00000500000000000000"/>
                <a:sym typeface="Poppins" panose="00000500000000000000"/>
              </a:rPr>
              <a:t>EMAIL :- wmforgeofficial@gmail.com</a:t>
            </a:r>
            <a:endParaRPr lang="en-IN" altLang="en-US" sz="1600" b="1" i="0" u="none" strike="noStrike" cap="none">
              <a:solidFill>
                <a:schemeClr val="tx1"/>
              </a:solidFill>
              <a:latin typeface="Poppins" panose="00000500000000000000"/>
              <a:ea typeface="Poppins" panose="00000500000000000000"/>
              <a:cs typeface="Poppins" panose="00000500000000000000"/>
              <a:sym typeface="Poppins" panose="00000500000000000000"/>
            </a:endParaRPr>
          </a:p>
        </p:txBody>
      </p:sp>
      <p:pic>
        <p:nvPicPr>
          <p:cNvPr id="14" name="Picture 14"/>
          <p:cNvPicPr>
            <a:picLocks noChangeAspect="1"/>
          </p:cNvPicPr>
          <p:nvPr/>
        </p:nvPicPr>
        <p:blipFill>
          <a:blip r:embed="rId2"/>
          <a:stretch>
            <a:fillRect/>
          </a:stretch>
        </p:blipFill>
        <p:spPr>
          <a:xfrm>
            <a:off x="302260" y="1606550"/>
            <a:ext cx="8499475" cy="5408295"/>
          </a:xfrm>
          <a:prstGeom prst="rect">
            <a:avLst/>
          </a:prstGeom>
          <a:noFill/>
          <a:ln>
            <a:noFill/>
          </a:ln>
        </p:spPr>
      </p:pic>
      <p:pic>
        <p:nvPicPr>
          <p:cNvPr id="15" name="Picture 15"/>
          <p:cNvPicPr>
            <a:picLocks noChangeAspect="1"/>
          </p:cNvPicPr>
          <p:nvPr/>
        </p:nvPicPr>
        <p:blipFill>
          <a:blip r:embed="rId3"/>
          <a:stretch>
            <a:fillRect/>
          </a:stretch>
        </p:blipFill>
        <p:spPr>
          <a:xfrm>
            <a:off x="9144635" y="1631315"/>
            <a:ext cx="8815070" cy="5408295"/>
          </a:xfrm>
          <a:prstGeom prst="rect">
            <a:avLst/>
          </a:prstGeom>
          <a:noFill/>
          <a:ln>
            <a:noFill/>
          </a:ln>
        </p:spPr>
      </p:pic>
      <p:sp>
        <p:nvSpPr>
          <p:cNvPr id="2" name="Text Box 1"/>
          <p:cNvSpPr txBox="1"/>
          <p:nvPr/>
        </p:nvSpPr>
        <p:spPr>
          <a:xfrm>
            <a:off x="229870" y="200025"/>
            <a:ext cx="11939270" cy="829945"/>
          </a:xfrm>
          <a:prstGeom prst="rect">
            <a:avLst/>
          </a:prstGeom>
          <a:noFill/>
        </p:spPr>
        <p:txBody>
          <a:bodyPr wrap="square" rtlCol="0" anchor="t">
            <a:spAutoFit/>
          </a:bodyPr>
          <a:p>
            <a:pPr marL="0" indent="0">
              <a:buFont typeface="Arial" panose="020B0604020202020204" pitchFamily="34" charset="0"/>
              <a:buNone/>
            </a:pPr>
            <a:r>
              <a:rPr lang="en-US" altLang="zh-CN" sz="2400" b="1">
                <a:sym typeface="+mn-ea"/>
              </a:rPr>
              <a:t>Validate Shelf Life Expiration Date</a:t>
            </a:r>
            <a:r>
              <a:rPr lang="en-IN" altLang="en-US" sz="2400" b="1">
                <a:sym typeface="+mn-ea"/>
              </a:rPr>
              <a:t>, </a:t>
            </a:r>
            <a:r>
              <a:rPr lang="en-US" altLang="zh-CN" sz="2400" b="1">
                <a:sym typeface="+mn-ea"/>
              </a:rPr>
              <a:t>Error Messages</a:t>
            </a:r>
            <a:r>
              <a:rPr lang="en-IN" altLang="en-US" sz="2400" b="1">
                <a:sym typeface="+mn-ea"/>
              </a:rPr>
              <a:t> and </a:t>
            </a:r>
            <a:r>
              <a:rPr lang="en-US" altLang="zh-CN" sz="2400" b="1">
                <a:sym typeface="+mn-ea"/>
              </a:rPr>
              <a:t>Verify SLED/Best Before Date After Goods Receipt</a:t>
            </a:r>
            <a:endParaRPr lang="en-US" altLang="zh-CN" sz="2400" b="1">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E6A8"/>
        </a:solidFill>
        <a:effectLst/>
      </p:bgPr>
    </p:bg>
    <p:spTree>
      <p:nvGrpSpPr>
        <p:cNvPr id="229" name="Shape 229"/>
        <p:cNvGrpSpPr/>
        <p:nvPr/>
      </p:nvGrpSpPr>
      <p:grpSpPr>
        <a:xfrm>
          <a:off x="0" y="0"/>
          <a:ext cx="0" cy="0"/>
          <a:chOff x="0" y="0"/>
          <a:chExt cx="0" cy="0"/>
        </a:xfrm>
      </p:grpSpPr>
      <p:grpSp>
        <p:nvGrpSpPr>
          <p:cNvPr id="230" name="Google Shape;230;p24"/>
          <p:cNvGrpSpPr/>
          <p:nvPr/>
        </p:nvGrpSpPr>
        <p:grpSpPr>
          <a:xfrm>
            <a:off x="2105025" y="804546"/>
            <a:ext cx="14077950" cy="3393598"/>
            <a:chOff x="0" y="-95250"/>
            <a:chExt cx="18770600" cy="4524799"/>
          </a:xfrm>
        </p:grpSpPr>
        <p:sp>
          <p:nvSpPr>
            <p:cNvPr id="231" name="Google Shape;231;p24"/>
            <p:cNvSpPr txBox="1"/>
            <p:nvPr/>
          </p:nvSpPr>
          <p:spPr>
            <a:xfrm>
              <a:off x="0" y="-95250"/>
              <a:ext cx="18770600" cy="22034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0400" b="0" i="0" u="none" strike="noStrike" cap="none">
                  <a:solidFill>
                    <a:srgbClr val="293332"/>
                  </a:solidFill>
                  <a:latin typeface="Poppins" panose="00000500000000000000"/>
                  <a:ea typeface="Poppins" panose="00000500000000000000"/>
                  <a:cs typeface="Poppins" panose="00000500000000000000"/>
                  <a:sym typeface="Poppins" panose="00000500000000000000"/>
                </a:rPr>
                <a:t>Thank you!</a:t>
              </a:r>
              <a:endParaRPr lang="en-US" sz="104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sp>
          <p:nvSpPr>
            <p:cNvPr id="232" name="Google Shape;232;p24"/>
            <p:cNvSpPr txBox="1"/>
            <p:nvPr/>
          </p:nvSpPr>
          <p:spPr>
            <a:xfrm>
              <a:off x="0" y="2509308"/>
              <a:ext cx="18770600" cy="1920241"/>
            </a:xfrm>
            <a:prstGeom prst="rect">
              <a:avLst/>
            </a:prstGeom>
            <a:noFill/>
            <a:ln>
              <a:noFill/>
            </a:ln>
          </p:spPr>
          <p:txBody>
            <a:bodyPr spcFirstLastPara="1" wrap="square" lIns="0" tIns="0" rIns="0" bIns="0" anchor="t" anchorCtr="0">
              <a:spAutoFit/>
            </a:bodyPr>
            <a:lstStyle/>
            <a:p>
              <a:pPr marL="0" marR="0" lvl="0" indent="0" algn="ctr" rtl="0">
                <a:lnSpc>
                  <a:spcPct val="130000"/>
                </a:lnSpc>
                <a:spcBef>
                  <a:spcPts val="0"/>
                </a:spcBef>
                <a:spcAft>
                  <a:spcPts val="0"/>
                </a:spcAft>
                <a:buNone/>
              </a:pPr>
              <a:r>
                <a:rPr 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rPr>
                <a:t>Feel free to approach </a:t>
              </a:r>
              <a:r>
                <a:rPr lang="en-IN" alt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rPr>
                <a:t>us</a:t>
              </a:r>
              <a:r>
                <a:rPr 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rPr>
                <a:t> if you have any questions.</a:t>
              </a:r>
              <a:endParaRPr 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a:p>
              <a:pPr marL="0" marR="0" lvl="0" indent="0" algn="ctr" rtl="0">
                <a:lnSpc>
                  <a:spcPct val="130000"/>
                </a:lnSpc>
                <a:spcBef>
                  <a:spcPts val="0"/>
                </a:spcBef>
                <a:spcAft>
                  <a:spcPts val="0"/>
                </a:spcAft>
                <a:buNone/>
              </a:pPr>
              <a:r>
                <a:rPr lang="en-IN" alt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rPr>
                <a:t>wmforgeofficial@gmail.com</a:t>
              </a:r>
              <a:endParaRPr lang="en-IN" altLang="en-US" sz="3600" b="0" i="0" u="none" strike="noStrike" cap="none">
                <a:solidFill>
                  <a:srgbClr val="293332"/>
                </a:solidFill>
                <a:latin typeface="Poppins" panose="00000500000000000000"/>
                <a:ea typeface="Poppins" panose="00000500000000000000"/>
                <a:cs typeface="Poppins" panose="00000500000000000000"/>
                <a:sym typeface="Poppins" panose="00000500000000000000"/>
              </a:endParaRPr>
            </a:p>
          </p:txBody>
        </p:sp>
      </p:grpSp>
      <p:pic>
        <p:nvPicPr>
          <p:cNvPr id="233" name="Google Shape;233;p24" descr="D:/SAP WM/WMForgeOfficial/WM Forge_Logos/WMForgeBanner.pngWMForgeBanner"/>
          <p:cNvPicPr preferRelativeResize="0"/>
          <p:nvPr/>
        </p:nvPicPr>
        <p:blipFill>
          <a:blip r:embed="rId1"/>
          <a:srcRect t="19292"/>
          <a:stretch>
            <a:fillRect/>
          </a:stretch>
        </p:blipFill>
        <p:spPr>
          <a:xfrm>
            <a:off x="483813" y="4246650"/>
            <a:ext cx="17320376" cy="559022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5725</Words>
  <Application>WPS Presentation</Application>
  <PresentationFormat/>
  <Paragraphs>126</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Arial</vt:lpstr>
      <vt:lpstr>Calibri</vt:lpstr>
      <vt:lpstr>Poppins</vt:lpstr>
      <vt:lpstr>Times New Roman</vt:lpstr>
      <vt:lpstr>Symbol</vt:lpstr>
      <vt:lpstr>Courier New</vt:lpstr>
      <vt:lpstr>monospace</vt:lpstr>
      <vt:lpstr>Segoe Print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Anshul Khatiyan</cp:lastModifiedBy>
  <cp:revision>15</cp:revision>
  <dcterms:created xsi:type="dcterms:W3CDTF">2026-10-24T08:05:00Z</dcterms:created>
  <dcterms:modified xsi:type="dcterms:W3CDTF">2026-10-25T06:27:15Z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5B98E7EF95D143C18795515B0160CB01_12</vt:lpwstr>
  </property>
</Properties>
</file>