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
  </p:notesMasterIdLst>
  <p:sldIdLst>
    <p:sldId id="296" r:id="rId3"/>
    <p:sldId id="256" r:id="rId4"/>
    <p:sldId id="257" r:id="rId6"/>
    <p:sldId id="295" r:id="rId7"/>
    <p:sldId id="288" r:id="rId8"/>
    <p:sldId id="258" r:id="rId9"/>
    <p:sldId id="289" r:id="rId10"/>
    <p:sldId id="290" r:id="rId11"/>
    <p:sldId id="291" r:id="rId12"/>
    <p:sldId id="292" r:id="rId13"/>
    <p:sldId id="293" r:id="rId14"/>
    <p:sldId id="260" r:id="rId15"/>
  </p:sldIdLst>
  <p:sldSz cx="18288000" cy="10287000"/>
  <p:notesSz cx="6858000" cy="9144000"/>
  <p:embeddedFontLst>
    <p:embeddedFont>
      <p:font typeface="SimSun" panose="02010600030101010101" pitchFamily="2" charset="-122"/>
      <p:regular r:id="rId19"/>
    </p:embeddedFont>
    <p:embeddedFont>
      <p:font typeface="Calibri" panose="020F0502020204030204"/>
      <p:regular r:id="rId20"/>
      <p:bold r:id="rId21"/>
      <p:italic r:id="rId22"/>
      <p:boldItalic r:id="rId23"/>
    </p:embeddedFont>
    <p:embeddedFont>
      <p:font typeface="Libre Baskerville" panose="02000000000000000000"/>
      <p:bold r:id="rId24"/>
    </p:embeddedFont>
    <p:embeddedFont>
      <p:font typeface="Libre Franklin Light"/>
      <p:regular r:id="rId25"/>
      <p:bold r:id="rId26"/>
      <p:italic r:id="rId27"/>
      <p:boldItalic r:id="rId28"/>
    </p:embeddedFont>
    <p:embeddedFont>
      <p:font typeface="Libre Franklin"/>
      <p:bold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10" userDrawn="1">
          <p15:clr>
            <a:srgbClr val="A4A3A4"/>
          </p15:clr>
        </p15:guide>
        <p15:guide id="2" pos="288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2110"/>
        <p:guide pos="2885"/>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0" Type="http://schemas.openxmlformats.org/officeDocument/2006/relationships/font" Target="fonts/font12.fntdata"/><Relationship Id="rId3" Type="http://schemas.openxmlformats.org/officeDocument/2006/relationships/slide" Target="slides/slide1.xml"/><Relationship Id="rId29" Type="http://schemas.openxmlformats.org/officeDocument/2006/relationships/font" Target="fonts/font11.fntdata"/><Relationship Id="rId28" Type="http://schemas.openxmlformats.org/officeDocument/2006/relationships/font" Target="fonts/font10.fntdata"/><Relationship Id="rId27" Type="http://schemas.openxmlformats.org/officeDocument/2006/relationships/font" Target="fonts/font9.fntdata"/><Relationship Id="rId26" Type="http://schemas.openxmlformats.org/officeDocument/2006/relationships/font" Target="fonts/font8.fntdata"/><Relationship Id="rId25" Type="http://schemas.openxmlformats.org/officeDocument/2006/relationships/font" Target="fonts/font7.fntdata"/><Relationship Id="rId24" Type="http://schemas.openxmlformats.org/officeDocument/2006/relationships/font" Target="fonts/font6.fntdata"/><Relationship Id="rId23" Type="http://schemas.openxmlformats.org/officeDocument/2006/relationships/font" Target="fonts/font5.fntdata"/><Relationship Id="rId22" Type="http://schemas.openxmlformats.org/officeDocument/2006/relationships/font" Target="fonts/font4.fntdata"/><Relationship Id="rId21" Type="http://schemas.openxmlformats.org/officeDocument/2006/relationships/font" Target="fonts/font3.fntdata"/><Relationship Id="rId20" Type="http://schemas.openxmlformats.org/officeDocument/2006/relationships/font" Target="fonts/font2.fntdata"/><Relationship Id="rId2" Type="http://schemas.openxmlformats.org/officeDocument/2006/relationships/theme" Target="theme/theme1.xml"/><Relationship Id="rId19" Type="http://schemas.openxmlformats.org/officeDocument/2006/relationships/font" Target="fonts/font1.fntdata"/><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1" name="Shape 91"/>
        <p:cNvGrpSpPr/>
        <p:nvPr/>
      </p:nvGrpSpPr>
      <p:grpSpPr>
        <a:xfrm>
          <a:off x="0" y="0"/>
          <a:ext cx="0" cy="0"/>
          <a:chOff x="0" y="0"/>
          <a:chExt cx="0" cy="0"/>
        </a:xfrm>
      </p:grpSpPr>
      <p:sp>
        <p:nvSpPr>
          <p:cNvPr id="92" name="Google Shape;92;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3" name="Google Shape;93;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91" name="Shape 91"/>
        <p:cNvGrpSpPr/>
        <p:nvPr/>
      </p:nvGrpSpPr>
      <p:grpSpPr>
        <a:xfrm>
          <a:off x="0" y="0"/>
          <a:ext cx="0" cy="0"/>
          <a:chOff x="0" y="0"/>
          <a:chExt cx="0" cy="0"/>
        </a:xfrm>
      </p:grpSpPr>
      <p:sp>
        <p:nvSpPr>
          <p:cNvPr id="92" name="Google Shape;92;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3" name="Google Shape;93;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91" name="Shape 91"/>
        <p:cNvGrpSpPr/>
        <p:nvPr/>
      </p:nvGrpSpPr>
      <p:grpSpPr>
        <a:xfrm>
          <a:off x="0" y="0"/>
          <a:ext cx="0" cy="0"/>
          <a:chOff x="0" y="0"/>
          <a:chExt cx="0" cy="0"/>
        </a:xfrm>
      </p:grpSpPr>
      <p:sp>
        <p:nvSpPr>
          <p:cNvPr id="92" name="Google Shape;92;p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3" name="Google Shape;93;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4" name="Google Shape;114;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4" name="Google Shape;114;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4" name="Google Shape;114;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4" name="Google Shape;114;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4" name="Google Shape;114;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p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4" name="Google Shape;114;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7" name="Shape 147"/>
        <p:cNvGrpSpPr/>
        <p:nvPr/>
      </p:nvGrpSpPr>
      <p:grpSpPr>
        <a:xfrm>
          <a:off x="0" y="0"/>
          <a:ext cx="0" cy="0"/>
          <a:chOff x="0" y="0"/>
          <a:chExt cx="0" cy="0"/>
        </a:xfrm>
      </p:grpSpPr>
      <p:sp>
        <p:nvSpPr>
          <p:cNvPr id="148" name="Google Shape;148;p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49" name="Google Shape;149;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1" name="Shape 11"/>
        <p:cNvGrpSpPr/>
        <p:nvPr/>
      </p:nvGrpSpPr>
      <p:grpSpPr>
        <a:xfrm>
          <a:off x="0" y="0"/>
          <a:ext cx="0" cy="0"/>
          <a:chOff x="0" y="0"/>
          <a:chExt cx="0" cy="0"/>
        </a:xfrm>
      </p:grpSpPr>
      <p:sp>
        <p:nvSpPr>
          <p:cNvPr id="12" name="Google Shape;12;p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24" name="Google Shape;24;p4"/>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panose="020F0502020204030204"/>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6" name="Google Shape;36;p6"/>
          <p:cNvSpPr txBox="1"/>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p:txBody>
      </p:sp>
      <p:sp>
        <p:nvSpPr>
          <p:cNvPr id="37" name="Google Shape;37;p6"/>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panose="020F0502020204030204"/>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3" name="Google Shape;43;p7"/>
          <p:cNvSpPr txBox="1"/>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4" name="Google Shape;44;p7"/>
          <p:cNvSpPr txBox="1"/>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p:txBody>
      </p:sp>
      <p:sp>
        <p:nvSpPr>
          <p:cNvPr id="45" name="Google Shape;45;p7"/>
          <p:cNvSpPr txBox="1"/>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p:txBody>
      </p:sp>
      <p:sp>
        <p:nvSpPr>
          <p:cNvPr id="46" name="Google Shape;46;p7"/>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p:txBody>
      </p:sp>
      <p:sp>
        <p:nvSpPr>
          <p:cNvPr id="57" name="Google Shape;57;p9"/>
          <p:cNvSpPr txBox="1"/>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58" name="Google Shape;58;p9"/>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panose="020F0502020204030204"/>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type="pic" idx="2"/>
          </p:nvPr>
        </p:nvSpPr>
        <p:spPr>
          <a:xfrm>
            <a:off x="1792288" y="612775"/>
            <a:ext cx="5486400" cy="4114800"/>
          </a:xfrm>
          <a:prstGeom prst="rect">
            <a:avLst/>
          </a:prstGeom>
          <a:noFill/>
          <a:ln>
            <a:noFill/>
          </a:ln>
        </p:spPr>
      </p:sp>
      <p:sp>
        <p:nvSpPr>
          <p:cNvPr id="64" name="Google Shape;64;p10"/>
          <p:cNvSpPr txBox="1"/>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p:txBody>
      </p:sp>
      <p:sp>
        <p:nvSpPr>
          <p:cNvPr id="65" name="Google Shape;65;p10"/>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1" name="Google Shape;71;p1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p:txBody>
      </p:sp>
      <p:sp>
        <p:nvSpPr>
          <p:cNvPr id="77" name="Google Shape;77;p12"/>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panose="020B0604020202020204"/>
              <a:buChar char="•"/>
              <a:defRPr sz="3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406400" algn="l" rtl="0">
              <a:spcBef>
                <a:spcPts val="56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81000" algn="l" rtl="0">
              <a:spcBef>
                <a:spcPts val="48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55600" algn="l" rtl="0">
              <a:spcBef>
                <a:spcPts val="4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p1"/>
          <p:cNvSpPr txBox="1"/>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9" name="Google Shape;9;p1"/>
          <p:cNvSpPr txBox="1"/>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0" name="Google Shape;10;p1"/>
          <p:cNvSpPr txBox="1"/>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xml"/><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9.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image" Target="../media/image1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2.png"/></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14.png"/><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xml"/><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2.pn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xml"/><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Picture 1" descr="WMForge New Poster"/>
          <p:cNvPicPr>
            <a:picLocks noChangeAspect="1"/>
          </p:cNvPicPr>
          <p:nvPr/>
        </p:nvPicPr>
        <p:blipFill>
          <a:blip r:embed="rId1"/>
          <a:stretch>
            <a:fillRect/>
          </a:stretch>
        </p:blipFill>
        <p:spPr>
          <a:xfrm>
            <a:off x="0" y="1486535"/>
            <a:ext cx="18288000" cy="7313295"/>
          </a:xfrm>
          <a:prstGeom prst="rect">
            <a:avLst/>
          </a:prstGeom>
        </p:spPr>
      </p:pic>
      <p:pic>
        <p:nvPicPr>
          <p:cNvPr id="3" name="Picture 2" descr="WMForgeLogo"/>
          <p:cNvPicPr>
            <a:picLocks noChangeAspect="1"/>
          </p:cNvPicPr>
          <p:nvPr/>
        </p:nvPicPr>
        <p:blipFill>
          <a:blip r:embed="rId2"/>
          <a:stretch>
            <a:fillRect/>
          </a:stretch>
        </p:blipFill>
        <p:spPr>
          <a:xfrm>
            <a:off x="16858615" y="198120"/>
            <a:ext cx="1280160" cy="128016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sp>
        <p:nvSpPr>
          <p:cNvPr id="84" name="Google Shape;84;p13"/>
          <p:cNvSpPr txBox="1"/>
          <p:nvPr/>
        </p:nvSpPr>
        <p:spPr>
          <a:xfrm>
            <a:off x="285750" y="200025"/>
            <a:ext cx="1934845" cy="541020"/>
          </a:xfrm>
          <a:prstGeom prst="roundRect">
            <a:avLst/>
          </a:prstGeom>
          <a:noFill/>
          <a:ln w="53975" cmpd="sng">
            <a:solidFill>
              <a:schemeClr val="accent1">
                <a:shade val="50000"/>
              </a:schemeClr>
            </a:solidFill>
            <a:prstDash val="solid"/>
          </a:ln>
        </p:spPr>
        <p:txBody>
          <a:bodyPr spcFirstLastPara="1" wrap="square" lIns="0" tIns="0" rIns="0" bIns="0" anchor="t" anchorCtr="0">
            <a:noAutofit/>
          </a:bodyPr>
          <a:lstStyle/>
          <a:p>
            <a:pPr marL="0" marR="0" lvl="0" indent="0" algn="ctr" rtl="0">
              <a:lnSpc>
                <a:spcPct val="120000"/>
              </a:lnSpc>
              <a:spcBef>
                <a:spcPts val="0"/>
              </a:spcBef>
              <a:spcAft>
                <a:spcPts val="0"/>
              </a:spcAft>
              <a:buNone/>
            </a:pPr>
            <a:r>
              <a:rPr lang="en-IN" altLang="en-US" sz="2400" b="1" i="0" u="none" strike="noStrike" cap="none">
                <a:solidFill>
                  <a:srgbClr val="014E97"/>
                </a:solidFill>
                <a:latin typeface="Libre Baskerville" panose="02000000000000000000"/>
                <a:ea typeface="Libre Baskerville" panose="02000000000000000000"/>
                <a:cs typeface="Libre Baskerville" panose="02000000000000000000"/>
                <a:sym typeface="Libre Baskerville" panose="02000000000000000000"/>
              </a:rPr>
              <a:t>Mobile</a:t>
            </a:r>
            <a:endParaRPr lang="en-IN" altLang="en-US" sz="7000" b="1" i="0" u="none" strike="noStrike" cap="none">
              <a:solidFill>
                <a:srgbClr val="014E97"/>
              </a:solidFill>
              <a:latin typeface="Libre Baskerville" panose="02000000000000000000"/>
              <a:ea typeface="Libre Baskerville" panose="02000000000000000000"/>
              <a:cs typeface="Libre Baskerville" panose="02000000000000000000"/>
              <a:sym typeface="Libre Baskerville" panose="02000000000000000000"/>
            </a:endParaRPr>
          </a:p>
          <a:p>
            <a:pPr marL="0" marR="0" lvl="0" indent="0" algn="l" rtl="0">
              <a:lnSpc>
                <a:spcPct val="120000"/>
              </a:lnSpc>
              <a:spcBef>
                <a:spcPts val="0"/>
              </a:spcBef>
              <a:spcAft>
                <a:spcPts val="0"/>
              </a:spcAft>
              <a:buNone/>
            </a:pPr>
            <a:endParaRPr lang="en-IN" altLang="en-US" sz="7000" b="1" i="0" u="none" strike="noStrike" cap="none">
              <a:solidFill>
                <a:srgbClr val="014E97"/>
              </a:solidFill>
              <a:latin typeface="Libre Baskerville" panose="02000000000000000000"/>
              <a:ea typeface="Libre Baskerville" panose="02000000000000000000"/>
              <a:cs typeface="Libre Baskerville" panose="02000000000000000000"/>
              <a:sym typeface="Libre Baskerville" panose="02000000000000000000"/>
            </a:endParaRPr>
          </a:p>
        </p:txBody>
      </p:sp>
      <p:pic>
        <p:nvPicPr>
          <p:cNvPr id="10" name="Picture 9" descr="ChatGPT Image Sep 22, 2026, 06_03_09 PM"/>
          <p:cNvPicPr>
            <a:picLocks noChangeAspect="1"/>
          </p:cNvPicPr>
          <p:nvPr/>
        </p:nvPicPr>
        <p:blipFill>
          <a:blip r:embed="rId1"/>
          <a:stretch>
            <a:fillRect/>
          </a:stretch>
        </p:blipFill>
        <p:spPr>
          <a:xfrm>
            <a:off x="5852160" y="2743200"/>
            <a:ext cx="5708650" cy="4951095"/>
          </a:xfrm>
          <a:prstGeom prst="hexagon">
            <a:avLst/>
          </a:prstGeom>
        </p:spPr>
      </p:pic>
      <p:pic>
        <p:nvPicPr>
          <p:cNvPr id="11" name="Picture 10" descr="ChatGPT Image Sep 22, 2026, 05_30_41 PM"/>
          <p:cNvPicPr>
            <a:picLocks noChangeAspect="1"/>
          </p:cNvPicPr>
          <p:nvPr/>
        </p:nvPicPr>
        <p:blipFill>
          <a:blip r:embed="rId2"/>
          <a:stretch>
            <a:fillRect/>
          </a:stretch>
        </p:blipFill>
        <p:spPr>
          <a:xfrm>
            <a:off x="10332720" y="5347335"/>
            <a:ext cx="5705856" cy="4939465"/>
          </a:xfrm>
          <a:prstGeom prst="hexagon">
            <a:avLst/>
          </a:prstGeom>
        </p:spPr>
      </p:pic>
      <p:pic>
        <p:nvPicPr>
          <p:cNvPr id="12" name="Picture 11" descr="ChatGPT Image Sep 22, 2026, 05_52_35 PM"/>
          <p:cNvPicPr>
            <a:picLocks noChangeAspect="1"/>
          </p:cNvPicPr>
          <p:nvPr/>
        </p:nvPicPr>
        <p:blipFill>
          <a:blip r:embed="rId3"/>
          <a:stretch>
            <a:fillRect/>
          </a:stretch>
        </p:blipFill>
        <p:spPr>
          <a:xfrm>
            <a:off x="10303510" y="200025"/>
            <a:ext cx="5705856" cy="4943569"/>
          </a:xfrm>
          <a:prstGeom prst="hexagon">
            <a:avLst/>
          </a:prstGeom>
        </p:spPr>
      </p:pic>
      <p:pic>
        <p:nvPicPr>
          <p:cNvPr id="19" name="Picture 18" descr="D:/Downloads/ChatGPT Image Sep 22, 2026, 06_14_29 PM.pngChatGPT Image Sep 22, 2026, 06_14_29 PM"/>
          <p:cNvPicPr>
            <a:picLocks noChangeAspect="1"/>
          </p:cNvPicPr>
          <p:nvPr/>
        </p:nvPicPr>
        <p:blipFill>
          <a:blip r:embed="rId4"/>
          <a:srcRect t="6596" b="6676"/>
          <a:stretch>
            <a:fillRect/>
          </a:stretch>
        </p:blipFill>
        <p:spPr>
          <a:xfrm rot="60000">
            <a:off x="14910037" y="2718251"/>
            <a:ext cx="5760720" cy="4996255"/>
          </a:xfrm>
          <a:prstGeom prst="hexagon">
            <a:avLst/>
          </a:prstGeom>
          <a:solidFill>
            <a:schemeClr val="bg2"/>
          </a:solidFill>
        </p:spPr>
      </p:pic>
      <p:pic>
        <p:nvPicPr>
          <p:cNvPr id="20" name="Picture 19" descr="D:/Downloads/ChatGPT Image Sep 22, 2026, 06_14_29 PM.pngChatGPT Image Sep 22, 2026, 06_14_29 PM"/>
          <p:cNvPicPr preferRelativeResize="0">
            <a:picLocks noChangeAspect="1"/>
          </p:cNvPicPr>
          <p:nvPr/>
        </p:nvPicPr>
        <p:blipFill>
          <a:blip r:embed="rId4"/>
          <a:srcRect t="6596" b="6676"/>
          <a:stretch>
            <a:fillRect/>
          </a:stretch>
        </p:blipFill>
        <p:spPr>
          <a:xfrm rot="60000">
            <a:off x="14966987" y="-2378117"/>
            <a:ext cx="5703818" cy="4946904"/>
          </a:xfrm>
          <a:prstGeom prst="hexagon">
            <a:avLst/>
          </a:prstGeom>
          <a:blipFill rotWithShape="1">
            <a:blip r:embed="rId3"/>
            <a:stretch>
              <a:fillRect/>
            </a:stretch>
          </a:blipFill>
        </p:spPr>
      </p:pic>
      <p:pic>
        <p:nvPicPr>
          <p:cNvPr id="23" name="Picture 22" descr="D:/Downloads/ChatGPT Image Sep 22, 2026, 06_14_29 PM.pngChatGPT Image Sep 22, 2026, 06_14_29 PM"/>
          <p:cNvPicPr>
            <a:picLocks noChangeAspect="1"/>
          </p:cNvPicPr>
          <p:nvPr/>
        </p:nvPicPr>
        <p:blipFill>
          <a:blip r:embed="rId4"/>
          <a:srcRect t="6596" b="6676"/>
          <a:stretch>
            <a:fillRect/>
          </a:stretch>
        </p:blipFill>
        <p:spPr>
          <a:xfrm rot="60000">
            <a:off x="14910037" y="7864291"/>
            <a:ext cx="5760720" cy="4996255"/>
          </a:xfrm>
          <a:prstGeom prst="hexagon">
            <a:avLst/>
          </a:prstGeom>
          <a:solidFill>
            <a:schemeClr val="bg2"/>
          </a:solidFill>
        </p:spPr>
      </p:pic>
      <p:sp>
        <p:nvSpPr>
          <p:cNvPr id="25" name="Google Shape;84;p13"/>
          <p:cNvSpPr txBox="1"/>
          <p:nvPr/>
        </p:nvSpPr>
        <p:spPr>
          <a:xfrm>
            <a:off x="285750" y="964565"/>
            <a:ext cx="1934845" cy="540385"/>
          </a:xfrm>
          <a:prstGeom prst="roundRect">
            <a:avLst/>
          </a:prstGeom>
          <a:noFill/>
          <a:ln w="53975" cmpd="sng">
            <a:solidFill>
              <a:schemeClr val="accent1">
                <a:shade val="50000"/>
              </a:schemeClr>
            </a:solidFill>
            <a:prstDash val="solid"/>
          </a:ln>
        </p:spPr>
        <p:txBody>
          <a:bodyPr spcFirstLastPara="1" wrap="square" lIns="0" tIns="0" rIns="0" bIns="0" anchor="t" anchorCtr="0">
            <a:noAutofit/>
          </a:bodyPr>
          <a:lstStyle/>
          <a:p>
            <a:pPr marL="0" marR="0" lvl="0" indent="0" algn="ctr" rtl="0">
              <a:lnSpc>
                <a:spcPct val="120000"/>
              </a:lnSpc>
              <a:spcBef>
                <a:spcPts val="0"/>
              </a:spcBef>
              <a:spcAft>
                <a:spcPts val="0"/>
              </a:spcAft>
              <a:buNone/>
            </a:pPr>
            <a:r>
              <a:rPr lang="en-IN" altLang="en-US" sz="2400" b="1" i="0" u="none" strike="noStrike" cap="none">
                <a:solidFill>
                  <a:srgbClr val="014E97"/>
                </a:solidFill>
                <a:latin typeface="Libre Baskerville" panose="02000000000000000000"/>
                <a:ea typeface="Libre Baskerville" panose="02000000000000000000"/>
                <a:cs typeface="Libre Baskerville" panose="02000000000000000000"/>
                <a:sym typeface="Libre Baskerville" panose="02000000000000000000"/>
              </a:rPr>
              <a:t>Data</a:t>
            </a:r>
            <a:endParaRPr lang="en-IN" altLang="en-US" sz="7000" b="1" i="0" u="none" strike="noStrike" cap="none">
              <a:solidFill>
                <a:srgbClr val="014E97"/>
              </a:solidFill>
              <a:latin typeface="Libre Baskerville" panose="02000000000000000000"/>
              <a:ea typeface="Libre Baskerville" panose="02000000000000000000"/>
              <a:cs typeface="Libre Baskerville" panose="02000000000000000000"/>
              <a:sym typeface="Libre Baskerville" panose="02000000000000000000"/>
            </a:endParaRPr>
          </a:p>
          <a:p>
            <a:pPr marL="0" marR="0" lvl="0" indent="0" algn="l" rtl="0">
              <a:lnSpc>
                <a:spcPct val="120000"/>
              </a:lnSpc>
              <a:spcBef>
                <a:spcPts val="0"/>
              </a:spcBef>
              <a:spcAft>
                <a:spcPts val="0"/>
              </a:spcAft>
              <a:buNone/>
            </a:pPr>
            <a:endParaRPr lang="en-IN" altLang="en-US" sz="7000" b="1" i="0" u="none" strike="noStrike" cap="none">
              <a:solidFill>
                <a:srgbClr val="014E97"/>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26" name="Google Shape;84;p13"/>
          <p:cNvSpPr txBox="1"/>
          <p:nvPr/>
        </p:nvSpPr>
        <p:spPr>
          <a:xfrm>
            <a:off x="285750" y="1728470"/>
            <a:ext cx="1934210" cy="478155"/>
          </a:xfrm>
          <a:prstGeom prst="roundRect">
            <a:avLst/>
          </a:prstGeom>
          <a:noFill/>
          <a:ln w="53975" cmpd="sng">
            <a:solidFill>
              <a:schemeClr val="accent1">
                <a:shade val="50000"/>
              </a:schemeClr>
            </a:solidFill>
            <a:prstDash val="solid"/>
          </a:ln>
        </p:spPr>
        <p:txBody>
          <a:bodyPr spcFirstLastPara="1" wrap="square" lIns="0" tIns="0" rIns="0" bIns="0" anchor="t" anchorCtr="0">
            <a:noAutofit/>
          </a:bodyPr>
          <a:lstStyle/>
          <a:p>
            <a:pPr marL="0" marR="0" lvl="0" indent="0" algn="ctr" rtl="0">
              <a:lnSpc>
                <a:spcPct val="120000"/>
              </a:lnSpc>
              <a:spcBef>
                <a:spcPts val="0"/>
              </a:spcBef>
              <a:spcAft>
                <a:spcPts val="0"/>
              </a:spcAft>
              <a:buNone/>
            </a:pPr>
            <a:r>
              <a:rPr lang="en-IN" altLang="en-US" sz="2400" b="1" i="0" u="none" strike="noStrike" cap="none">
                <a:solidFill>
                  <a:srgbClr val="014E97"/>
                </a:solidFill>
                <a:latin typeface="Libre Baskerville" panose="02000000000000000000"/>
                <a:ea typeface="Libre Baskerville" panose="02000000000000000000"/>
                <a:cs typeface="Libre Baskerville" panose="02000000000000000000"/>
                <a:sym typeface="Libre Baskerville" panose="02000000000000000000"/>
              </a:rPr>
              <a:t>Entry</a:t>
            </a:r>
            <a:endParaRPr lang="en-IN" altLang="en-US" sz="7000" b="1" i="0" u="none" strike="noStrike" cap="none">
              <a:solidFill>
                <a:srgbClr val="014E97"/>
              </a:solidFill>
              <a:latin typeface="Libre Baskerville" panose="02000000000000000000"/>
              <a:ea typeface="Libre Baskerville" panose="02000000000000000000"/>
              <a:cs typeface="Libre Baskerville" panose="02000000000000000000"/>
              <a:sym typeface="Libre Baskerville" panose="02000000000000000000"/>
            </a:endParaRPr>
          </a:p>
          <a:p>
            <a:pPr marL="0" marR="0" lvl="0" indent="0" algn="l" rtl="0">
              <a:lnSpc>
                <a:spcPct val="120000"/>
              </a:lnSpc>
              <a:spcBef>
                <a:spcPts val="0"/>
              </a:spcBef>
              <a:spcAft>
                <a:spcPts val="0"/>
              </a:spcAft>
              <a:buNone/>
            </a:pPr>
            <a:endParaRPr lang="en-IN" altLang="en-US" sz="7000" b="1" i="0" u="none" strike="noStrike" cap="none">
              <a:solidFill>
                <a:srgbClr val="014E97"/>
              </a:solidFill>
              <a:latin typeface="Libre Baskerville" panose="02000000000000000000"/>
              <a:ea typeface="Libre Baskerville" panose="02000000000000000000"/>
              <a:cs typeface="Libre Baskerville" panose="02000000000000000000"/>
              <a:sym typeface="Libre Baskerville" panose="02000000000000000000"/>
            </a:endParaRPr>
          </a:p>
        </p:txBody>
      </p:sp>
      <p:pic>
        <p:nvPicPr>
          <p:cNvPr id="28" name="Picture 27" descr="WMForgeLogo"/>
          <p:cNvPicPr>
            <a:picLocks noChangeAspect="1"/>
          </p:cNvPicPr>
          <p:nvPr/>
        </p:nvPicPr>
        <p:blipFill>
          <a:blip r:embed="rId5"/>
          <a:stretch>
            <a:fillRect/>
          </a:stretch>
        </p:blipFill>
        <p:spPr>
          <a:xfrm>
            <a:off x="16352520" y="0"/>
            <a:ext cx="1935480" cy="1935480"/>
          </a:xfrm>
          <a:prstGeom prst="rect">
            <a:avLst/>
          </a:prstGeom>
        </p:spPr>
      </p:pic>
      <p:sp>
        <p:nvSpPr>
          <p:cNvPr id="3" name="Text Box 2"/>
          <p:cNvSpPr txBox="1"/>
          <p:nvPr/>
        </p:nvSpPr>
        <p:spPr>
          <a:xfrm>
            <a:off x="285115" y="3041015"/>
            <a:ext cx="5567045" cy="3818890"/>
          </a:xfrm>
          <a:prstGeom prst="flowChartAlternateProcess">
            <a:avLst/>
          </a:prstGeom>
          <a:ln w="25400">
            <a:solidFill>
              <a:schemeClr val="accent1"/>
            </a:solidFill>
          </a:ln>
        </p:spPr>
        <p:txBody>
          <a:bodyPr wrap="square">
            <a:noAutofit/>
          </a:bodyPr>
          <a:p>
            <a:pPr marL="0" indent="0" algn="l" defTabSz="266700">
              <a:spcBef>
                <a:spcPts val="500"/>
              </a:spcBef>
              <a:spcAft>
                <a:spcPts val="500"/>
              </a:spcAft>
            </a:pPr>
            <a:r>
              <a:rPr lang="en-US" altLang="zh-CN" sz="2000">
                <a:solidFill>
                  <a:schemeClr val="bg2"/>
                </a:solidFill>
                <a:latin typeface="Times New Roman" panose="02020603050405020304"/>
                <a:ea typeface="SimSun" panose="02010600030101010101" pitchFamily="2" charset="-122"/>
              </a:rPr>
              <a:t>Mobile Data Entry (LE-MOB), also known as the </a:t>
            </a:r>
            <a:r>
              <a:rPr lang="en-US" altLang="zh-CN" sz="2000" b="1">
                <a:solidFill>
                  <a:schemeClr val="bg2"/>
                </a:solidFill>
                <a:latin typeface="Times New Roman" panose="02020603050405020304"/>
                <a:ea typeface="SimSun" panose="02010600030101010101" pitchFamily="2" charset="-122"/>
              </a:rPr>
              <a:t>RF (Radio Frequency) Solution</a:t>
            </a:r>
            <a:r>
              <a:rPr lang="en-US" altLang="zh-CN" sz="2000">
                <a:solidFill>
                  <a:schemeClr val="bg2"/>
                </a:solidFill>
                <a:latin typeface="Times New Roman" panose="02020603050405020304"/>
                <a:ea typeface="SimSun" panose="02010600030101010101" pitchFamily="2" charset="-122"/>
              </a:rPr>
              <a:t>, is a feature in SAP Warehouse Management that allows warehouse operators to perform warehouse activities using handheld RF devices instead of paper documents.</a:t>
            </a:r>
            <a:endParaRPr lang="en-US" altLang="zh-CN" sz="2000">
              <a:solidFill>
                <a:schemeClr val="bg2"/>
              </a:solidFill>
              <a:latin typeface="Times New Roman" panose="02020603050405020304"/>
              <a:ea typeface="SimSun" panose="02010600030101010101" pitchFamily="2" charset="-122"/>
            </a:endParaRPr>
          </a:p>
          <a:p>
            <a:pPr marL="0" indent="0" algn="l" defTabSz="266700">
              <a:spcBef>
                <a:spcPts val="500"/>
              </a:spcBef>
              <a:spcAft>
                <a:spcPts val="500"/>
              </a:spcAft>
            </a:pPr>
            <a:r>
              <a:rPr lang="en-US" altLang="zh-CN" sz="2000">
                <a:solidFill>
                  <a:schemeClr val="bg2"/>
                </a:solidFill>
                <a:latin typeface="Times New Roman" panose="02020603050405020304"/>
                <a:ea typeface="SimSun" panose="02010600030101010101" pitchFamily="2" charset="-122"/>
              </a:rPr>
              <a:t>The RF device communicates directly with SAP, receives warehouse tasks, allows users to scan barcodes, and updates SAP in real time. This makes warehouse operations faster, more accurate, and paperless.</a:t>
            </a:r>
            <a:endParaRPr lang="en-US" altLang="zh-CN" sz="2000">
              <a:solidFill>
                <a:schemeClr val="bg2"/>
              </a:solidFill>
              <a:latin typeface="Times New Roman" panose="02020603050405020304"/>
              <a:ea typeface="SimSun" panose="02010600030101010101" pitchFamily="2" charset="-122"/>
            </a:endParaRPr>
          </a:p>
        </p:txBody>
      </p:sp>
      <p:sp>
        <p:nvSpPr>
          <p:cNvPr id="2" name="Text Box 1"/>
          <p:cNvSpPr txBox="1"/>
          <p:nvPr/>
        </p:nvSpPr>
        <p:spPr>
          <a:xfrm>
            <a:off x="285750" y="7694295"/>
            <a:ext cx="10017760" cy="2383155"/>
          </a:xfrm>
          <a:prstGeom prst="flowChartAlternateProcess">
            <a:avLst/>
          </a:prstGeom>
          <a:ln w="28575" cmpd="sng">
            <a:solidFill>
              <a:schemeClr val="accent1">
                <a:shade val="50000"/>
              </a:schemeClr>
            </a:solidFill>
            <a:prstDash val="solid"/>
          </a:ln>
        </p:spPr>
        <p:txBody>
          <a:bodyPr wrap="square">
            <a:noAutofit/>
          </a:bodyPr>
          <a:p>
            <a:pPr marL="0" indent="0" algn="l" defTabSz="266700">
              <a:spcBef>
                <a:spcPts val="500"/>
              </a:spcBef>
              <a:spcAft>
                <a:spcPts val="500"/>
              </a:spcAft>
            </a:pPr>
            <a:r>
              <a:rPr lang="en-US" altLang="en-US" sz="1700">
                <a:solidFill>
                  <a:schemeClr val="bg2"/>
                </a:solidFill>
                <a:latin typeface="Times New Roman" panose="02020603050405020304"/>
                <a:ea typeface="SimSun" panose="02010600030101010101" pitchFamily="2" charset="-122"/>
              </a:rPr>
              <a:t>Why Do We Use RF?</a:t>
            </a:r>
            <a:endParaRPr lang="en-US" altLang="en-US" sz="1700">
              <a:solidFill>
                <a:schemeClr val="bg2"/>
              </a:solidFill>
              <a:latin typeface="Times New Roman" panose="02020603050405020304"/>
              <a:ea typeface="SimSun" panose="02010600030101010101" pitchFamily="2" charset="-122"/>
            </a:endParaRPr>
          </a:p>
          <a:p>
            <a:pPr marL="0" indent="0" algn="l" defTabSz="266700">
              <a:spcBef>
                <a:spcPts val="500"/>
              </a:spcBef>
              <a:spcAft>
                <a:spcPts val="500"/>
              </a:spcAft>
            </a:pPr>
            <a:r>
              <a:rPr lang="en-US" altLang="en-US" sz="1700">
                <a:solidFill>
                  <a:schemeClr val="bg2"/>
                </a:solidFill>
                <a:latin typeface="Times New Roman" panose="02020603050405020304"/>
                <a:ea typeface="SimSun" panose="02010600030101010101" pitchFamily="2" charset="-122"/>
              </a:rPr>
              <a:t>In a warehouse, workers perform hundreds of activities such as Goods Receipt, Putaway, Picking, Goods Issue, and Inventory Counting every day.</a:t>
            </a:r>
            <a:endParaRPr lang="en-US" altLang="en-US" sz="1700">
              <a:solidFill>
                <a:schemeClr val="bg2"/>
              </a:solidFill>
              <a:latin typeface="Times New Roman" panose="02020603050405020304"/>
              <a:ea typeface="SimSun" panose="02010600030101010101" pitchFamily="2" charset="-122"/>
            </a:endParaRPr>
          </a:p>
          <a:p>
            <a:pPr marL="0" indent="0" algn="l" defTabSz="266700">
              <a:lnSpc>
                <a:spcPct val="80000"/>
              </a:lnSpc>
              <a:spcBef>
                <a:spcPts val="500"/>
              </a:spcBef>
              <a:spcAft>
                <a:spcPts val="500"/>
              </a:spcAft>
            </a:pPr>
            <a:r>
              <a:rPr lang="en-US" altLang="en-US" sz="1700">
                <a:solidFill>
                  <a:schemeClr val="bg2"/>
                </a:solidFill>
                <a:latin typeface="Times New Roman" panose="02020603050405020304"/>
                <a:ea typeface="SimSun" panose="02010600030101010101" pitchFamily="2" charset="-122"/>
              </a:rPr>
              <a:t>If these activities are performed using paper documents, they are slower and there is a higher chance of mistakes.</a:t>
            </a:r>
            <a:endParaRPr lang="en-US" altLang="en-US" sz="1700">
              <a:solidFill>
                <a:schemeClr val="bg2"/>
              </a:solidFill>
              <a:latin typeface="Times New Roman" panose="02020603050405020304"/>
              <a:ea typeface="SimSun" panose="02010600030101010101" pitchFamily="2" charset="-122"/>
            </a:endParaRPr>
          </a:p>
          <a:p>
            <a:pPr marL="0" indent="0" algn="l" defTabSz="266700">
              <a:spcBef>
                <a:spcPts val="500"/>
              </a:spcBef>
              <a:spcAft>
                <a:spcPts val="500"/>
              </a:spcAft>
            </a:pPr>
            <a:r>
              <a:rPr lang="en-US" altLang="en-US" sz="1700">
                <a:solidFill>
                  <a:schemeClr val="bg2"/>
                </a:solidFill>
                <a:latin typeface="Times New Roman" panose="02020603050405020304"/>
                <a:ea typeface="SimSun" panose="02010600030101010101" pitchFamily="2" charset="-122"/>
              </a:rPr>
              <a:t>To solve this problem, SAP provides the RF Solution, where warehouse operators receive their work directly on a handheld scanner, scan the required barcodes, and immediately update SAP after completing the task.</a:t>
            </a:r>
            <a:endParaRPr lang="en-US" altLang="en-US" sz="1700">
              <a:solidFill>
                <a:schemeClr val="bg2"/>
              </a:solidFill>
              <a:latin typeface="Times New Roman" panose="02020603050405020304"/>
              <a:ea typeface="SimSun"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anim calcmode="lin" valueType="num">
                                      <p:cBhvr>
                                        <p:cTn id="7" dur="500" fill="hold"/>
                                        <p:tgtEl>
                                          <p:spTgt spid="84"/>
                                        </p:tgtEl>
                                        <p:attrNameLst>
                                          <p:attrName>ppt_w</p:attrName>
                                        </p:attrNameLst>
                                      </p:cBhvr>
                                      <p:tavLst>
                                        <p:tav tm="0">
                                          <p:val>
                                            <p:fltVal val="0"/>
                                          </p:val>
                                        </p:tav>
                                        <p:tav tm="100000">
                                          <p:val>
                                            <p:strVal val="#ppt_w"/>
                                          </p:val>
                                        </p:tav>
                                      </p:tavLst>
                                    </p:anim>
                                    <p:anim calcmode="lin" valueType="num">
                                      <p:cBhvr>
                                        <p:cTn id="8" dur="500" fill="hold"/>
                                        <p:tgtEl>
                                          <p:spTgt spid="84"/>
                                        </p:tgtEl>
                                        <p:attrNameLst>
                                          <p:attrName>ppt_h</p:attrName>
                                        </p:attrNameLst>
                                      </p:cBhvr>
                                      <p:tavLst>
                                        <p:tav tm="0">
                                          <p:val>
                                            <p:fltVal val="0"/>
                                          </p:val>
                                        </p:tav>
                                        <p:tav tm="100000">
                                          <p:val>
                                            <p:strVal val="#ppt_h"/>
                                          </p:val>
                                        </p:tav>
                                      </p:tavLst>
                                    </p:anim>
                                    <p:animEffect transition="in" filter="fade">
                                      <p:cBhvr>
                                        <p:cTn id="9" dur="500"/>
                                        <p:tgtEl>
                                          <p:spTgt spid="8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5"/>
                                        </p:tgtEl>
                                        <p:attrNameLst>
                                          <p:attrName>style.visibility</p:attrName>
                                        </p:attrNameLst>
                                      </p:cBhvr>
                                      <p:to>
                                        <p:strVal val="visible"/>
                                      </p:to>
                                    </p:set>
                                    <p:anim calcmode="lin" valueType="num">
                                      <p:cBhvr>
                                        <p:cTn id="14" dur="500" fill="hold"/>
                                        <p:tgtEl>
                                          <p:spTgt spid="25"/>
                                        </p:tgtEl>
                                        <p:attrNameLst>
                                          <p:attrName>ppt_w</p:attrName>
                                        </p:attrNameLst>
                                      </p:cBhvr>
                                      <p:tavLst>
                                        <p:tav tm="0">
                                          <p:val>
                                            <p:fltVal val="0"/>
                                          </p:val>
                                        </p:tav>
                                        <p:tav tm="100000">
                                          <p:val>
                                            <p:strVal val="#ppt_w"/>
                                          </p:val>
                                        </p:tav>
                                      </p:tavLst>
                                    </p:anim>
                                    <p:anim calcmode="lin" valueType="num">
                                      <p:cBhvr>
                                        <p:cTn id="15" dur="500" fill="hold"/>
                                        <p:tgtEl>
                                          <p:spTgt spid="25"/>
                                        </p:tgtEl>
                                        <p:attrNameLst>
                                          <p:attrName>ppt_h</p:attrName>
                                        </p:attrNameLst>
                                      </p:cBhvr>
                                      <p:tavLst>
                                        <p:tav tm="0">
                                          <p:val>
                                            <p:fltVal val="0"/>
                                          </p:val>
                                        </p:tav>
                                        <p:tav tm="100000">
                                          <p:val>
                                            <p:strVal val="#ppt_h"/>
                                          </p:val>
                                        </p:tav>
                                      </p:tavLst>
                                    </p:anim>
                                    <p:animEffect transition="in" filter="fade">
                                      <p:cBhvr>
                                        <p:cTn id="16" dur="500"/>
                                        <p:tgtEl>
                                          <p:spTgt spid="25"/>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anim calcmode="lin" valueType="num">
                                      <p:cBhvr>
                                        <p:cTn id="21" dur="500" fill="hold"/>
                                        <p:tgtEl>
                                          <p:spTgt spid="26"/>
                                        </p:tgtEl>
                                        <p:attrNameLst>
                                          <p:attrName>ppt_w</p:attrName>
                                        </p:attrNameLst>
                                      </p:cBhvr>
                                      <p:tavLst>
                                        <p:tav tm="0">
                                          <p:val>
                                            <p:fltVal val="0"/>
                                          </p:val>
                                        </p:tav>
                                        <p:tav tm="100000">
                                          <p:val>
                                            <p:strVal val="#ppt_w"/>
                                          </p:val>
                                        </p:tav>
                                      </p:tavLst>
                                    </p:anim>
                                    <p:anim calcmode="lin" valueType="num">
                                      <p:cBhvr>
                                        <p:cTn id="22" dur="500" fill="hold"/>
                                        <p:tgtEl>
                                          <p:spTgt spid="26"/>
                                        </p:tgtEl>
                                        <p:attrNameLst>
                                          <p:attrName>ppt_h</p:attrName>
                                        </p:attrNameLst>
                                      </p:cBhvr>
                                      <p:tavLst>
                                        <p:tav tm="0">
                                          <p:val>
                                            <p:fltVal val="0"/>
                                          </p:val>
                                        </p:tav>
                                        <p:tav tm="100000">
                                          <p:val>
                                            <p:strVal val="#ppt_h"/>
                                          </p:val>
                                        </p:tav>
                                      </p:tavLst>
                                    </p:anim>
                                    <p:animEffect transition="in" filter="fade">
                                      <p:cBhvr>
                                        <p:cTn id="23" dur="500"/>
                                        <p:tgtEl>
                                          <p:spTgt spid="26"/>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grpId="0" nodeType="click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p:cTn id="28" dur="500" fill="hold"/>
                                        <p:tgtEl>
                                          <p:spTgt spid="3"/>
                                        </p:tgtEl>
                                        <p:attrNameLst>
                                          <p:attrName>ppt_w</p:attrName>
                                        </p:attrNameLst>
                                      </p:cBhvr>
                                      <p:tavLst>
                                        <p:tav tm="0">
                                          <p:val>
                                            <p:fltVal val="0"/>
                                          </p:val>
                                        </p:tav>
                                        <p:tav tm="100000">
                                          <p:val>
                                            <p:strVal val="#ppt_w"/>
                                          </p:val>
                                        </p:tav>
                                      </p:tavLst>
                                    </p:anim>
                                    <p:anim calcmode="lin" valueType="num">
                                      <p:cBhvr>
                                        <p:cTn id="29" dur="500" fill="hold"/>
                                        <p:tgtEl>
                                          <p:spTgt spid="3"/>
                                        </p:tgtEl>
                                        <p:attrNameLst>
                                          <p:attrName>ppt_h</p:attrName>
                                        </p:attrNameLst>
                                      </p:cBhvr>
                                      <p:tavLst>
                                        <p:tav tm="0">
                                          <p:val>
                                            <p:fltVal val="0"/>
                                          </p:val>
                                        </p:tav>
                                        <p:tav tm="100000">
                                          <p:val>
                                            <p:strVal val="#ppt_h"/>
                                          </p:val>
                                        </p:tav>
                                      </p:tavLst>
                                    </p:anim>
                                    <p:animEffect transition="in" filter="fade">
                                      <p:cBhvr>
                                        <p:cTn id="30" dur="500"/>
                                        <p:tgtEl>
                                          <p:spTgt spid="3"/>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grpId="0"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p:cTn id="35" dur="500" fill="hold"/>
                                        <p:tgtEl>
                                          <p:spTgt spid="2"/>
                                        </p:tgtEl>
                                        <p:attrNameLst>
                                          <p:attrName>ppt_w</p:attrName>
                                        </p:attrNameLst>
                                      </p:cBhvr>
                                      <p:tavLst>
                                        <p:tav tm="0">
                                          <p:val>
                                            <p:fltVal val="0"/>
                                          </p:val>
                                        </p:tav>
                                        <p:tav tm="100000">
                                          <p:val>
                                            <p:strVal val="#ppt_w"/>
                                          </p:val>
                                        </p:tav>
                                      </p:tavLst>
                                    </p:anim>
                                    <p:anim calcmode="lin" valueType="num">
                                      <p:cBhvr>
                                        <p:cTn id="36" dur="500" fill="hold"/>
                                        <p:tgtEl>
                                          <p:spTgt spid="2"/>
                                        </p:tgtEl>
                                        <p:attrNameLst>
                                          <p:attrName>ppt_h</p:attrName>
                                        </p:attrNameLst>
                                      </p:cBhvr>
                                      <p:tavLst>
                                        <p:tav tm="0">
                                          <p:val>
                                            <p:fltVal val="0"/>
                                          </p:val>
                                        </p:tav>
                                        <p:tav tm="100000">
                                          <p:val>
                                            <p:strVal val="#ppt_h"/>
                                          </p:val>
                                        </p:tav>
                                      </p:tavLst>
                                    </p:anim>
                                    <p:animEffect transition="in" filter="fade">
                                      <p:cBhvr>
                                        <p:cTn id="37" dur="500"/>
                                        <p:tgtEl>
                                          <p:spTgt spid="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spid="84" grpId="0" bldLvl="0" animBg="1"/>
      <p:bldP spid="84" grpId="1" animBg="1"/>
      <p:bldP spid="25" grpId="0" bldLvl="0" animBg="1"/>
      <p:bldP spid="25" grpId="1" animBg="1"/>
      <p:bldP spid="26" grpId="0" bldLvl="0" animBg="1"/>
      <p:bldP spid="26" grpId="1" animBg="1"/>
      <p:bldP spid="3" grpId="0" animBg="1"/>
      <p:bldP spid="3" grpId="1" animBg="1"/>
      <p:bldP spid="2" grpId="0" animBg="1"/>
      <p:bldP spid="2"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994E5"/>
        </a:solidFill>
        <a:effectLst/>
      </p:bgPr>
    </p:bg>
    <p:spTree>
      <p:nvGrpSpPr>
        <p:cNvPr id="94" name="Shape 94"/>
        <p:cNvGrpSpPr/>
        <p:nvPr/>
      </p:nvGrpSpPr>
      <p:grpSpPr>
        <a:xfrm>
          <a:off x="0" y="0"/>
          <a:ext cx="0" cy="0"/>
          <a:chOff x="0" y="0"/>
          <a:chExt cx="0" cy="0"/>
        </a:xfrm>
      </p:grpSpPr>
      <p:grpSp>
        <p:nvGrpSpPr>
          <p:cNvPr id="96" name="Google Shape;96;p14"/>
          <p:cNvGrpSpPr/>
          <p:nvPr/>
        </p:nvGrpSpPr>
        <p:grpSpPr>
          <a:xfrm>
            <a:off x="9144000" y="-180975"/>
            <a:ext cx="9144000" cy="10467975"/>
            <a:chOff x="0" y="-47625"/>
            <a:chExt cx="2123392" cy="2756958"/>
          </a:xfrm>
        </p:grpSpPr>
        <p:sp>
          <p:nvSpPr>
            <p:cNvPr id="97" name="Google Shape;97;p14"/>
            <p:cNvSpPr/>
            <p:nvPr/>
          </p:nvSpPr>
          <p:spPr>
            <a:xfrm>
              <a:off x="0" y="0"/>
              <a:ext cx="2123392" cy="2709333"/>
            </a:xfrm>
            <a:custGeom>
              <a:avLst/>
              <a:gdLst/>
              <a:ahLst/>
              <a:cxnLst/>
              <a:rect l="l" t="t" r="r" b="b"/>
              <a:pathLst>
                <a:path w="2123392" h="2709333" extrusionOk="0">
                  <a:moveTo>
                    <a:pt x="0" y="0"/>
                  </a:moveTo>
                  <a:lnTo>
                    <a:pt x="2123392" y="0"/>
                  </a:lnTo>
                  <a:lnTo>
                    <a:pt x="2123392" y="2709333"/>
                  </a:lnTo>
                  <a:lnTo>
                    <a:pt x="0" y="2709333"/>
                  </a:lnTo>
                  <a:close/>
                </a:path>
              </a:pathLst>
            </a:custGeom>
            <a:solidFill>
              <a:srgbClr val="014E97"/>
            </a:solidFill>
            <a:ln>
              <a:noFill/>
            </a:ln>
          </p:spPr>
        </p:sp>
        <p:sp>
          <p:nvSpPr>
            <p:cNvPr id="98" name="Google Shape;98;p14"/>
            <p:cNvSpPr txBox="1"/>
            <p:nvPr/>
          </p:nvSpPr>
          <p:spPr>
            <a:xfrm>
              <a:off x="0" y="-47625"/>
              <a:ext cx="812800" cy="860425"/>
            </a:xfrm>
            <a:prstGeom prst="rect">
              <a:avLst/>
            </a:prstGeom>
            <a:noFill/>
            <a:ln>
              <a:noFill/>
            </a:ln>
          </p:spPr>
          <p:txBody>
            <a:bodyPr spcFirstLastPara="1" wrap="square" lIns="50800" tIns="50800" rIns="50800" bIns="50800" anchor="ctr" anchorCtr="0">
              <a:noAutofit/>
            </a:bodyPr>
            <a:lstStyle/>
            <a:p>
              <a:pPr marL="0" marR="0" lvl="0" indent="0" algn="ctr" rtl="0">
                <a:lnSpc>
                  <a:spcPct val="187000"/>
                </a:lnSpc>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09" name="Google Shape;109;p14"/>
          <p:cNvSpPr txBox="1"/>
          <p:nvPr/>
        </p:nvSpPr>
        <p:spPr>
          <a:xfrm>
            <a:off x="419735" y="439420"/>
            <a:ext cx="3735705" cy="639445"/>
          </a:xfrm>
          <a:prstGeom prst="flowChartAlternateProcess">
            <a:avLst/>
          </a:prstGeom>
          <a:solidFill>
            <a:schemeClr val="bg2">
              <a:alpha val="30000"/>
            </a:schemeClr>
          </a:solidFill>
          <a:ln w="25400">
            <a:solidFill>
              <a:schemeClr val="bg1"/>
            </a:solidFill>
          </a:ln>
        </p:spPr>
        <p:txBody>
          <a:bodyPr spcFirstLastPara="1" wrap="square" lIns="0" tIns="0" rIns="0" bIns="0" anchor="t" anchorCtr="0">
            <a:noAutofit/>
          </a:bodyPr>
          <a:lstStyle/>
          <a:p>
            <a:pPr marL="0" marR="0" lvl="0" indent="0" algn="ctr" rtl="0">
              <a:lnSpc>
                <a:spcPct val="120000"/>
              </a:lnSpc>
              <a:spcBef>
                <a:spcPts val="0"/>
              </a:spcBef>
              <a:spcAft>
                <a:spcPts val="0"/>
              </a:spcAft>
              <a:buNone/>
            </a:pPr>
            <a:r>
              <a:rPr lang="en-IN" altLang="en-US" sz="2800" b="1"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rPr>
              <a:t>RF Device Types</a:t>
            </a:r>
            <a:endParaRPr lang="en-IN" altLang="en-US" sz="2800" b="1"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11" name="Google Shape;111;p14"/>
          <p:cNvSpPr txBox="1"/>
          <p:nvPr/>
        </p:nvSpPr>
        <p:spPr>
          <a:xfrm>
            <a:off x="225425" y="7402830"/>
            <a:ext cx="8654415" cy="2599055"/>
          </a:xfrm>
          <a:prstGeom prst="flowChartAlternateProcess">
            <a:avLst/>
          </a:prstGeom>
          <a:noFill/>
          <a:ln w="38100">
            <a:solidFill>
              <a:schemeClr val="bg1"/>
            </a:solid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altLang="en-US" sz="1800" b="1" i="0" u="none" strike="noStrike" cap="none">
                <a:solidFill>
                  <a:srgbClr val="FFFFFF"/>
                </a:solidFill>
                <a:latin typeface="Libre Franklin Light"/>
                <a:ea typeface="Libre Franklin Light"/>
                <a:cs typeface="Libre Franklin Light"/>
                <a:sym typeface="Libre Franklin Light"/>
              </a:rPr>
              <a:t>GUI devices provide a user-friendly graphical interface for warehouse operators. They typically include touch screens, physical buttons, and graphical displays, making warehouse transactions faster and easier to execute.</a:t>
            </a:r>
            <a:endParaRPr lang="en-US" altLang="en-US" sz="1800" b="1" i="0" u="none" strike="noStrike" cap="none">
              <a:solidFill>
                <a:srgbClr val="FFFFFF"/>
              </a:solidFill>
              <a:latin typeface="Libre Franklin Light"/>
              <a:ea typeface="Libre Franklin Light"/>
              <a:cs typeface="Libre Franklin Light"/>
              <a:sym typeface="Libre Franklin Light"/>
            </a:endParaRPr>
          </a:p>
          <a:p>
            <a:pPr marL="0" marR="0" lvl="0" indent="0" algn="l" rtl="0">
              <a:lnSpc>
                <a:spcPct val="140000"/>
              </a:lnSpc>
              <a:spcBef>
                <a:spcPts val="0"/>
              </a:spcBef>
              <a:spcAft>
                <a:spcPts val="0"/>
              </a:spcAft>
              <a:buNone/>
            </a:pPr>
            <a:r>
              <a:rPr lang="en-IN" altLang="en-US" sz="1800" b="1" i="0" u="none" strike="noStrike" cap="none">
                <a:solidFill>
                  <a:srgbClr val="FFFFFF"/>
                </a:solidFill>
                <a:latin typeface="Libre Franklin Light"/>
                <a:ea typeface="Libre Franklin Light"/>
                <a:cs typeface="Libre Franklin Light"/>
                <a:sym typeface="Libre Franklin Light"/>
              </a:rPr>
              <a:t>Scren Size for Forklift-  8 lines  40  charcaters each.</a:t>
            </a:r>
            <a:endParaRPr lang="en-IN" altLang="en-US" sz="1800" b="1" i="0" u="none" strike="noStrike" cap="none">
              <a:solidFill>
                <a:srgbClr val="FFFFFF"/>
              </a:solidFill>
              <a:latin typeface="Libre Franklin Light"/>
              <a:ea typeface="Libre Franklin Light"/>
              <a:cs typeface="Libre Franklin Light"/>
              <a:sym typeface="Libre Franklin Light"/>
            </a:endParaRPr>
          </a:p>
          <a:p>
            <a:pPr marL="0" marR="0" lvl="0" indent="0" algn="l" rtl="0">
              <a:lnSpc>
                <a:spcPct val="140000"/>
              </a:lnSpc>
              <a:spcBef>
                <a:spcPts val="0"/>
              </a:spcBef>
              <a:spcAft>
                <a:spcPts val="0"/>
              </a:spcAft>
              <a:buNone/>
            </a:pPr>
            <a:r>
              <a:rPr lang="en-IN" altLang="en-US" sz="1800" b="1" i="0" u="none" strike="noStrike" cap="none">
                <a:solidFill>
                  <a:srgbClr val="FFFFFF"/>
                </a:solidFill>
                <a:latin typeface="Libre Franklin Light"/>
                <a:ea typeface="Libre Franklin Light"/>
                <a:cs typeface="Libre Franklin Light"/>
                <a:sym typeface="Libre Franklin Light"/>
              </a:rPr>
              <a:t>and for handheld device- 16 lines 20 characters each</a:t>
            </a:r>
            <a:endParaRPr lang="en-IN" altLang="en-US" sz="1800" b="1" i="0" u="none" strike="noStrike" cap="none">
              <a:solidFill>
                <a:srgbClr val="FFFFFF"/>
              </a:solidFill>
              <a:latin typeface="Libre Franklin Light"/>
              <a:ea typeface="Libre Franklin Light"/>
              <a:cs typeface="Libre Franklin Light"/>
              <a:sym typeface="Libre Franklin Light"/>
            </a:endParaRPr>
          </a:p>
        </p:txBody>
      </p:sp>
      <p:pic>
        <p:nvPicPr>
          <p:cNvPr id="4" name="Picture 3" descr="WMForgeLogo"/>
          <p:cNvPicPr>
            <a:picLocks noChangeAspect="1"/>
          </p:cNvPicPr>
          <p:nvPr/>
        </p:nvPicPr>
        <p:blipFill>
          <a:blip r:embed="rId1"/>
          <a:stretch>
            <a:fillRect/>
          </a:stretch>
        </p:blipFill>
        <p:spPr>
          <a:xfrm>
            <a:off x="16490950" y="137795"/>
            <a:ext cx="1623695" cy="1623695"/>
          </a:xfrm>
          <a:prstGeom prst="rect">
            <a:avLst/>
          </a:prstGeom>
        </p:spPr>
      </p:pic>
      <p:pic>
        <p:nvPicPr>
          <p:cNvPr id="2" name="Picture 4" descr="IMG_256"/>
          <p:cNvPicPr>
            <a:picLocks noChangeAspect="1"/>
          </p:cNvPicPr>
          <p:nvPr/>
        </p:nvPicPr>
        <p:blipFill>
          <a:blip r:embed="rId2"/>
          <a:stretch>
            <a:fillRect/>
          </a:stretch>
        </p:blipFill>
        <p:spPr>
          <a:xfrm>
            <a:off x="557530" y="2754630"/>
            <a:ext cx="8044815" cy="3890645"/>
          </a:xfrm>
          <a:prstGeom prst="flowChartAlternateProcess">
            <a:avLst/>
          </a:prstGeom>
          <a:noFill/>
          <a:ln w="25400">
            <a:solidFill>
              <a:schemeClr val="bg2"/>
            </a:solidFill>
          </a:ln>
        </p:spPr>
      </p:pic>
      <p:pic>
        <p:nvPicPr>
          <p:cNvPr id="3" name="Picture 5" descr="IMG_256"/>
          <p:cNvPicPr>
            <a:picLocks noChangeAspect="1"/>
          </p:cNvPicPr>
          <p:nvPr/>
        </p:nvPicPr>
        <p:blipFill>
          <a:blip r:embed="rId3"/>
          <a:stretch>
            <a:fillRect/>
          </a:stretch>
        </p:blipFill>
        <p:spPr>
          <a:xfrm>
            <a:off x="10931525" y="2119630"/>
            <a:ext cx="5559425" cy="4765675"/>
          </a:xfrm>
          <a:prstGeom prst="flowChartAlternateProcess">
            <a:avLst/>
          </a:prstGeom>
          <a:noFill/>
          <a:ln w="25400">
            <a:solidFill>
              <a:schemeClr val="accent1"/>
            </a:solidFill>
          </a:ln>
        </p:spPr>
      </p:pic>
      <p:sp>
        <p:nvSpPr>
          <p:cNvPr id="6" name="Google Shape;111;p14"/>
          <p:cNvSpPr txBox="1"/>
          <p:nvPr/>
        </p:nvSpPr>
        <p:spPr>
          <a:xfrm>
            <a:off x="9460230" y="7402830"/>
            <a:ext cx="8654415" cy="2599055"/>
          </a:xfrm>
          <a:prstGeom prst="flowChartAlternateProcess">
            <a:avLst/>
          </a:prstGeom>
          <a:noFill/>
          <a:ln w="38100">
            <a:solidFill>
              <a:schemeClr val="bg1"/>
            </a:solid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altLang="en-US" sz="1800" b="1" i="0" u="none" strike="noStrike" cap="none">
                <a:solidFill>
                  <a:srgbClr val="FFFFFF"/>
                </a:solidFill>
                <a:latin typeface="Libre Franklin Light"/>
                <a:ea typeface="Libre Franklin Light"/>
                <a:cs typeface="Libre Franklin Light"/>
                <a:sym typeface="Libre Franklin Light"/>
              </a:rPr>
              <a:t>Character-based devices use a simple text-based interface to display SAP WM information.</a:t>
            </a:r>
            <a:endParaRPr lang="en-US" altLang="en-US" sz="1800" b="1" i="0" u="none" strike="noStrike" cap="none">
              <a:solidFill>
                <a:srgbClr val="FFFFFF"/>
              </a:solidFill>
              <a:latin typeface="Libre Franklin Light"/>
              <a:ea typeface="Libre Franklin Light"/>
              <a:cs typeface="Libre Franklin Light"/>
              <a:sym typeface="Libre Franklin Light"/>
            </a:endParaRPr>
          </a:p>
          <a:p>
            <a:pPr marL="0" marR="0" lvl="0" indent="0" algn="l" rtl="0">
              <a:lnSpc>
                <a:spcPct val="140000"/>
              </a:lnSpc>
              <a:spcBef>
                <a:spcPts val="0"/>
              </a:spcBef>
              <a:spcAft>
                <a:spcPts val="0"/>
              </a:spcAft>
              <a:buNone/>
            </a:pPr>
            <a:r>
              <a:rPr lang="en-US" altLang="en-US" sz="1800" b="1" i="0" u="none" strike="noStrike" cap="none">
                <a:solidFill>
                  <a:srgbClr val="FFFFFF"/>
                </a:solidFill>
                <a:latin typeface="Libre Franklin Light"/>
                <a:ea typeface="Libre Franklin Light"/>
                <a:cs typeface="Libre Franklin Light"/>
                <a:sym typeface="Libre Franklin Light"/>
              </a:rPr>
              <a:t>They have limited graphics but are reliable and efficient for performing warehouse tasks such as picking, putaway, and stock transfers.</a:t>
            </a:r>
            <a:endParaRPr lang="en-US" altLang="en-US" sz="1800" b="1" i="0" u="none" strike="noStrike" cap="none">
              <a:solidFill>
                <a:srgbClr val="FFFFFF"/>
              </a:solidFill>
              <a:latin typeface="Libre Franklin Light"/>
              <a:ea typeface="Libre Franklin Light"/>
              <a:cs typeface="Libre Franklin Light"/>
              <a:sym typeface="Libre Franklin Light"/>
            </a:endParaRPr>
          </a:p>
          <a:p>
            <a:pPr marL="0" marR="0" lvl="0" indent="0" algn="l" rtl="0">
              <a:lnSpc>
                <a:spcPct val="140000"/>
              </a:lnSpc>
              <a:spcBef>
                <a:spcPts val="0"/>
              </a:spcBef>
              <a:spcAft>
                <a:spcPts val="0"/>
              </a:spcAft>
              <a:buNone/>
            </a:pPr>
            <a:r>
              <a:rPr lang="en-IN" altLang="en-US" sz="1800" b="1">
                <a:solidFill>
                  <a:srgbClr val="FFFFFF"/>
                </a:solidFill>
                <a:latin typeface="Libre Franklin Light"/>
                <a:ea typeface="Libre Franklin Light"/>
                <a:cs typeface="Libre Franklin Light"/>
                <a:sym typeface="Libre Franklin Light"/>
              </a:rPr>
              <a:t>Scren Size for Forklift-  8 lines  40  charcaters each.</a:t>
            </a:r>
            <a:endParaRPr lang="en-IN" altLang="en-US" sz="1800" b="1" i="0" u="none" strike="noStrike" cap="none">
              <a:solidFill>
                <a:srgbClr val="FFFFFF"/>
              </a:solidFill>
              <a:latin typeface="Libre Franklin Light"/>
              <a:ea typeface="Libre Franklin Light"/>
              <a:cs typeface="Libre Franklin Light"/>
              <a:sym typeface="Libre Franklin Light"/>
            </a:endParaRPr>
          </a:p>
          <a:p>
            <a:pPr marL="0" marR="0" lvl="0" indent="0" algn="l" rtl="0">
              <a:lnSpc>
                <a:spcPct val="140000"/>
              </a:lnSpc>
              <a:spcBef>
                <a:spcPts val="0"/>
              </a:spcBef>
              <a:spcAft>
                <a:spcPts val="0"/>
              </a:spcAft>
              <a:buNone/>
            </a:pPr>
            <a:r>
              <a:rPr lang="en-IN" altLang="en-US" sz="1800" b="1">
                <a:solidFill>
                  <a:srgbClr val="FFFFFF"/>
                </a:solidFill>
                <a:latin typeface="Libre Franklin Light"/>
                <a:ea typeface="Libre Franklin Light"/>
                <a:cs typeface="Libre Franklin Light"/>
                <a:sym typeface="Libre Franklin Light"/>
              </a:rPr>
              <a:t>and for handheld device- 16 lines 20 characters each</a:t>
            </a:r>
            <a:endParaRPr lang="en-IN" altLang="en-US" sz="1800" b="1" i="0" u="none" strike="noStrike" cap="none">
              <a:solidFill>
                <a:srgbClr val="FFFFFF"/>
              </a:solidFill>
              <a:latin typeface="Libre Franklin Light"/>
              <a:ea typeface="Libre Franklin Light"/>
              <a:cs typeface="Libre Franklin Light"/>
              <a:sym typeface="Libre Franklin Light"/>
            </a:endParaRPr>
          </a:p>
          <a:p>
            <a:pPr marL="0" marR="0" lvl="0" indent="0" algn="l" rtl="0">
              <a:lnSpc>
                <a:spcPct val="140000"/>
              </a:lnSpc>
              <a:spcBef>
                <a:spcPts val="0"/>
              </a:spcBef>
              <a:spcAft>
                <a:spcPts val="0"/>
              </a:spcAft>
              <a:buNone/>
            </a:pPr>
            <a:endParaRPr lang="en-US" altLang="en-US" sz="1800" b="1" i="0" u="none" strike="noStrike" cap="none">
              <a:solidFill>
                <a:srgbClr val="FFFFFF"/>
              </a:solidFill>
              <a:latin typeface="Libre Franklin Light"/>
              <a:ea typeface="Libre Franklin Light"/>
              <a:cs typeface="Libre Franklin Light"/>
              <a:sym typeface="Libre Franklin Light"/>
            </a:endParaRPr>
          </a:p>
        </p:txBody>
      </p:sp>
      <p:sp>
        <p:nvSpPr>
          <p:cNvPr id="7" name="Text Box 6"/>
          <p:cNvSpPr txBox="1"/>
          <p:nvPr/>
        </p:nvSpPr>
        <p:spPr>
          <a:xfrm>
            <a:off x="419735" y="1424305"/>
            <a:ext cx="5559425" cy="663575"/>
          </a:xfrm>
          <a:prstGeom prst="flowChartAlternateProcess">
            <a:avLst/>
          </a:prstGeom>
          <a:solidFill>
            <a:schemeClr val="bg2">
              <a:alpha val="30000"/>
            </a:schemeClr>
          </a:solidFill>
          <a:ln w="25400">
            <a:solidFill>
              <a:schemeClr val="bg1"/>
            </a:solidFill>
          </a:ln>
        </p:spPr>
        <p:txBody>
          <a:bodyPr>
            <a:noAutofit/>
          </a:bodyPr>
          <a:p>
            <a:pPr algn="ctr" defTabSz="266700">
              <a:lnSpc>
                <a:spcPct val="120000"/>
              </a:lnSpc>
            </a:pPr>
            <a:r>
              <a:rPr lang="en-US" altLang="zh-CN" sz="2400" b="1">
                <a:solidFill>
                  <a:schemeClr val="bg1"/>
                </a:solidFill>
                <a:latin typeface="Times New Roman" panose="02020603050405020304"/>
                <a:ea typeface="SimSun" panose="02010600030101010101" pitchFamily="2" charset="-122"/>
              </a:rPr>
              <a:t>GUI Devices- Modern handheld devices</a:t>
            </a:r>
            <a:endParaRPr lang="en-US" altLang="zh-CN" sz="2400" b="1">
              <a:solidFill>
                <a:schemeClr val="bg1"/>
              </a:solidFill>
              <a:latin typeface="Times New Roman" panose="02020603050405020304"/>
              <a:ea typeface="SimSun" panose="02010600030101010101" pitchFamily="2" charset="-122"/>
            </a:endParaRPr>
          </a:p>
        </p:txBody>
      </p:sp>
      <p:sp>
        <p:nvSpPr>
          <p:cNvPr id="8" name="Text Box 7"/>
          <p:cNvSpPr txBox="1"/>
          <p:nvPr/>
        </p:nvSpPr>
        <p:spPr>
          <a:xfrm>
            <a:off x="11843385" y="1042670"/>
            <a:ext cx="3735705" cy="559435"/>
          </a:xfrm>
          <a:prstGeom prst="flowChartAlternateProcess">
            <a:avLst/>
          </a:prstGeom>
          <a:solidFill>
            <a:schemeClr val="accent5">
              <a:alpha val="30000"/>
            </a:schemeClr>
          </a:solidFill>
          <a:ln w="25400">
            <a:solidFill>
              <a:schemeClr val="bg1"/>
            </a:solidFill>
          </a:ln>
        </p:spPr>
        <p:txBody>
          <a:bodyPr>
            <a:noAutofit/>
          </a:bodyPr>
          <a:p>
            <a:pPr algn="ctr" defTabSz="266700">
              <a:lnSpc>
                <a:spcPct val="110000"/>
              </a:lnSpc>
            </a:pPr>
            <a:r>
              <a:rPr lang="en-US" altLang="en-US" sz="2400" b="1">
                <a:solidFill>
                  <a:schemeClr val="bg1"/>
                </a:solidFill>
                <a:latin typeface="Times New Roman" panose="02020603050405020304"/>
                <a:ea typeface="SimSun" panose="02010600030101010101" pitchFamily="2" charset="-122"/>
              </a:rPr>
              <a:t>Character-Based Devices</a:t>
            </a:r>
            <a:endParaRPr lang="en-US" altLang="en-US" sz="2400" b="1">
              <a:solidFill>
                <a:schemeClr val="bg1"/>
              </a:solidFill>
              <a:latin typeface="Times New Roman" panose="02020603050405020304"/>
              <a:ea typeface="SimSun"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994E5"/>
        </a:solidFill>
        <a:effectLst/>
      </p:bgPr>
    </p:bg>
    <p:spTree>
      <p:nvGrpSpPr>
        <p:cNvPr id="94" name="Shape 94"/>
        <p:cNvGrpSpPr/>
        <p:nvPr/>
      </p:nvGrpSpPr>
      <p:grpSpPr>
        <a:xfrm>
          <a:off x="0" y="0"/>
          <a:ext cx="0" cy="0"/>
          <a:chOff x="0" y="0"/>
          <a:chExt cx="0" cy="0"/>
        </a:xfrm>
      </p:grpSpPr>
      <p:grpSp>
        <p:nvGrpSpPr>
          <p:cNvPr id="96" name="Google Shape;96;p14"/>
          <p:cNvGrpSpPr/>
          <p:nvPr/>
        </p:nvGrpSpPr>
        <p:grpSpPr>
          <a:xfrm>
            <a:off x="10225744" y="-180826"/>
            <a:ext cx="8062256" cy="10467826"/>
            <a:chOff x="0" y="-47625"/>
            <a:chExt cx="2123392" cy="2756958"/>
          </a:xfrm>
        </p:grpSpPr>
        <p:sp>
          <p:nvSpPr>
            <p:cNvPr id="97" name="Google Shape;97;p14"/>
            <p:cNvSpPr/>
            <p:nvPr/>
          </p:nvSpPr>
          <p:spPr>
            <a:xfrm>
              <a:off x="0" y="0"/>
              <a:ext cx="2123392" cy="2709333"/>
            </a:xfrm>
            <a:custGeom>
              <a:avLst/>
              <a:gdLst/>
              <a:ahLst/>
              <a:cxnLst/>
              <a:rect l="l" t="t" r="r" b="b"/>
              <a:pathLst>
                <a:path w="2123392" h="2709333" extrusionOk="0">
                  <a:moveTo>
                    <a:pt x="0" y="0"/>
                  </a:moveTo>
                  <a:lnTo>
                    <a:pt x="2123392" y="0"/>
                  </a:lnTo>
                  <a:lnTo>
                    <a:pt x="2123392" y="2709333"/>
                  </a:lnTo>
                  <a:lnTo>
                    <a:pt x="0" y="2709333"/>
                  </a:lnTo>
                  <a:close/>
                </a:path>
              </a:pathLst>
            </a:custGeom>
            <a:solidFill>
              <a:srgbClr val="014E97"/>
            </a:solidFill>
            <a:ln>
              <a:noFill/>
            </a:ln>
          </p:spPr>
        </p:sp>
        <p:sp>
          <p:nvSpPr>
            <p:cNvPr id="98" name="Google Shape;98;p14"/>
            <p:cNvSpPr txBox="1"/>
            <p:nvPr/>
          </p:nvSpPr>
          <p:spPr>
            <a:xfrm>
              <a:off x="0" y="-47625"/>
              <a:ext cx="812800" cy="860425"/>
            </a:xfrm>
            <a:prstGeom prst="rect">
              <a:avLst/>
            </a:prstGeom>
            <a:noFill/>
            <a:ln>
              <a:noFill/>
            </a:ln>
          </p:spPr>
          <p:txBody>
            <a:bodyPr spcFirstLastPara="1" wrap="square" lIns="50800" tIns="50800" rIns="50800" bIns="50800" anchor="ctr" anchorCtr="0">
              <a:noAutofit/>
            </a:bodyPr>
            <a:lstStyle/>
            <a:p>
              <a:pPr marL="0" marR="0" lvl="0" indent="0" algn="ctr" rtl="0">
                <a:lnSpc>
                  <a:spcPct val="187000"/>
                </a:lnSpc>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08" name="Google Shape;108;p14"/>
          <p:cNvSpPr txBox="1"/>
          <p:nvPr/>
        </p:nvSpPr>
        <p:spPr>
          <a:xfrm>
            <a:off x="10734040" y="808990"/>
            <a:ext cx="5289550" cy="1623695"/>
          </a:xfrm>
          <a:prstGeom prst="flowChartAlternateProcess">
            <a:avLst/>
          </a:prstGeom>
          <a:noFill/>
          <a:ln w="38100">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IN" altLang="en-US" sz="2000" b="1" i="0" u="none" strike="noStrike" cap="none">
                <a:solidFill>
                  <a:srgbClr val="FFFFFF"/>
                </a:solidFill>
                <a:latin typeface="Libre Franklin Light"/>
                <a:ea typeface="Libre Franklin Light"/>
                <a:cs typeface="Libre Franklin Light"/>
                <a:sym typeface="Libre Franklin Light"/>
              </a:rPr>
              <a:t>SPRO </a:t>
            </a:r>
            <a:r>
              <a:rPr lang="en-US" altLang="en-US" sz="2000" b="1">
                <a:solidFill>
                  <a:srgbClr val="FFFFFF"/>
                </a:solidFill>
                <a:latin typeface="Libre Franklin Light"/>
                <a:ea typeface="Libre Franklin Light"/>
                <a:cs typeface="Libre Franklin Light"/>
                <a:sym typeface="Libre Franklin Light"/>
              </a:rPr>
              <a:t>→</a:t>
            </a:r>
            <a:r>
              <a:rPr lang="en-IN" altLang="en-US" sz="2000" b="1">
                <a:solidFill>
                  <a:srgbClr val="FFFFFF"/>
                </a:solidFill>
                <a:latin typeface="Libre Franklin Light"/>
                <a:ea typeface="Libre Franklin Light"/>
                <a:cs typeface="Libre Franklin Light"/>
                <a:sym typeface="Libre Franklin Light"/>
              </a:rPr>
              <a:t> </a:t>
            </a:r>
            <a:r>
              <a:rPr lang="en-IN" altLang="en-US" sz="2000" b="1" i="0" u="none" strike="noStrike" cap="none">
                <a:solidFill>
                  <a:srgbClr val="FFFFFF"/>
                </a:solidFill>
                <a:latin typeface="Libre Franklin Light"/>
                <a:ea typeface="Libre Franklin Light"/>
                <a:cs typeface="Libre Franklin Light"/>
                <a:sym typeface="Libre Franklin Light"/>
              </a:rPr>
              <a:t>I</a:t>
            </a:r>
            <a:r>
              <a:rPr lang="en-US" altLang="en-US" sz="2000" b="1" i="0" u="none" strike="noStrike" cap="none">
                <a:solidFill>
                  <a:srgbClr val="FFFFFF"/>
                </a:solidFill>
                <a:latin typeface="Libre Franklin Light"/>
                <a:ea typeface="Libre Franklin Light"/>
                <a:cs typeface="Libre Franklin Light"/>
                <a:sym typeface="Libre Franklin Light"/>
              </a:rPr>
              <a:t>MG → Logistics Execution → Mobile Data Entry → Verification Control → Define Profiles</a:t>
            </a:r>
            <a:endParaRPr lang="en-US" altLang="en-US" sz="2000" b="1" i="0" u="none" strike="noStrike" cap="none">
              <a:solidFill>
                <a:srgbClr val="FFFFFF"/>
              </a:solidFill>
              <a:latin typeface="Libre Franklin Light"/>
              <a:ea typeface="Libre Franklin Light"/>
              <a:cs typeface="Libre Franklin Light"/>
              <a:sym typeface="Libre Franklin Light"/>
            </a:endParaRPr>
          </a:p>
        </p:txBody>
      </p:sp>
      <p:sp>
        <p:nvSpPr>
          <p:cNvPr id="109" name="Google Shape;109;p14"/>
          <p:cNvSpPr txBox="1"/>
          <p:nvPr/>
        </p:nvSpPr>
        <p:spPr>
          <a:xfrm>
            <a:off x="584200" y="1121410"/>
            <a:ext cx="5608320" cy="640080"/>
          </a:xfrm>
          <a:prstGeom prst="flowChartAlternateProcess">
            <a:avLst/>
          </a:prstGeom>
          <a:solidFill>
            <a:schemeClr val="bg2">
              <a:alpha val="30000"/>
            </a:schemeClr>
          </a:solidFill>
          <a:ln w="25400">
            <a:solidFill>
              <a:schemeClr val="bg1"/>
            </a:solidFill>
          </a:ln>
        </p:spPr>
        <p:txBody>
          <a:bodyPr spcFirstLastPara="1" wrap="square" lIns="0" tIns="0" rIns="0" bIns="0" anchor="t" anchorCtr="0">
            <a:noAutofit/>
          </a:bodyPr>
          <a:lstStyle/>
          <a:p>
            <a:pPr marL="0" marR="0" lvl="0" indent="0" algn="ctr" rtl="0">
              <a:lnSpc>
                <a:spcPct val="120000"/>
              </a:lnSpc>
              <a:spcBef>
                <a:spcPts val="0"/>
              </a:spcBef>
              <a:spcAft>
                <a:spcPts val="0"/>
              </a:spcAft>
              <a:buNone/>
            </a:pPr>
            <a:r>
              <a:rPr lang="en-IN" altLang="en-US" sz="2800" b="1"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rPr>
              <a:t>Define Verification Profile</a:t>
            </a:r>
            <a:endParaRPr lang="en-IN" altLang="en-US" sz="2800" b="1"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11" name="Google Shape;111;p14"/>
          <p:cNvSpPr txBox="1"/>
          <p:nvPr/>
        </p:nvSpPr>
        <p:spPr>
          <a:xfrm>
            <a:off x="10734675" y="3854450"/>
            <a:ext cx="7097395" cy="6216650"/>
          </a:xfrm>
          <a:prstGeom prst="flowChartAlternateProcess">
            <a:avLst/>
          </a:prstGeom>
          <a:noFill/>
          <a:ln w="38100">
            <a:solidFill>
              <a:schemeClr val="bg1"/>
            </a:solid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altLang="en-US" sz="1800" b="1">
                <a:solidFill>
                  <a:srgbClr val="FFFFFF"/>
                </a:solidFill>
                <a:latin typeface="Libre Franklin Light"/>
                <a:ea typeface="Libre Franklin Light"/>
                <a:cs typeface="Libre Franklin Light"/>
                <a:sym typeface="Libre Franklin Light"/>
              </a:rPr>
              <a:t>A Verification Profile defines which fields the warehouse operator needs to verify during RF transactions.</a:t>
            </a:r>
            <a:endParaRPr lang="en-US" altLang="en-US" sz="1800" b="1" i="0" u="none" strike="noStrike" cap="none">
              <a:solidFill>
                <a:srgbClr val="FFFFFF"/>
              </a:solidFill>
              <a:latin typeface="Libre Franklin Light"/>
              <a:ea typeface="Libre Franklin Light"/>
              <a:cs typeface="Libre Franklin Light"/>
              <a:sym typeface="Libre Franklin Light"/>
            </a:endParaRPr>
          </a:p>
          <a:p>
            <a:pPr marL="0" marR="0" lvl="0" indent="0" algn="l" rtl="0">
              <a:lnSpc>
                <a:spcPct val="140000"/>
              </a:lnSpc>
              <a:spcBef>
                <a:spcPts val="0"/>
              </a:spcBef>
              <a:spcAft>
                <a:spcPts val="0"/>
              </a:spcAft>
              <a:buNone/>
            </a:pPr>
            <a:endParaRPr lang="en-US" altLang="en-US" sz="1800" b="1" i="0" u="none" strike="noStrike" cap="none">
              <a:solidFill>
                <a:srgbClr val="FFFFFF"/>
              </a:solidFill>
              <a:latin typeface="Libre Franklin Light"/>
              <a:ea typeface="Libre Franklin Light"/>
              <a:cs typeface="Libre Franklin Light"/>
              <a:sym typeface="Libre Franklin Light"/>
            </a:endParaRPr>
          </a:p>
          <a:p>
            <a:pPr marL="0" marR="0" lvl="0" indent="0" algn="l" rtl="0">
              <a:lnSpc>
                <a:spcPct val="140000"/>
              </a:lnSpc>
              <a:spcBef>
                <a:spcPts val="0"/>
              </a:spcBef>
              <a:spcAft>
                <a:spcPts val="0"/>
              </a:spcAft>
              <a:buNone/>
            </a:pPr>
            <a:r>
              <a:rPr lang="en-US" altLang="en-US" sz="1800" b="1" i="0" u="none" strike="noStrike" cap="none">
                <a:solidFill>
                  <a:srgbClr val="FFFFFF"/>
                </a:solidFill>
                <a:latin typeface="Libre Franklin Light"/>
                <a:ea typeface="Libre Franklin Light"/>
                <a:cs typeface="Libre Franklin Light"/>
                <a:sym typeface="Libre Franklin Light"/>
              </a:rPr>
              <a:t>For example, the system can require verification of fields such as:</a:t>
            </a:r>
            <a:endParaRPr lang="en-US" altLang="en-US" sz="1800" b="1" i="0" u="none" strike="noStrike" cap="none">
              <a:solidFill>
                <a:srgbClr val="FFFFFF"/>
              </a:solidFill>
              <a:latin typeface="Libre Franklin Light"/>
              <a:ea typeface="Libre Franklin Light"/>
              <a:cs typeface="Libre Franklin Light"/>
              <a:sym typeface="Libre Franklin Light"/>
            </a:endParaRPr>
          </a:p>
          <a:p>
            <a:pPr marL="0" marR="0" lvl="0" indent="0" algn="l" rtl="0">
              <a:lnSpc>
                <a:spcPct val="140000"/>
              </a:lnSpc>
              <a:spcBef>
                <a:spcPts val="0"/>
              </a:spcBef>
              <a:spcAft>
                <a:spcPts val="0"/>
              </a:spcAft>
              <a:buClr>
                <a:srgbClr val="FFFFFF"/>
              </a:buClr>
            </a:pPr>
            <a:r>
              <a:rPr lang="en-IN" altLang="en-US" sz="1800" b="1" i="0" u="none" strike="noStrike" cap="none">
                <a:solidFill>
                  <a:srgbClr val="FFFFFF"/>
                </a:solidFill>
                <a:latin typeface="Libre Franklin Light"/>
                <a:ea typeface="Libre Franklin Light"/>
                <a:cs typeface="Libre Franklin Light"/>
                <a:sym typeface="Libre Franklin Light"/>
              </a:rPr>
              <a:t> </a:t>
            </a:r>
            <a:r>
              <a:rPr lang="en-US" altLang="en-US" sz="1800" b="1" i="0" u="none" strike="noStrike" cap="none">
                <a:solidFill>
                  <a:srgbClr val="FFFFFF"/>
                </a:solidFill>
                <a:latin typeface="Libre Franklin Light"/>
                <a:ea typeface="Libre Franklin Light"/>
                <a:cs typeface="Libre Franklin Light"/>
                <a:sym typeface="Libre Franklin Light"/>
              </a:rPr>
              <a:t>Source storage bin</a:t>
            </a:r>
            <a:endParaRPr lang="en-US" altLang="en-US" sz="1800" b="1" i="0" u="none" strike="noStrike" cap="none">
              <a:solidFill>
                <a:srgbClr val="FFFFFF"/>
              </a:solidFill>
              <a:latin typeface="Libre Franklin Light"/>
              <a:ea typeface="Libre Franklin Light"/>
              <a:cs typeface="Libre Franklin Light"/>
              <a:sym typeface="Libre Franklin Light"/>
            </a:endParaRPr>
          </a:p>
          <a:p>
            <a:pPr marL="0" marR="0" lvl="0" indent="0" algn="l" rtl="0">
              <a:lnSpc>
                <a:spcPct val="140000"/>
              </a:lnSpc>
              <a:spcBef>
                <a:spcPts val="0"/>
              </a:spcBef>
              <a:spcAft>
                <a:spcPts val="0"/>
              </a:spcAft>
              <a:buClr>
                <a:srgbClr val="FFFFFF"/>
              </a:buClr>
            </a:pPr>
            <a:r>
              <a:rPr lang="en-IN" altLang="en-US" sz="1800" b="1" i="0" u="none" strike="noStrike" cap="none">
                <a:solidFill>
                  <a:srgbClr val="FFFFFF"/>
                </a:solidFill>
                <a:latin typeface="Libre Franklin Light"/>
                <a:ea typeface="Libre Franklin Light"/>
                <a:cs typeface="Libre Franklin Light"/>
                <a:sym typeface="Libre Franklin Light"/>
              </a:rPr>
              <a:t> </a:t>
            </a:r>
            <a:r>
              <a:rPr lang="en-US" altLang="en-US" sz="1800" b="1" i="0" u="none" strike="noStrike" cap="none">
                <a:solidFill>
                  <a:srgbClr val="FFFFFF"/>
                </a:solidFill>
                <a:latin typeface="Libre Franklin Light"/>
                <a:ea typeface="Libre Franklin Light"/>
                <a:cs typeface="Libre Franklin Light"/>
                <a:sym typeface="Libre Franklin Light"/>
              </a:rPr>
              <a:t>Destination storage bin</a:t>
            </a:r>
            <a:endParaRPr lang="en-US" altLang="en-US" sz="1800" b="1" i="0" u="none" strike="noStrike" cap="none">
              <a:solidFill>
                <a:srgbClr val="FFFFFF"/>
              </a:solidFill>
              <a:latin typeface="Libre Franklin Light"/>
              <a:ea typeface="Libre Franklin Light"/>
              <a:cs typeface="Libre Franklin Light"/>
              <a:sym typeface="Libre Franklin Light"/>
            </a:endParaRPr>
          </a:p>
          <a:p>
            <a:pPr marL="0" marR="0" lvl="0" indent="0" algn="l" rtl="0">
              <a:lnSpc>
                <a:spcPct val="140000"/>
              </a:lnSpc>
              <a:spcBef>
                <a:spcPts val="0"/>
              </a:spcBef>
              <a:spcAft>
                <a:spcPts val="0"/>
              </a:spcAft>
              <a:buClr>
                <a:srgbClr val="FFFFFF"/>
              </a:buClr>
            </a:pPr>
            <a:r>
              <a:rPr lang="en-IN" altLang="en-US" sz="1800" b="1" i="0" u="none" strike="noStrike" cap="none">
                <a:solidFill>
                  <a:srgbClr val="FFFFFF"/>
                </a:solidFill>
                <a:latin typeface="Libre Franklin Light"/>
                <a:ea typeface="Libre Franklin Light"/>
                <a:cs typeface="Libre Franklin Light"/>
                <a:sym typeface="Libre Franklin Light"/>
              </a:rPr>
              <a:t> </a:t>
            </a:r>
            <a:r>
              <a:rPr lang="en-US" altLang="en-US" sz="1800" b="1" i="0" u="none" strike="noStrike" cap="none">
                <a:solidFill>
                  <a:srgbClr val="FFFFFF"/>
                </a:solidFill>
                <a:latin typeface="Libre Franklin Light"/>
                <a:ea typeface="Libre Franklin Light"/>
                <a:cs typeface="Libre Franklin Light"/>
                <a:sym typeface="Libre Franklin Light"/>
              </a:rPr>
              <a:t>Storage unit identification at the source storage bin</a:t>
            </a:r>
            <a:endParaRPr lang="en-US" altLang="en-US" sz="1800" b="1" i="0" u="none" strike="noStrike" cap="none">
              <a:solidFill>
                <a:srgbClr val="FFFFFF"/>
              </a:solidFill>
              <a:latin typeface="Libre Franklin Light"/>
              <a:ea typeface="Libre Franklin Light"/>
              <a:cs typeface="Libre Franklin Light"/>
              <a:sym typeface="Libre Franklin Light"/>
            </a:endParaRPr>
          </a:p>
          <a:p>
            <a:pPr marL="0" marR="0" lvl="0" indent="0" algn="l" rtl="0">
              <a:lnSpc>
                <a:spcPct val="140000"/>
              </a:lnSpc>
              <a:spcBef>
                <a:spcPts val="0"/>
              </a:spcBef>
              <a:spcAft>
                <a:spcPts val="0"/>
              </a:spcAft>
              <a:buClr>
                <a:srgbClr val="FFFFFF"/>
              </a:buClr>
            </a:pPr>
            <a:r>
              <a:rPr lang="en-IN" altLang="en-US" sz="1800" b="1" i="0" u="none" strike="noStrike" cap="none">
                <a:solidFill>
                  <a:srgbClr val="FFFFFF"/>
                </a:solidFill>
                <a:latin typeface="Libre Franklin Light"/>
                <a:ea typeface="Libre Franklin Light"/>
                <a:cs typeface="Libre Franklin Light"/>
                <a:sym typeface="Libre Franklin Light"/>
              </a:rPr>
              <a:t> </a:t>
            </a:r>
            <a:r>
              <a:rPr lang="en-US" altLang="en-US" sz="1800" b="1" i="0" u="none" strike="noStrike" cap="none">
                <a:solidFill>
                  <a:srgbClr val="FFFFFF"/>
                </a:solidFill>
                <a:latin typeface="Libre Franklin Light"/>
                <a:ea typeface="Libre Franklin Light"/>
                <a:cs typeface="Libre Franklin Light"/>
                <a:sym typeface="Libre Franklin Light"/>
              </a:rPr>
              <a:t>Storage unit identification at the destination storage bin</a:t>
            </a:r>
            <a:endParaRPr lang="en-US" altLang="en-US" sz="1800" b="1" i="0" u="none" strike="noStrike" cap="none">
              <a:solidFill>
                <a:srgbClr val="FFFFFF"/>
              </a:solidFill>
              <a:latin typeface="Libre Franklin Light"/>
              <a:ea typeface="Libre Franklin Light"/>
              <a:cs typeface="Libre Franklin Light"/>
              <a:sym typeface="Libre Franklin Light"/>
            </a:endParaRPr>
          </a:p>
          <a:p>
            <a:pPr marL="0" marR="0" lvl="0" indent="0" algn="l" rtl="0">
              <a:lnSpc>
                <a:spcPct val="140000"/>
              </a:lnSpc>
              <a:spcBef>
                <a:spcPts val="0"/>
              </a:spcBef>
              <a:spcAft>
                <a:spcPts val="0"/>
              </a:spcAft>
              <a:buClr>
                <a:srgbClr val="FFFFFF"/>
              </a:buClr>
            </a:pPr>
            <a:r>
              <a:rPr lang="en-IN" altLang="en-US" sz="1800" b="1" i="0" u="none" strike="noStrike" cap="none">
                <a:solidFill>
                  <a:srgbClr val="FFFFFF"/>
                </a:solidFill>
                <a:latin typeface="Libre Franklin Light"/>
                <a:ea typeface="Libre Franklin Light"/>
                <a:cs typeface="Libre Franklin Light"/>
                <a:sym typeface="Libre Franklin Light"/>
              </a:rPr>
              <a:t> </a:t>
            </a:r>
            <a:r>
              <a:rPr lang="en-US" altLang="en-US" sz="1800" b="1" i="0" u="none" strike="noStrike" cap="none">
                <a:solidFill>
                  <a:srgbClr val="FFFFFF"/>
                </a:solidFill>
                <a:latin typeface="Libre Franklin Light"/>
                <a:ea typeface="Libre Franklin Light"/>
                <a:cs typeface="Libre Franklin Light"/>
                <a:sym typeface="Libre Franklin Light"/>
              </a:rPr>
              <a:t>Quantity of the material to be picked at the source </a:t>
            </a:r>
            <a:r>
              <a:rPr lang="en-IN" altLang="en-US" sz="1800" b="1" i="0" u="none" strike="noStrike" cap="none">
                <a:solidFill>
                  <a:srgbClr val="FFFFFF"/>
                </a:solidFill>
                <a:latin typeface="Libre Franklin Light"/>
                <a:ea typeface="Libre Franklin Light"/>
                <a:cs typeface="Libre Franklin Light"/>
                <a:sym typeface="Libre Franklin Light"/>
              </a:rPr>
              <a:t>         </a:t>
            </a:r>
            <a:r>
              <a:rPr lang="en-US" altLang="en-US" sz="1800" b="1" i="0" u="none" strike="noStrike" cap="none">
                <a:solidFill>
                  <a:srgbClr val="FFFFFF"/>
                </a:solidFill>
                <a:latin typeface="Libre Franklin Light"/>
                <a:ea typeface="Libre Franklin Light"/>
                <a:cs typeface="Libre Franklin Light"/>
                <a:sym typeface="Libre Franklin Light"/>
              </a:rPr>
              <a:t>storage bin</a:t>
            </a:r>
            <a:endParaRPr lang="en-US" altLang="en-US" sz="1800" b="1" i="0" u="none" strike="noStrike" cap="none">
              <a:solidFill>
                <a:srgbClr val="FFFFFF"/>
              </a:solidFill>
              <a:latin typeface="Libre Franklin Light"/>
              <a:ea typeface="Libre Franklin Light"/>
              <a:cs typeface="Libre Franklin Light"/>
              <a:sym typeface="Libre Franklin Light"/>
            </a:endParaRPr>
          </a:p>
          <a:p>
            <a:pPr marL="0" marR="0" lvl="0" indent="0" algn="l" rtl="0">
              <a:lnSpc>
                <a:spcPct val="140000"/>
              </a:lnSpc>
              <a:spcBef>
                <a:spcPts val="0"/>
              </a:spcBef>
              <a:spcAft>
                <a:spcPts val="0"/>
              </a:spcAft>
              <a:buClr>
                <a:srgbClr val="FFFFFF"/>
              </a:buClr>
            </a:pPr>
            <a:r>
              <a:rPr lang="en-IN" altLang="en-US" sz="1800" b="1" i="0" u="none" strike="noStrike" cap="none">
                <a:solidFill>
                  <a:srgbClr val="FFFFFF"/>
                </a:solidFill>
                <a:latin typeface="Libre Franklin Light"/>
                <a:ea typeface="Libre Franklin Light"/>
                <a:cs typeface="Libre Franklin Light"/>
                <a:sym typeface="Libre Franklin Light"/>
              </a:rPr>
              <a:t> </a:t>
            </a:r>
            <a:r>
              <a:rPr lang="en-US" altLang="en-US" sz="1800" b="1" i="0" u="none" strike="noStrike" cap="none">
                <a:solidFill>
                  <a:srgbClr val="FFFFFF"/>
                </a:solidFill>
                <a:latin typeface="Libre Franklin Light"/>
                <a:ea typeface="Libre Franklin Light"/>
                <a:cs typeface="Libre Franklin Light"/>
                <a:sym typeface="Libre Franklin Light"/>
              </a:rPr>
              <a:t>Quantity of the material to be put away at the destination storage bin</a:t>
            </a:r>
            <a:endParaRPr lang="en-US" altLang="en-US" sz="1800" b="1" i="0" u="none" strike="noStrike" cap="none">
              <a:solidFill>
                <a:srgbClr val="FFFFFF"/>
              </a:solidFill>
              <a:latin typeface="Libre Franklin Light"/>
              <a:ea typeface="Libre Franklin Light"/>
              <a:cs typeface="Libre Franklin Light"/>
              <a:sym typeface="Libre Franklin Light"/>
            </a:endParaRPr>
          </a:p>
          <a:p>
            <a:pPr marL="0" marR="0" lvl="0" indent="0" algn="l" rtl="0">
              <a:lnSpc>
                <a:spcPct val="140000"/>
              </a:lnSpc>
              <a:spcBef>
                <a:spcPts val="0"/>
              </a:spcBef>
              <a:spcAft>
                <a:spcPts val="0"/>
              </a:spcAft>
              <a:buClr>
                <a:srgbClr val="FFFFFF"/>
              </a:buClr>
            </a:pPr>
            <a:r>
              <a:rPr lang="en-IN" altLang="en-US" sz="1800" b="1" i="0" u="none" strike="noStrike" cap="none">
                <a:solidFill>
                  <a:srgbClr val="FFFFFF"/>
                </a:solidFill>
                <a:latin typeface="Libre Franklin Light"/>
                <a:ea typeface="Libre Franklin Light"/>
                <a:cs typeface="Libre Franklin Light"/>
                <a:sym typeface="Libre Franklin Light"/>
              </a:rPr>
              <a:t> </a:t>
            </a:r>
            <a:r>
              <a:rPr lang="en-US" altLang="en-US" sz="1800" b="1" i="0" u="none" strike="noStrike" cap="none">
                <a:solidFill>
                  <a:srgbClr val="FFFFFF"/>
                </a:solidFill>
                <a:latin typeface="Libre Franklin Light"/>
                <a:ea typeface="Libre Franklin Light"/>
                <a:cs typeface="Libre Franklin Light"/>
                <a:sym typeface="Libre Franklin Light"/>
              </a:rPr>
              <a:t>Material identification at the source storage bin</a:t>
            </a:r>
            <a:endParaRPr lang="en-US" altLang="en-US" sz="1800" b="1" i="0" u="none" strike="noStrike" cap="none">
              <a:solidFill>
                <a:srgbClr val="FFFFFF"/>
              </a:solidFill>
              <a:latin typeface="Libre Franklin Light"/>
              <a:ea typeface="Libre Franklin Light"/>
              <a:cs typeface="Libre Franklin Light"/>
              <a:sym typeface="Libre Franklin Light"/>
            </a:endParaRPr>
          </a:p>
          <a:p>
            <a:pPr marL="0" marR="0" lvl="0" indent="0" algn="l" rtl="0">
              <a:lnSpc>
                <a:spcPct val="140000"/>
              </a:lnSpc>
              <a:spcBef>
                <a:spcPts val="0"/>
              </a:spcBef>
              <a:spcAft>
                <a:spcPts val="0"/>
              </a:spcAft>
              <a:buClr>
                <a:srgbClr val="FFFFFF"/>
              </a:buClr>
            </a:pPr>
            <a:r>
              <a:rPr lang="en-IN" altLang="en-US" sz="1800" b="1" i="0" u="none" strike="noStrike" cap="none">
                <a:solidFill>
                  <a:srgbClr val="FFFFFF"/>
                </a:solidFill>
                <a:latin typeface="Libre Franklin Light"/>
                <a:ea typeface="Libre Franklin Light"/>
                <a:cs typeface="Libre Franklin Light"/>
                <a:sym typeface="Libre Franklin Light"/>
              </a:rPr>
              <a:t> </a:t>
            </a:r>
            <a:r>
              <a:rPr lang="en-US" altLang="en-US" sz="1800" b="1" i="0" u="none" strike="noStrike" cap="none">
                <a:solidFill>
                  <a:srgbClr val="FFFFFF"/>
                </a:solidFill>
                <a:latin typeface="Libre Franklin Light"/>
                <a:ea typeface="Libre Franklin Light"/>
                <a:cs typeface="Libre Franklin Light"/>
                <a:sym typeface="Libre Franklin Light"/>
              </a:rPr>
              <a:t>Material identification at the destination storage bin</a:t>
            </a:r>
            <a:endParaRPr lang="en-US" altLang="en-US" sz="1800" b="1" i="0" u="none" strike="noStrike" cap="none">
              <a:solidFill>
                <a:srgbClr val="FFFFFF"/>
              </a:solidFill>
              <a:latin typeface="Libre Franklin Light"/>
              <a:ea typeface="Libre Franklin Light"/>
              <a:cs typeface="Libre Franklin Light"/>
              <a:sym typeface="Libre Franklin Light"/>
            </a:endParaRPr>
          </a:p>
        </p:txBody>
      </p:sp>
      <p:pic>
        <p:nvPicPr>
          <p:cNvPr id="5" name="Picture 19"/>
          <p:cNvPicPr>
            <a:picLocks noChangeAspect="1"/>
          </p:cNvPicPr>
          <p:nvPr/>
        </p:nvPicPr>
        <p:blipFill>
          <a:blip r:embed="rId1"/>
          <a:stretch>
            <a:fillRect/>
          </a:stretch>
        </p:blipFill>
        <p:spPr>
          <a:xfrm>
            <a:off x="419735" y="2702560"/>
            <a:ext cx="9386570" cy="6217285"/>
          </a:xfrm>
          <a:prstGeom prst="flowChartAlternateProcess">
            <a:avLst/>
          </a:prstGeom>
          <a:noFill/>
          <a:ln w="38100">
            <a:solidFill>
              <a:schemeClr val="accent1"/>
            </a:solidFill>
          </a:ln>
        </p:spPr>
      </p:pic>
      <p:sp>
        <p:nvSpPr>
          <p:cNvPr id="2" name="Text Box 1"/>
          <p:cNvSpPr txBox="1"/>
          <p:nvPr/>
        </p:nvSpPr>
        <p:spPr>
          <a:xfrm>
            <a:off x="13205460" y="2983230"/>
            <a:ext cx="2103120" cy="640080"/>
          </a:xfrm>
          <a:prstGeom prst="flowChartAlternateProcess">
            <a:avLst/>
          </a:prstGeom>
          <a:solidFill>
            <a:schemeClr val="accent5">
              <a:alpha val="30000"/>
            </a:schemeClr>
          </a:solidFill>
          <a:ln w="38100">
            <a:solidFill>
              <a:schemeClr val="bg1"/>
            </a:solidFill>
          </a:ln>
        </p:spPr>
        <p:txBody>
          <a:bodyPr wrap="square" rtlCol="0" anchor="t">
            <a:noAutofit/>
          </a:bodyPr>
          <a:p>
            <a:pPr marL="0" marR="0" lvl="0" indent="0" algn="l" rtl="0">
              <a:lnSpc>
                <a:spcPct val="110000"/>
              </a:lnSpc>
              <a:spcBef>
                <a:spcPts val="0"/>
              </a:spcBef>
              <a:spcAft>
                <a:spcPts val="0"/>
              </a:spcAft>
              <a:buNone/>
            </a:pPr>
            <a:r>
              <a:rPr lang="en-IN" altLang="en-US" sz="2400" b="1">
                <a:solidFill>
                  <a:srgbClr val="FFFFFF"/>
                </a:solidFill>
                <a:latin typeface="Libre Franklin"/>
                <a:ea typeface="Libre Franklin"/>
                <a:cs typeface="Libre Franklin"/>
                <a:sym typeface="Libre Franklin"/>
              </a:rPr>
              <a:t>Explanation</a:t>
            </a:r>
            <a:endParaRPr lang="en-IN" altLang="en-US" sz="2400" b="1">
              <a:solidFill>
                <a:srgbClr val="FFFFFF"/>
              </a:solidFill>
              <a:latin typeface="Libre Franklin"/>
              <a:ea typeface="Libre Franklin"/>
              <a:cs typeface="Libre Franklin"/>
              <a:sym typeface="Libre Franklin"/>
            </a:endParaRPr>
          </a:p>
        </p:txBody>
      </p:sp>
      <p:pic>
        <p:nvPicPr>
          <p:cNvPr id="4" name="Picture 3" descr="WMForgeLogo"/>
          <p:cNvPicPr>
            <a:picLocks noChangeAspect="1"/>
          </p:cNvPicPr>
          <p:nvPr/>
        </p:nvPicPr>
        <p:blipFill>
          <a:blip r:embed="rId2"/>
          <a:stretch>
            <a:fillRect/>
          </a:stretch>
        </p:blipFill>
        <p:spPr>
          <a:xfrm>
            <a:off x="16490950" y="137795"/>
            <a:ext cx="1623695" cy="1623695"/>
          </a:xfrm>
          <a:prstGeom prst="rect">
            <a:avLst/>
          </a:prstGeom>
        </p:spPr>
      </p:pic>
      <p:sp>
        <p:nvSpPr>
          <p:cNvPr id="3" name="Google Shape;109;p14"/>
          <p:cNvSpPr txBox="1"/>
          <p:nvPr/>
        </p:nvSpPr>
        <p:spPr>
          <a:xfrm>
            <a:off x="584200" y="243840"/>
            <a:ext cx="3086100" cy="565150"/>
          </a:xfrm>
          <a:prstGeom prst="flowChartAlternateProcess">
            <a:avLst/>
          </a:prstGeom>
          <a:solidFill>
            <a:schemeClr val="bg2">
              <a:alpha val="30000"/>
            </a:schemeClr>
          </a:solidFill>
          <a:ln w="25400">
            <a:solidFill>
              <a:schemeClr val="bg1"/>
            </a:solidFill>
          </a:ln>
        </p:spPr>
        <p:txBody>
          <a:bodyPr spcFirstLastPara="1" wrap="square" lIns="0" tIns="0" rIns="0" bIns="0" anchor="t" anchorCtr="0">
            <a:noAutofit/>
          </a:bodyPr>
          <a:lstStyle/>
          <a:p>
            <a:pPr marL="0" marR="0" lvl="0" indent="0" algn="ctr" rtl="0">
              <a:lnSpc>
                <a:spcPct val="110000"/>
              </a:lnSpc>
              <a:spcBef>
                <a:spcPts val="0"/>
              </a:spcBef>
              <a:spcAft>
                <a:spcPts val="0"/>
              </a:spcAft>
              <a:buNone/>
            </a:pPr>
            <a:r>
              <a:rPr lang="en-IN" altLang="en-US" sz="2800" b="1"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rPr>
              <a:t>Configuration</a:t>
            </a:r>
            <a:endParaRPr lang="en-IN" altLang="en-US" sz="2800" b="1"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Tree>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994E5"/>
        </a:solidFill>
        <a:effectLst/>
      </p:bgPr>
    </p:bg>
    <p:spTree>
      <p:nvGrpSpPr>
        <p:cNvPr id="94" name="Shape 94"/>
        <p:cNvGrpSpPr/>
        <p:nvPr/>
      </p:nvGrpSpPr>
      <p:grpSpPr>
        <a:xfrm>
          <a:off x="0" y="0"/>
          <a:ext cx="0" cy="0"/>
          <a:chOff x="0" y="0"/>
          <a:chExt cx="0" cy="0"/>
        </a:xfrm>
      </p:grpSpPr>
      <p:grpSp>
        <p:nvGrpSpPr>
          <p:cNvPr id="96" name="Google Shape;96;p14"/>
          <p:cNvGrpSpPr/>
          <p:nvPr/>
        </p:nvGrpSpPr>
        <p:grpSpPr>
          <a:xfrm>
            <a:off x="10225744" y="-180826"/>
            <a:ext cx="8062256" cy="10467826"/>
            <a:chOff x="0" y="-47625"/>
            <a:chExt cx="2123392" cy="2756958"/>
          </a:xfrm>
        </p:grpSpPr>
        <p:sp>
          <p:nvSpPr>
            <p:cNvPr id="97" name="Google Shape;97;p14"/>
            <p:cNvSpPr/>
            <p:nvPr/>
          </p:nvSpPr>
          <p:spPr>
            <a:xfrm>
              <a:off x="0" y="0"/>
              <a:ext cx="2123392" cy="2709333"/>
            </a:xfrm>
            <a:custGeom>
              <a:avLst/>
              <a:gdLst/>
              <a:ahLst/>
              <a:cxnLst/>
              <a:rect l="l" t="t" r="r" b="b"/>
              <a:pathLst>
                <a:path w="2123392" h="2709333" extrusionOk="0">
                  <a:moveTo>
                    <a:pt x="0" y="0"/>
                  </a:moveTo>
                  <a:lnTo>
                    <a:pt x="2123392" y="0"/>
                  </a:lnTo>
                  <a:lnTo>
                    <a:pt x="2123392" y="2709333"/>
                  </a:lnTo>
                  <a:lnTo>
                    <a:pt x="0" y="2709333"/>
                  </a:lnTo>
                  <a:close/>
                </a:path>
              </a:pathLst>
            </a:custGeom>
            <a:solidFill>
              <a:srgbClr val="014E97"/>
            </a:solidFill>
            <a:ln>
              <a:noFill/>
            </a:ln>
          </p:spPr>
        </p:sp>
        <p:sp>
          <p:nvSpPr>
            <p:cNvPr id="98" name="Google Shape;98;p14"/>
            <p:cNvSpPr txBox="1"/>
            <p:nvPr/>
          </p:nvSpPr>
          <p:spPr>
            <a:xfrm>
              <a:off x="0" y="-47625"/>
              <a:ext cx="812800" cy="860425"/>
            </a:xfrm>
            <a:prstGeom prst="rect">
              <a:avLst/>
            </a:prstGeom>
            <a:noFill/>
            <a:ln>
              <a:noFill/>
            </a:ln>
          </p:spPr>
          <p:txBody>
            <a:bodyPr spcFirstLastPara="1" wrap="square" lIns="50800" tIns="50800" rIns="50800" bIns="50800" anchor="ctr" anchorCtr="0">
              <a:noAutofit/>
            </a:bodyPr>
            <a:lstStyle/>
            <a:p>
              <a:pPr marL="0" marR="0" lvl="0" indent="0" algn="ctr" rtl="0">
                <a:lnSpc>
                  <a:spcPct val="187000"/>
                </a:lnSpc>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08" name="Google Shape;108;p14"/>
          <p:cNvSpPr txBox="1"/>
          <p:nvPr/>
        </p:nvSpPr>
        <p:spPr>
          <a:xfrm>
            <a:off x="10734040" y="808990"/>
            <a:ext cx="5289550" cy="1826260"/>
          </a:xfrm>
          <a:prstGeom prst="flowChartAlternateProcess">
            <a:avLst/>
          </a:prstGeom>
          <a:noFill/>
          <a:ln w="38100">
            <a:no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IN" altLang="en-US" sz="2000" b="1" i="0" u="none" strike="noStrike" cap="none">
                <a:solidFill>
                  <a:srgbClr val="FFFFFF"/>
                </a:solidFill>
                <a:latin typeface="Libre Franklin Light"/>
                <a:ea typeface="Libre Franklin Light"/>
                <a:cs typeface="Libre Franklin Light"/>
                <a:sym typeface="Libre Franklin Light"/>
              </a:rPr>
              <a:t>SPRO </a:t>
            </a:r>
            <a:r>
              <a:rPr lang="en-US" altLang="en-US" sz="2000" b="1">
                <a:solidFill>
                  <a:srgbClr val="FFFFFF"/>
                </a:solidFill>
                <a:latin typeface="Libre Franklin Light"/>
                <a:ea typeface="Libre Franklin Light"/>
                <a:cs typeface="Libre Franklin Light"/>
                <a:sym typeface="Libre Franklin Light"/>
              </a:rPr>
              <a:t>→</a:t>
            </a:r>
            <a:r>
              <a:rPr lang="en-IN" altLang="en-US" sz="2000" b="1">
                <a:solidFill>
                  <a:srgbClr val="FFFFFF"/>
                </a:solidFill>
                <a:latin typeface="Libre Franklin Light"/>
                <a:ea typeface="Libre Franklin Light"/>
                <a:cs typeface="Libre Franklin Light"/>
                <a:sym typeface="Libre Franklin Light"/>
              </a:rPr>
              <a:t> </a:t>
            </a:r>
            <a:r>
              <a:rPr lang="en-IN" altLang="en-US" sz="2000" b="1" i="0" u="none" strike="noStrike" cap="none">
                <a:solidFill>
                  <a:srgbClr val="FFFFFF"/>
                </a:solidFill>
                <a:latin typeface="Libre Franklin Light"/>
                <a:ea typeface="Libre Franklin Light"/>
                <a:cs typeface="Libre Franklin Light"/>
                <a:sym typeface="Libre Franklin Light"/>
              </a:rPr>
              <a:t>I</a:t>
            </a:r>
            <a:r>
              <a:rPr lang="en-US" altLang="en-US" sz="2000" b="1" i="0" u="none" strike="noStrike" cap="none">
                <a:solidFill>
                  <a:srgbClr val="FFFFFF"/>
                </a:solidFill>
                <a:latin typeface="Libre Franklin Light"/>
                <a:ea typeface="Libre Franklin Light"/>
                <a:cs typeface="Libre Franklin Light"/>
                <a:sym typeface="Libre Franklin Light"/>
              </a:rPr>
              <a:t>MG → Logistics Execution → Mobile Data Entry → Verification Control → Assign Verification Profiles to Goods Movements</a:t>
            </a:r>
            <a:endParaRPr lang="en-US" altLang="en-US" sz="2000" b="1" i="0" u="none" strike="noStrike" cap="none">
              <a:solidFill>
                <a:srgbClr val="FFFFFF"/>
              </a:solidFill>
              <a:latin typeface="Libre Franklin Light"/>
              <a:ea typeface="Libre Franklin Light"/>
              <a:cs typeface="Libre Franklin Light"/>
              <a:sym typeface="Libre Franklin Light"/>
            </a:endParaRPr>
          </a:p>
        </p:txBody>
      </p:sp>
      <p:sp>
        <p:nvSpPr>
          <p:cNvPr id="109" name="Google Shape;109;p14"/>
          <p:cNvSpPr txBox="1"/>
          <p:nvPr/>
        </p:nvSpPr>
        <p:spPr>
          <a:xfrm>
            <a:off x="457200" y="757161"/>
            <a:ext cx="9386237" cy="1639106"/>
          </a:xfrm>
          <a:prstGeom prst="flowChartAlternateProcess">
            <a:avLst/>
          </a:prstGeom>
          <a:solidFill>
            <a:schemeClr val="bg2">
              <a:alpha val="30000"/>
            </a:schemeClr>
          </a:solidFill>
          <a:ln w="25400">
            <a:solidFill>
              <a:schemeClr val="bg1"/>
            </a:solid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altLang="en-US" sz="4000" b="1"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rPr>
              <a:t>Assign Verification Profiles to Goods Movements</a:t>
            </a:r>
            <a:endParaRPr lang="en-US" altLang="en-US" sz="4000" b="1"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11" name="Google Shape;111;p14"/>
          <p:cNvSpPr txBox="1"/>
          <p:nvPr/>
        </p:nvSpPr>
        <p:spPr>
          <a:xfrm>
            <a:off x="10734675" y="3854450"/>
            <a:ext cx="7097395" cy="6216650"/>
          </a:xfrm>
          <a:prstGeom prst="flowChartAlternateProcess">
            <a:avLst/>
          </a:prstGeom>
          <a:noFill/>
          <a:ln w="38100">
            <a:solidFill>
              <a:schemeClr val="bg1"/>
            </a:solidFill>
          </a:ln>
        </p:spPr>
        <p:txBody>
          <a:bodyPr spcFirstLastPara="1" wrap="square" lIns="0" tIns="0" rIns="0" bIns="0" anchor="t" anchorCtr="0">
            <a:noAutofit/>
          </a:bodyPr>
          <a:lstStyle/>
          <a:p>
            <a:pPr marL="0" marR="0" lvl="0" indent="0" algn="l" rtl="0">
              <a:lnSpc>
                <a:spcPct val="140000"/>
              </a:lnSpc>
              <a:spcBef>
                <a:spcPts val="0"/>
              </a:spcBef>
              <a:spcAft>
                <a:spcPts val="0"/>
              </a:spcAft>
              <a:buNone/>
            </a:pPr>
            <a:r>
              <a:rPr lang="en-US" altLang="en-US" sz="1800" b="1" i="0" u="none" strike="noStrike" cap="none">
                <a:solidFill>
                  <a:srgbClr val="FFFFFF"/>
                </a:solidFill>
                <a:latin typeface="Libre Franklin Light"/>
                <a:ea typeface="Libre Franklin Light"/>
                <a:cs typeface="Libre Franklin Light"/>
                <a:sym typeface="Libre Franklin Light"/>
              </a:rPr>
              <a:t>Assign the appropriate verification profile to the relevant movement types/goods movements.</a:t>
            </a:r>
            <a:endParaRPr lang="en-US" altLang="en-US" sz="1800" b="1" i="0" u="none" strike="noStrike" cap="none">
              <a:solidFill>
                <a:srgbClr val="FFFFFF"/>
              </a:solidFill>
              <a:latin typeface="Libre Franklin Light"/>
              <a:ea typeface="Libre Franklin Light"/>
              <a:cs typeface="Libre Franklin Light"/>
              <a:sym typeface="Libre Franklin Light"/>
            </a:endParaRPr>
          </a:p>
          <a:p>
            <a:pPr marL="0" marR="0" lvl="0" indent="0" algn="l" rtl="0">
              <a:lnSpc>
                <a:spcPct val="140000"/>
              </a:lnSpc>
              <a:spcBef>
                <a:spcPts val="0"/>
              </a:spcBef>
              <a:spcAft>
                <a:spcPts val="0"/>
              </a:spcAft>
              <a:buNone/>
            </a:pPr>
            <a:r>
              <a:rPr lang="en-US" altLang="en-US" sz="1800" b="1" i="0" u="none" strike="noStrike" cap="none">
                <a:solidFill>
                  <a:srgbClr val="FFFFFF"/>
                </a:solidFill>
                <a:latin typeface="Libre Franklin Light"/>
                <a:ea typeface="Libre Franklin Light"/>
                <a:cs typeface="Libre Franklin Light"/>
                <a:sym typeface="Libre Franklin Light"/>
              </a:rPr>
              <a:t>This means that you define in a warehouse number in which source and destination storage types and with which movement type the respective profile is to be used.</a:t>
            </a:r>
            <a:endParaRPr lang="en-US" altLang="en-US" sz="1800" b="1" i="0" u="none" strike="noStrike" cap="none">
              <a:solidFill>
                <a:srgbClr val="FFFFFF"/>
              </a:solidFill>
              <a:latin typeface="Libre Franklin Light"/>
              <a:ea typeface="Libre Franklin Light"/>
              <a:cs typeface="Libre Franklin Light"/>
              <a:sym typeface="Libre Franklin Light"/>
            </a:endParaRPr>
          </a:p>
          <a:p>
            <a:pPr marL="0" marR="0" lvl="0" indent="0" algn="l" rtl="0">
              <a:lnSpc>
                <a:spcPct val="140000"/>
              </a:lnSpc>
              <a:spcBef>
                <a:spcPts val="0"/>
              </a:spcBef>
              <a:spcAft>
                <a:spcPts val="0"/>
              </a:spcAft>
              <a:buNone/>
            </a:pPr>
            <a:endParaRPr lang="en-US" altLang="en-US" sz="1800" b="1" i="0" u="none" strike="noStrike" cap="none">
              <a:solidFill>
                <a:srgbClr val="FFFFFF"/>
              </a:solidFill>
              <a:latin typeface="Libre Franklin Light"/>
              <a:ea typeface="Libre Franklin Light"/>
              <a:cs typeface="Libre Franklin Light"/>
              <a:sym typeface="Libre Franklin Light"/>
            </a:endParaRPr>
          </a:p>
          <a:p>
            <a:pPr marL="0" marR="0" lvl="0" indent="0" algn="l" rtl="0">
              <a:lnSpc>
                <a:spcPct val="140000"/>
              </a:lnSpc>
              <a:spcBef>
                <a:spcPts val="0"/>
              </a:spcBef>
              <a:spcAft>
                <a:spcPts val="0"/>
              </a:spcAft>
              <a:buNone/>
            </a:pPr>
            <a:r>
              <a:rPr lang="en-US" altLang="en-US" sz="1800" b="1" i="0" u="none" strike="noStrike" cap="none">
                <a:solidFill>
                  <a:srgbClr val="FFFFFF"/>
                </a:solidFill>
                <a:latin typeface="Libre Franklin Light"/>
                <a:ea typeface="Libre Franklin Light"/>
                <a:cs typeface="Libre Franklin Light"/>
                <a:sym typeface="Libre Franklin Light"/>
              </a:rPr>
              <a:t>The indicator determines whether the system first displays the source location or directly shows the destination location to the user.</a:t>
            </a:r>
            <a:endParaRPr lang="en-US" altLang="en-US" sz="1800" b="1" i="0" u="none" strike="noStrike" cap="none">
              <a:solidFill>
                <a:srgbClr val="FFFFFF"/>
              </a:solidFill>
              <a:latin typeface="Libre Franklin Light"/>
              <a:ea typeface="Libre Franklin Light"/>
              <a:cs typeface="Libre Franklin Light"/>
              <a:sym typeface="Libre Franklin Light"/>
            </a:endParaRPr>
          </a:p>
          <a:p>
            <a:pPr marL="0" marR="0" lvl="0" indent="0" algn="l" rtl="0">
              <a:lnSpc>
                <a:spcPct val="140000"/>
              </a:lnSpc>
              <a:spcBef>
                <a:spcPts val="0"/>
              </a:spcBef>
              <a:spcAft>
                <a:spcPts val="0"/>
              </a:spcAft>
              <a:buNone/>
            </a:pPr>
            <a:endParaRPr lang="en-US" altLang="en-US" sz="1800" b="1" i="0" u="none" strike="noStrike" cap="none">
              <a:solidFill>
                <a:srgbClr val="FFFFFF"/>
              </a:solidFill>
              <a:latin typeface="Libre Franklin Light"/>
              <a:ea typeface="Libre Franklin Light"/>
              <a:cs typeface="Libre Franklin Light"/>
              <a:sym typeface="Libre Franklin Light"/>
            </a:endParaRPr>
          </a:p>
          <a:p>
            <a:pPr marL="0" marR="0" lvl="0" indent="0" algn="l" rtl="0">
              <a:lnSpc>
                <a:spcPct val="140000"/>
              </a:lnSpc>
              <a:spcBef>
                <a:spcPts val="0"/>
              </a:spcBef>
              <a:spcAft>
                <a:spcPts val="0"/>
              </a:spcAft>
              <a:buNone/>
            </a:pPr>
            <a:r>
              <a:rPr lang="en-US" altLang="en-US" sz="1800" b="1" i="0" u="none" strike="noStrike" cap="none">
                <a:solidFill>
                  <a:srgbClr val="FFFFFF"/>
                </a:solidFill>
                <a:latin typeface="Libre Franklin Light"/>
                <a:ea typeface="Libre Franklin Light"/>
                <a:cs typeface="Libre Franklin Light"/>
                <a:sym typeface="Libre Franklin Light"/>
              </a:rPr>
              <a:t>If you set the automatic load control indicator, </a:t>
            </a:r>
            <a:r>
              <a:rPr lang="en-IN" altLang="en-US" sz="1800" b="1" i="0" u="none" strike="noStrike" cap="none">
                <a:solidFill>
                  <a:srgbClr val="FFFFFF"/>
                </a:solidFill>
                <a:latin typeface="Libre Franklin Light"/>
                <a:ea typeface="Libre Franklin Light"/>
                <a:cs typeface="Libre Franklin Light"/>
                <a:sym typeface="Libre Franklin Light"/>
              </a:rPr>
              <a:t>then</a:t>
            </a:r>
            <a:r>
              <a:rPr lang="en-US" altLang="en-US" sz="1800" b="1" i="0" u="none" strike="noStrike" cap="none">
                <a:solidFill>
                  <a:srgbClr val="FFFFFF"/>
                </a:solidFill>
                <a:latin typeface="Libre Franklin Light"/>
                <a:ea typeface="Libre Franklin Light"/>
                <a:cs typeface="Libre Franklin Light"/>
                <a:sym typeface="Libre Franklin Light"/>
              </a:rPr>
              <a:t>handling unit(s) will be loaded automatically when the respective pick transfer orders have been confirmed.</a:t>
            </a:r>
            <a:endParaRPr lang="en-US" altLang="en-US" sz="1800" b="1" i="0" u="none" strike="noStrike" cap="none">
              <a:solidFill>
                <a:srgbClr val="FFFFFF"/>
              </a:solidFill>
              <a:latin typeface="Libre Franklin Light"/>
              <a:ea typeface="Libre Franklin Light"/>
              <a:cs typeface="Libre Franklin Light"/>
              <a:sym typeface="Libre Franklin Light"/>
            </a:endParaRPr>
          </a:p>
        </p:txBody>
      </p:sp>
      <p:sp>
        <p:nvSpPr>
          <p:cNvPr id="2" name="Text Box 1"/>
          <p:cNvSpPr txBox="1"/>
          <p:nvPr/>
        </p:nvSpPr>
        <p:spPr>
          <a:xfrm>
            <a:off x="13205460" y="2983230"/>
            <a:ext cx="2103120" cy="640080"/>
          </a:xfrm>
          <a:prstGeom prst="flowChartAlternateProcess">
            <a:avLst/>
          </a:prstGeom>
          <a:solidFill>
            <a:schemeClr val="bg2">
              <a:lumMod val="60000"/>
              <a:lumOff val="40000"/>
            </a:schemeClr>
          </a:solidFill>
          <a:ln w="38100">
            <a:solidFill>
              <a:schemeClr val="bg1"/>
            </a:solidFill>
          </a:ln>
        </p:spPr>
        <p:txBody>
          <a:bodyPr wrap="square" rtlCol="0" anchor="t">
            <a:noAutofit/>
          </a:bodyPr>
          <a:p>
            <a:pPr marL="0" marR="0" lvl="0" indent="0" algn="l" rtl="0">
              <a:lnSpc>
                <a:spcPct val="110000"/>
              </a:lnSpc>
              <a:spcBef>
                <a:spcPts val="0"/>
              </a:spcBef>
              <a:spcAft>
                <a:spcPts val="0"/>
              </a:spcAft>
              <a:buNone/>
            </a:pPr>
            <a:r>
              <a:rPr lang="en-IN" altLang="en-US" sz="2400" b="1">
                <a:solidFill>
                  <a:srgbClr val="FFFFFF"/>
                </a:solidFill>
                <a:latin typeface="Libre Franklin"/>
                <a:ea typeface="Libre Franklin"/>
                <a:cs typeface="Libre Franklin"/>
                <a:sym typeface="Libre Franklin"/>
              </a:rPr>
              <a:t>Explanation</a:t>
            </a:r>
            <a:endParaRPr lang="en-IN" altLang="en-US" sz="2400" b="1">
              <a:solidFill>
                <a:srgbClr val="FFFFFF"/>
              </a:solidFill>
              <a:latin typeface="Libre Franklin"/>
              <a:ea typeface="Libre Franklin"/>
              <a:cs typeface="Libre Franklin"/>
              <a:sym typeface="Libre Franklin"/>
            </a:endParaRPr>
          </a:p>
        </p:txBody>
      </p:sp>
      <p:pic>
        <p:nvPicPr>
          <p:cNvPr id="4" name="Picture 3" descr="WMForgeLogo"/>
          <p:cNvPicPr>
            <a:picLocks noChangeAspect="1"/>
          </p:cNvPicPr>
          <p:nvPr/>
        </p:nvPicPr>
        <p:blipFill>
          <a:blip r:embed="rId1"/>
          <a:stretch>
            <a:fillRect/>
          </a:stretch>
        </p:blipFill>
        <p:spPr>
          <a:xfrm>
            <a:off x="16490950" y="137795"/>
            <a:ext cx="1623695" cy="1623695"/>
          </a:xfrm>
          <a:prstGeom prst="rect">
            <a:avLst/>
          </a:prstGeom>
        </p:spPr>
      </p:pic>
      <p:pic>
        <p:nvPicPr>
          <p:cNvPr id="7" name="Picture 21"/>
          <p:cNvPicPr>
            <a:picLocks noChangeAspect="1"/>
          </p:cNvPicPr>
          <p:nvPr/>
        </p:nvPicPr>
        <p:blipFill>
          <a:blip r:embed="rId2"/>
          <a:stretch>
            <a:fillRect/>
          </a:stretch>
        </p:blipFill>
        <p:spPr>
          <a:xfrm>
            <a:off x="457200" y="3086100"/>
            <a:ext cx="9385935" cy="6546850"/>
          </a:xfrm>
          <a:prstGeom prst="flowChartAlternateProcess">
            <a:avLst/>
          </a:prstGeom>
          <a:noFill/>
          <a:ln w="38100">
            <a:solidFill>
              <a:schemeClr val="accent1"/>
            </a:solidFill>
          </a:ln>
        </p:spPr>
      </p:pic>
    </p:spTree>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994E5"/>
        </a:solidFill>
        <a:effectLst/>
      </p:bgPr>
    </p:bg>
    <p:spTree>
      <p:nvGrpSpPr>
        <p:cNvPr id="115" name="Shape 115"/>
        <p:cNvGrpSpPr/>
        <p:nvPr/>
      </p:nvGrpSpPr>
      <p:grpSpPr>
        <a:xfrm>
          <a:off x="0" y="0"/>
          <a:ext cx="0" cy="0"/>
          <a:chOff x="0" y="0"/>
          <a:chExt cx="0" cy="0"/>
        </a:xfrm>
      </p:grpSpPr>
      <p:grpSp>
        <p:nvGrpSpPr>
          <p:cNvPr id="125" name="Google Shape;125;p15"/>
          <p:cNvGrpSpPr/>
          <p:nvPr/>
        </p:nvGrpSpPr>
        <p:grpSpPr>
          <a:xfrm>
            <a:off x="12632055" y="173355"/>
            <a:ext cx="5347335" cy="10050780"/>
            <a:chOff x="31032" y="0"/>
            <a:chExt cx="575596" cy="891270"/>
          </a:xfrm>
        </p:grpSpPr>
        <p:sp>
          <p:nvSpPr>
            <p:cNvPr id="126" name="Google Shape;126;p15"/>
            <p:cNvSpPr/>
            <p:nvPr/>
          </p:nvSpPr>
          <p:spPr>
            <a:xfrm>
              <a:off x="31032" y="0"/>
              <a:ext cx="575596" cy="891270"/>
            </a:xfrm>
            <a:prstGeom prst="flowChartPunchedTape">
              <a:avLst/>
            </a:prstGeom>
            <a:solidFill>
              <a:srgbClr val="014E97"/>
            </a:solidFill>
            <a:ln>
              <a:noFill/>
            </a:ln>
          </p:spPr>
        </p:sp>
        <p:sp>
          <p:nvSpPr>
            <p:cNvPr id="127" name="Google Shape;127;p15"/>
            <p:cNvSpPr txBox="1"/>
            <p:nvPr/>
          </p:nvSpPr>
          <p:spPr>
            <a:xfrm>
              <a:off x="35338" y="623067"/>
              <a:ext cx="546751" cy="172364"/>
            </a:xfrm>
            <a:prstGeom prst="rect">
              <a:avLst/>
            </a:prstGeom>
            <a:noFill/>
            <a:ln>
              <a:noFill/>
            </a:ln>
          </p:spPr>
          <p:txBody>
            <a:bodyPr spcFirstLastPara="1" wrap="square" lIns="50800" tIns="50800" rIns="50800" bIns="50800" anchor="ctr" anchorCtr="0">
              <a:noAutofit/>
            </a:bodyPr>
            <a:lstStyle/>
            <a:p>
              <a:pPr marL="0" marR="0" lvl="0" indent="0" algn="ctr" rtl="0">
                <a:lnSpc>
                  <a:spcPct val="127000"/>
                </a:lnSpc>
                <a:spcBef>
                  <a:spcPts val="0"/>
                </a:spcBef>
                <a:spcAft>
                  <a:spcPts val="0"/>
                </a:spcAft>
                <a:buNone/>
              </a:pPr>
              <a:r>
                <a:rPr lang="en-US" altLang="en-US" sz="2400" b="1" i="0" u="none" strike="noStrike" cap="none">
                  <a:solidFill>
                    <a:schemeClr val="bg1"/>
                  </a:solidFill>
                  <a:latin typeface="Times New Roman" panose="02020603050405020304" charset="0"/>
                  <a:ea typeface="Calibri" panose="020F0502020204030204"/>
                  <a:cs typeface="Times New Roman" panose="02020603050405020304" charset="0"/>
                  <a:sym typeface="Calibri" panose="020F0502020204030204"/>
                </a:rPr>
                <a:t>IMG → Logistics Execution → Mobile Data Entry → Bar Code → Maintain Bar Code Specification</a:t>
              </a:r>
              <a:endParaRPr lang="en-US" altLang="en-US" sz="2400" b="1" i="0" u="none" strike="noStrike" cap="none">
                <a:solidFill>
                  <a:schemeClr val="bg1"/>
                </a:solidFill>
                <a:latin typeface="Times New Roman" panose="02020603050405020304" charset="0"/>
                <a:ea typeface="Calibri" panose="020F0502020204030204"/>
                <a:cs typeface="Times New Roman" panose="02020603050405020304" charset="0"/>
                <a:sym typeface="Calibri" panose="020F0502020204030204"/>
              </a:endParaRPr>
            </a:p>
          </p:txBody>
        </p:sp>
      </p:grpSp>
      <p:sp>
        <p:nvSpPr>
          <p:cNvPr id="134" name="Google Shape;134;p15"/>
          <p:cNvSpPr txBox="1"/>
          <p:nvPr/>
        </p:nvSpPr>
        <p:spPr>
          <a:xfrm>
            <a:off x="346075" y="172720"/>
            <a:ext cx="8395335" cy="737235"/>
          </a:xfrm>
          <a:prstGeom prst="flowChartAlternateProcess">
            <a:avLst/>
          </a:prstGeom>
          <a:solidFill>
            <a:schemeClr val="bg2">
              <a:alpha val="30000"/>
            </a:schemeClr>
          </a:solidFill>
          <a:ln w="25400">
            <a:solidFill>
              <a:schemeClr val="bg1"/>
            </a:solidFill>
          </a:ln>
        </p:spPr>
        <p:txBody>
          <a:bodyPr spcFirstLastPara="1" wrap="square" lIns="0" tIns="0" rIns="0" bIns="0" anchor="t" anchorCtr="0">
            <a:noAutofit/>
          </a:bodyPr>
          <a:lstStyle/>
          <a:p>
            <a:pPr marL="0" marR="0" lvl="0" indent="0" algn="ctr" rtl="0">
              <a:lnSpc>
                <a:spcPct val="120000"/>
              </a:lnSpc>
              <a:spcBef>
                <a:spcPts val="0"/>
              </a:spcBef>
              <a:spcAft>
                <a:spcPts val="0"/>
              </a:spcAft>
              <a:buNone/>
            </a:pPr>
            <a:r>
              <a:rPr lang="en-US" altLang="en-US" sz="32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rPr>
              <a:t>Assign Bar Code Types to Warehouse</a:t>
            </a:r>
            <a:endParaRPr lang="en-US" altLang="en-US" sz="32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pic>
        <p:nvPicPr>
          <p:cNvPr id="8" name="Picture 22"/>
          <p:cNvPicPr>
            <a:picLocks noChangeAspect="1"/>
          </p:cNvPicPr>
          <p:nvPr/>
        </p:nvPicPr>
        <p:blipFill>
          <a:blip r:embed="rId1"/>
          <a:stretch>
            <a:fillRect/>
          </a:stretch>
        </p:blipFill>
        <p:spPr>
          <a:xfrm>
            <a:off x="346710" y="1715770"/>
            <a:ext cx="11997055" cy="3882390"/>
          </a:xfrm>
          <a:prstGeom prst="flowChartAlternateProcess">
            <a:avLst/>
          </a:prstGeom>
          <a:noFill/>
          <a:ln w="38100">
            <a:solidFill>
              <a:schemeClr val="bg2"/>
            </a:solidFill>
          </a:ln>
        </p:spPr>
      </p:pic>
      <p:sp>
        <p:nvSpPr>
          <p:cNvPr id="2" name="Text Box 1"/>
          <p:cNvSpPr txBox="1"/>
          <p:nvPr/>
        </p:nvSpPr>
        <p:spPr>
          <a:xfrm>
            <a:off x="347345" y="1110615"/>
            <a:ext cx="8394065" cy="393065"/>
          </a:xfrm>
          <a:prstGeom prst="flowChartAlternateProcess">
            <a:avLst/>
          </a:prstGeom>
          <a:solidFill>
            <a:schemeClr val="bg2">
              <a:alpha val="30000"/>
            </a:schemeClr>
          </a:solidFill>
          <a:ln w="25400">
            <a:solidFill>
              <a:schemeClr val="bg1"/>
            </a:solidFill>
          </a:ln>
        </p:spPr>
        <p:txBody>
          <a:bodyPr>
            <a:noAutofit/>
          </a:bodyPr>
          <a:p>
            <a:pPr marL="0" indent="0" algn="ctr" defTabSz="266700">
              <a:spcBef>
                <a:spcPts val="500"/>
              </a:spcBef>
              <a:spcAft>
                <a:spcPts val="500"/>
              </a:spcAft>
            </a:pPr>
            <a:r>
              <a:rPr lang="en-US" altLang="zh-CN" sz="2000" b="1">
                <a:solidFill>
                  <a:schemeClr val="bg1"/>
                </a:solidFill>
                <a:latin typeface="Times New Roman" panose="02020603050405020304"/>
                <a:ea typeface="SimSun" panose="02010600030101010101" pitchFamily="2" charset="-122"/>
              </a:rPr>
              <a:t>Assign the supported bar code types to the relevant warehouse number.</a:t>
            </a:r>
            <a:endParaRPr lang="en-US" altLang="zh-CN" sz="2000" b="1">
              <a:solidFill>
                <a:schemeClr val="bg1"/>
              </a:solidFill>
              <a:latin typeface="Times New Roman" panose="02020603050405020304"/>
              <a:ea typeface="SimSun" panose="02010600030101010101" pitchFamily="2" charset="-122"/>
            </a:endParaRPr>
          </a:p>
        </p:txBody>
      </p:sp>
      <p:sp>
        <p:nvSpPr>
          <p:cNvPr id="5" name="Text Box 4"/>
          <p:cNvSpPr txBox="1"/>
          <p:nvPr/>
        </p:nvSpPr>
        <p:spPr>
          <a:xfrm>
            <a:off x="346075" y="5809615"/>
            <a:ext cx="11996420" cy="404495"/>
          </a:xfrm>
          <a:prstGeom prst="flowChartAlternateProcess">
            <a:avLst/>
          </a:prstGeom>
          <a:solidFill>
            <a:schemeClr val="bg2">
              <a:alpha val="30000"/>
            </a:schemeClr>
          </a:solidFill>
          <a:ln w="25400">
            <a:solidFill>
              <a:schemeClr val="bg1"/>
            </a:solidFill>
          </a:ln>
        </p:spPr>
        <p:txBody>
          <a:bodyPr>
            <a:noAutofit/>
          </a:bodyPr>
          <a:p>
            <a:pPr marL="0" indent="0" algn="l" defTabSz="266700">
              <a:spcBef>
                <a:spcPts val="500"/>
              </a:spcBef>
              <a:spcAft>
                <a:spcPts val="500"/>
              </a:spcAft>
            </a:pPr>
            <a:r>
              <a:rPr lang="en-US" altLang="zh-CN" sz="2000" b="1">
                <a:solidFill>
                  <a:schemeClr val="bg1"/>
                </a:solidFill>
                <a:latin typeface="Times New Roman" panose="02020603050405020304"/>
                <a:ea typeface="SimSun" panose="02010600030101010101" pitchFamily="2" charset="-122"/>
              </a:rPr>
              <a:t>Define the bar code specifications that will be used for identifying materials, storage units, handling units, e</a:t>
            </a:r>
            <a:r>
              <a:rPr lang="en-IN" altLang="en-US" sz="2000" b="1">
                <a:solidFill>
                  <a:schemeClr val="bg1"/>
                </a:solidFill>
                <a:latin typeface="Times New Roman" panose="02020603050405020304"/>
                <a:ea typeface="SimSun" panose="02010600030101010101" pitchFamily="2" charset="-122"/>
              </a:rPr>
              <a:t>t</a:t>
            </a:r>
            <a:endParaRPr lang="en-IN" altLang="en-US" sz="2000" b="1">
              <a:solidFill>
                <a:schemeClr val="bg1"/>
              </a:solidFill>
              <a:latin typeface="Times New Roman" panose="02020603050405020304"/>
              <a:ea typeface="SimSun" panose="02010600030101010101" pitchFamily="2" charset="-122"/>
            </a:endParaRPr>
          </a:p>
        </p:txBody>
      </p:sp>
      <p:pic>
        <p:nvPicPr>
          <p:cNvPr id="9" name="Picture 23"/>
          <p:cNvPicPr>
            <a:picLocks noChangeAspect="1"/>
          </p:cNvPicPr>
          <p:nvPr/>
        </p:nvPicPr>
        <p:blipFill>
          <a:blip r:embed="rId2"/>
          <a:stretch>
            <a:fillRect/>
          </a:stretch>
        </p:blipFill>
        <p:spPr>
          <a:xfrm>
            <a:off x="346075" y="6404610"/>
            <a:ext cx="11997690" cy="3676015"/>
          </a:xfrm>
          <a:prstGeom prst="flowChartAlternateProcess">
            <a:avLst/>
          </a:prstGeom>
          <a:noFill/>
          <a:ln w="38100">
            <a:solidFill>
              <a:schemeClr val="bg2"/>
            </a:solidFill>
          </a:ln>
        </p:spPr>
      </p:pic>
      <p:pic>
        <p:nvPicPr>
          <p:cNvPr id="4" name="Picture 3" descr="WMForgeLogo"/>
          <p:cNvPicPr>
            <a:picLocks noChangeAspect="1"/>
          </p:cNvPicPr>
          <p:nvPr/>
        </p:nvPicPr>
        <p:blipFill>
          <a:blip r:embed="rId3"/>
          <a:stretch>
            <a:fillRect/>
          </a:stretch>
        </p:blipFill>
        <p:spPr>
          <a:xfrm>
            <a:off x="16355695" y="173355"/>
            <a:ext cx="1623695" cy="1623695"/>
          </a:xfrm>
          <a:prstGeom prst="rect">
            <a:avLst/>
          </a:prstGeom>
        </p:spPr>
      </p:pic>
      <p:sp>
        <p:nvSpPr>
          <p:cNvPr id="3" name="Text Box 2"/>
          <p:cNvSpPr txBox="1"/>
          <p:nvPr/>
        </p:nvSpPr>
        <p:spPr>
          <a:xfrm>
            <a:off x="12631420" y="2845435"/>
            <a:ext cx="5080000" cy="1877060"/>
          </a:xfrm>
          <a:prstGeom prst="rect">
            <a:avLst/>
          </a:prstGeom>
        </p:spPr>
        <p:txBody>
          <a:bodyPr>
            <a:noAutofit/>
          </a:bodyPr>
          <a:p>
            <a:pPr algn="ctr" defTabSz="266700">
              <a:lnSpc>
                <a:spcPct val="120000"/>
              </a:lnSpc>
            </a:pPr>
            <a:r>
              <a:rPr lang="en-US" altLang="zh-CN" sz="2400" b="1">
                <a:solidFill>
                  <a:schemeClr val="bg1"/>
                </a:solidFill>
                <a:latin typeface="Times New Roman" panose="02020603050405020304" charset="0"/>
                <a:ea typeface="SimSun" panose="02010600030101010101" pitchFamily="2" charset="-122"/>
                <a:cs typeface="Times New Roman" panose="02020603050405020304" charset="0"/>
              </a:rPr>
              <a:t>IMG → Logistics Execution → Mobile Data Entry → Bar Code → Assign Bar Code Types to Warehouses</a:t>
            </a:r>
            <a:endParaRPr lang="en-US" altLang="zh-CN" sz="2400" b="1">
              <a:solidFill>
                <a:schemeClr val="bg1"/>
              </a:solidFill>
              <a:latin typeface="Times New Roman" panose="02020603050405020304" charset="0"/>
              <a:ea typeface="SimSun" panose="02010600030101010101" pitchFamily="2" charset="-122"/>
              <a:cs typeface="Times New Roman" panose="02020603050405020304" charset="0"/>
            </a:endParaRPr>
          </a:p>
        </p:txBody>
      </p:sp>
      <p:sp>
        <p:nvSpPr>
          <p:cNvPr id="6" name="Text Box 5"/>
          <p:cNvSpPr txBox="1"/>
          <p:nvPr/>
        </p:nvSpPr>
        <p:spPr>
          <a:xfrm>
            <a:off x="998855" y="4219575"/>
            <a:ext cx="532130" cy="247015"/>
          </a:xfrm>
          <a:prstGeom prst="rect">
            <a:avLst/>
          </a:prstGeom>
          <a:solidFill>
            <a:schemeClr val="accent5">
              <a:lumMod val="20000"/>
              <a:lumOff val="80000"/>
            </a:schemeClr>
          </a:solidFill>
        </p:spPr>
        <p:txBody>
          <a:bodyPr wrap="square" rtlCol="0">
            <a:noAutofit/>
          </a:bodyPr>
          <a:p>
            <a:r>
              <a:rPr lang="en-IN" altLang="en-US" sz="1200" b="1"/>
              <a:t>VKM</a:t>
            </a:r>
            <a:endParaRPr lang="en-IN" altLang="en-US" sz="1200" b="1"/>
          </a:p>
        </p:txBody>
      </p:sp>
    </p:spTree>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994E5"/>
        </a:solidFill>
        <a:effectLst/>
      </p:bgPr>
    </p:bg>
    <p:spTree>
      <p:nvGrpSpPr>
        <p:cNvPr id="115" name="Shape 115"/>
        <p:cNvGrpSpPr/>
        <p:nvPr/>
      </p:nvGrpSpPr>
      <p:grpSpPr>
        <a:xfrm>
          <a:off x="0" y="0"/>
          <a:ext cx="0" cy="0"/>
          <a:chOff x="0" y="0"/>
          <a:chExt cx="0" cy="0"/>
        </a:xfrm>
      </p:grpSpPr>
      <p:sp>
        <p:nvSpPr>
          <p:cNvPr id="126" name="Google Shape;126;p15"/>
          <p:cNvSpPr/>
          <p:nvPr/>
        </p:nvSpPr>
        <p:spPr>
          <a:xfrm rot="16200000">
            <a:off x="6192520" y="-2491105"/>
            <a:ext cx="5808980" cy="13051790"/>
          </a:xfrm>
          <a:prstGeom prst="bracketPair">
            <a:avLst/>
          </a:prstGeom>
          <a:solidFill>
            <a:srgbClr val="014E97"/>
          </a:solidFill>
          <a:ln>
            <a:solidFill>
              <a:schemeClr val="bg1"/>
            </a:solidFill>
          </a:ln>
        </p:spPr>
      </p:sp>
      <p:sp>
        <p:nvSpPr>
          <p:cNvPr id="134" name="Google Shape;134;p15"/>
          <p:cNvSpPr txBox="1"/>
          <p:nvPr/>
        </p:nvSpPr>
        <p:spPr>
          <a:xfrm>
            <a:off x="346075" y="172720"/>
            <a:ext cx="6779260" cy="712470"/>
          </a:xfrm>
          <a:prstGeom prst="flowChartAlternateProcess">
            <a:avLst/>
          </a:prstGeom>
          <a:solidFill>
            <a:schemeClr val="bg2">
              <a:alpha val="30000"/>
            </a:schemeClr>
          </a:solidFill>
          <a:ln w="25400">
            <a:solidFill>
              <a:schemeClr val="bg1"/>
            </a:solidFill>
          </a:ln>
        </p:spPr>
        <p:txBody>
          <a:bodyPr spcFirstLastPara="1" wrap="square" lIns="0" tIns="0" rIns="0" bIns="0" anchor="t" anchorCtr="0">
            <a:noAutofit/>
          </a:bodyPr>
          <a:lstStyle/>
          <a:p>
            <a:pPr marL="0" marR="0" lvl="0" indent="0" algn="l" rtl="0">
              <a:lnSpc>
                <a:spcPct val="120000"/>
              </a:lnSpc>
              <a:spcBef>
                <a:spcPts val="0"/>
              </a:spcBef>
              <a:spcAft>
                <a:spcPts val="0"/>
              </a:spcAft>
              <a:buNone/>
            </a:pPr>
            <a:r>
              <a:rPr lang="en-US" altLang="en-US" sz="32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rPr>
              <a:t>Configure Menu Management</a:t>
            </a:r>
            <a:endParaRPr lang="en-US" altLang="en-US" sz="32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2" name="Text Box 1"/>
          <p:cNvSpPr txBox="1"/>
          <p:nvPr/>
        </p:nvSpPr>
        <p:spPr>
          <a:xfrm>
            <a:off x="346075" y="7827010"/>
            <a:ext cx="17633315" cy="2020570"/>
          </a:xfrm>
          <a:prstGeom prst="flowChartAlternateProcess">
            <a:avLst/>
          </a:prstGeom>
          <a:solidFill>
            <a:schemeClr val="bg2">
              <a:alpha val="30000"/>
            </a:schemeClr>
          </a:solidFill>
          <a:ln w="38100">
            <a:solidFill>
              <a:schemeClr val="bg2"/>
            </a:solidFill>
          </a:ln>
        </p:spPr>
        <p:txBody>
          <a:bodyPr>
            <a:noAutofit/>
          </a:bodyPr>
          <a:p>
            <a:pPr marL="0" indent="0" algn="l" defTabSz="266700">
              <a:spcBef>
                <a:spcPts val="500"/>
              </a:spcBef>
              <a:spcAft>
                <a:spcPts val="500"/>
              </a:spcAft>
            </a:pPr>
            <a:r>
              <a:rPr lang="en-US" altLang="en-US" sz="2000" b="1">
                <a:solidFill>
                  <a:schemeClr val="bg1"/>
                </a:solidFill>
                <a:latin typeface="Times New Roman" panose="02020603050405020304"/>
                <a:ea typeface="SimSun" panose="02010600030101010101" pitchFamily="2" charset="-122"/>
              </a:rPr>
              <a:t>In this section you can configure the settings for menu management and you can set up the menu sequence for a particular user. You can assign different "dynamic" menus or transactions to a menu. These must then be described with an appropriate text.</a:t>
            </a:r>
            <a:endParaRPr lang="en-US" altLang="en-US" sz="2000" b="1">
              <a:solidFill>
                <a:schemeClr val="bg1"/>
              </a:solidFill>
              <a:latin typeface="Times New Roman" panose="02020603050405020304"/>
              <a:ea typeface="SimSun" panose="02010600030101010101" pitchFamily="2" charset="-122"/>
            </a:endParaRPr>
          </a:p>
          <a:p>
            <a:pPr marL="0" indent="0" algn="l" defTabSz="266700">
              <a:spcBef>
                <a:spcPts val="500"/>
              </a:spcBef>
              <a:spcAft>
                <a:spcPts val="500"/>
              </a:spcAft>
            </a:pPr>
            <a:r>
              <a:rPr lang="en-US" altLang="en-US" sz="2000" b="1">
                <a:solidFill>
                  <a:schemeClr val="bg1"/>
                </a:solidFill>
                <a:latin typeface="Times New Roman" panose="02020603050405020304"/>
                <a:ea typeface="SimSun" panose="02010600030101010101" pitchFamily="2" charset="-122"/>
              </a:rPr>
              <a:t>If you have actual menus, these in turn are assigned either to further menus or to transactions.</a:t>
            </a:r>
            <a:endParaRPr lang="en-US" altLang="en-US" sz="2000" b="1">
              <a:solidFill>
                <a:schemeClr val="bg1"/>
              </a:solidFill>
              <a:latin typeface="Times New Roman" panose="02020603050405020304"/>
              <a:ea typeface="SimSun" panose="02010600030101010101" pitchFamily="2" charset="-122"/>
            </a:endParaRPr>
          </a:p>
          <a:p>
            <a:pPr marL="0" indent="0" algn="l" defTabSz="266700">
              <a:spcBef>
                <a:spcPts val="500"/>
              </a:spcBef>
              <a:spcAft>
                <a:spcPts val="500"/>
              </a:spcAft>
            </a:pPr>
            <a:r>
              <a:rPr lang="en-US" altLang="en-US" sz="2000" b="1">
                <a:solidFill>
                  <a:schemeClr val="bg1"/>
                </a:solidFill>
                <a:latin typeface="Times New Roman" panose="02020603050405020304"/>
                <a:ea typeface="SimSun" panose="02010600030101010101" pitchFamily="2" charset="-122"/>
              </a:rPr>
              <a:t>To be able to distinguish between a menu and a transaction, you can choose a type.</a:t>
            </a:r>
            <a:endParaRPr lang="en-US" altLang="en-US" sz="2000" b="1">
              <a:solidFill>
                <a:schemeClr val="bg1"/>
              </a:solidFill>
              <a:latin typeface="Times New Roman" panose="02020603050405020304"/>
              <a:ea typeface="SimSun" panose="02010600030101010101" pitchFamily="2" charset="-122"/>
            </a:endParaRPr>
          </a:p>
        </p:txBody>
      </p:sp>
      <p:pic>
        <p:nvPicPr>
          <p:cNvPr id="4" name="Picture 3" descr="WMForgeLogo"/>
          <p:cNvPicPr>
            <a:picLocks noChangeAspect="1"/>
          </p:cNvPicPr>
          <p:nvPr/>
        </p:nvPicPr>
        <p:blipFill>
          <a:blip r:embed="rId1"/>
          <a:stretch>
            <a:fillRect/>
          </a:stretch>
        </p:blipFill>
        <p:spPr>
          <a:xfrm>
            <a:off x="16355695" y="173355"/>
            <a:ext cx="1623695" cy="1623695"/>
          </a:xfrm>
          <a:prstGeom prst="rect">
            <a:avLst/>
          </a:prstGeom>
        </p:spPr>
      </p:pic>
      <p:pic>
        <p:nvPicPr>
          <p:cNvPr id="11" name="Picture 25"/>
          <p:cNvPicPr>
            <a:picLocks noChangeAspect="1"/>
          </p:cNvPicPr>
          <p:nvPr/>
        </p:nvPicPr>
        <p:blipFill>
          <a:blip r:embed="rId2"/>
          <a:stretch>
            <a:fillRect/>
          </a:stretch>
        </p:blipFill>
        <p:spPr>
          <a:xfrm>
            <a:off x="2850515" y="1377950"/>
            <a:ext cx="12506325" cy="5339080"/>
          </a:xfrm>
          <a:prstGeom prst="flowChartAlternateProcess">
            <a:avLst/>
          </a:prstGeom>
          <a:noFill/>
          <a:ln>
            <a:noFill/>
          </a:ln>
        </p:spPr>
      </p:pic>
      <p:sp>
        <p:nvSpPr>
          <p:cNvPr id="5" name="Text Box 4"/>
          <p:cNvSpPr txBox="1"/>
          <p:nvPr/>
        </p:nvSpPr>
        <p:spPr>
          <a:xfrm>
            <a:off x="3474720" y="7126605"/>
            <a:ext cx="11106785" cy="513080"/>
          </a:xfrm>
          <a:prstGeom prst="rect">
            <a:avLst/>
          </a:prstGeom>
        </p:spPr>
        <p:txBody>
          <a:bodyPr>
            <a:noAutofit/>
          </a:bodyPr>
          <a:p>
            <a:pPr algn="ctr" defTabSz="266700"/>
            <a:r>
              <a:rPr lang="en-IN" altLang="en-US" sz="2000" b="1">
                <a:solidFill>
                  <a:schemeClr val="bg1"/>
                </a:solidFill>
                <a:latin typeface="Times New Roman" panose="02020603050405020304" charset="0"/>
                <a:ea typeface="SimSun" panose="02010600030101010101" pitchFamily="2" charset="-122"/>
                <a:cs typeface="Times New Roman" panose="02020603050405020304" charset="0"/>
              </a:rPr>
              <a:t>SPRO </a:t>
            </a:r>
            <a:r>
              <a:rPr lang="en-US" altLang="zh-CN" sz="2000" b="1">
                <a:solidFill>
                  <a:schemeClr val="bg1"/>
                </a:solidFill>
                <a:latin typeface="Times New Roman" panose="02020603050405020304" charset="0"/>
                <a:ea typeface="SimSun" panose="02010600030101010101" pitchFamily="2" charset="-122"/>
                <a:cs typeface="Times New Roman" panose="02020603050405020304" charset="0"/>
                <a:sym typeface="+mn-ea"/>
              </a:rPr>
              <a:t>→</a:t>
            </a:r>
            <a:r>
              <a:rPr lang="en-IN" altLang="en-US" sz="2000" b="1">
                <a:solidFill>
                  <a:schemeClr val="bg1"/>
                </a:solidFill>
                <a:latin typeface="Times New Roman" panose="02020603050405020304" charset="0"/>
                <a:ea typeface="SimSun" panose="02010600030101010101" pitchFamily="2" charset="-122"/>
                <a:cs typeface="Times New Roman" panose="02020603050405020304" charset="0"/>
                <a:sym typeface="+mn-ea"/>
              </a:rPr>
              <a:t> </a:t>
            </a:r>
            <a:r>
              <a:rPr lang="en-US" altLang="zh-CN" sz="2000" b="1">
                <a:solidFill>
                  <a:schemeClr val="bg1"/>
                </a:solidFill>
                <a:latin typeface="Times New Roman" panose="02020603050405020304" charset="0"/>
                <a:ea typeface="SimSun" panose="02010600030101010101" pitchFamily="2" charset="-122"/>
                <a:cs typeface="Times New Roman" panose="02020603050405020304" charset="0"/>
              </a:rPr>
              <a:t>IMG → Logistics Execution → Mobile Data Entry → Menu Management</a:t>
            </a:r>
            <a:endParaRPr lang="en-US" altLang="zh-CN" sz="2000" b="1">
              <a:solidFill>
                <a:schemeClr val="bg1"/>
              </a:solidFill>
              <a:latin typeface="Times New Roman" panose="02020603050405020304" charset="0"/>
              <a:ea typeface="SimSun" panose="02010600030101010101" pitchFamily="2"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994E5"/>
        </a:solidFill>
        <a:effectLst/>
      </p:bgPr>
    </p:bg>
    <p:spTree>
      <p:nvGrpSpPr>
        <p:cNvPr id="115" name="Shape 115"/>
        <p:cNvGrpSpPr/>
        <p:nvPr/>
      </p:nvGrpSpPr>
      <p:grpSpPr>
        <a:xfrm>
          <a:off x="0" y="0"/>
          <a:ext cx="0" cy="0"/>
          <a:chOff x="0" y="0"/>
          <a:chExt cx="0" cy="0"/>
        </a:xfrm>
      </p:grpSpPr>
      <p:sp>
        <p:nvSpPr>
          <p:cNvPr id="126" name="Google Shape;126;p15"/>
          <p:cNvSpPr/>
          <p:nvPr/>
        </p:nvSpPr>
        <p:spPr>
          <a:xfrm>
            <a:off x="9144000" y="909955"/>
            <a:ext cx="8835390" cy="8536305"/>
          </a:xfrm>
          <a:prstGeom prst="bevel">
            <a:avLst/>
          </a:prstGeom>
          <a:solidFill>
            <a:srgbClr val="014E97"/>
          </a:solidFill>
          <a:ln w="38100">
            <a:solidFill>
              <a:schemeClr val="bg1"/>
            </a:solidFill>
          </a:ln>
        </p:spPr>
      </p:sp>
      <p:sp>
        <p:nvSpPr>
          <p:cNvPr id="134" name="Google Shape;134;p15"/>
          <p:cNvSpPr txBox="1"/>
          <p:nvPr/>
        </p:nvSpPr>
        <p:spPr>
          <a:xfrm>
            <a:off x="346075" y="909955"/>
            <a:ext cx="5549900" cy="737235"/>
          </a:xfrm>
          <a:prstGeom prst="flowChartAlternateProcess">
            <a:avLst/>
          </a:prstGeom>
          <a:solidFill>
            <a:schemeClr val="bg2">
              <a:alpha val="30000"/>
            </a:schemeClr>
          </a:solidFill>
          <a:ln w="25400">
            <a:solidFill>
              <a:schemeClr val="bg1"/>
            </a:solidFill>
          </a:ln>
        </p:spPr>
        <p:txBody>
          <a:bodyPr spcFirstLastPara="1" wrap="square" lIns="0" tIns="0" rIns="0" bIns="0" anchor="t" anchorCtr="0">
            <a:noAutofit/>
          </a:bodyPr>
          <a:lstStyle/>
          <a:p>
            <a:pPr marL="0" marR="0" lvl="0" indent="0" algn="ctr" rtl="0">
              <a:lnSpc>
                <a:spcPct val="120000"/>
              </a:lnSpc>
              <a:spcBef>
                <a:spcPts val="0"/>
              </a:spcBef>
              <a:spcAft>
                <a:spcPts val="0"/>
              </a:spcAft>
              <a:buNone/>
            </a:pPr>
            <a:r>
              <a:rPr lang="en-US" altLang="en-US" sz="28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rPr>
              <a:t>Define Screen Management</a:t>
            </a:r>
            <a:endParaRPr lang="en-US" altLang="en-US" sz="28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2" name="Text Box 1"/>
          <p:cNvSpPr txBox="1"/>
          <p:nvPr/>
        </p:nvSpPr>
        <p:spPr>
          <a:xfrm>
            <a:off x="346075" y="3057525"/>
            <a:ext cx="8394700" cy="6388735"/>
          </a:xfrm>
          <a:prstGeom prst="flowChartAlternateProcess">
            <a:avLst/>
          </a:prstGeom>
          <a:solidFill>
            <a:schemeClr val="bg2">
              <a:alpha val="30000"/>
            </a:schemeClr>
          </a:solidFill>
          <a:ln w="38100">
            <a:solidFill>
              <a:schemeClr val="bg2"/>
            </a:solidFill>
          </a:ln>
        </p:spPr>
        <p:txBody>
          <a:bodyPr>
            <a:noAutofit/>
          </a:bodyPr>
          <a:p>
            <a:pPr marL="0" indent="0" algn="l" defTabSz="266700">
              <a:spcBef>
                <a:spcPts val="500"/>
              </a:spcBef>
              <a:spcAft>
                <a:spcPts val="500"/>
              </a:spcAft>
              <a:buClr>
                <a:srgbClr val="FFFFFF"/>
              </a:buClr>
            </a:pPr>
            <a:r>
              <a:rPr lang="en-IN" altLang="en-US" sz="2000" b="1">
                <a:solidFill>
                  <a:schemeClr val="bg1"/>
                </a:solidFill>
                <a:latin typeface="Times New Roman" panose="02020603050405020304"/>
                <a:ea typeface="SimSun" panose="02010600030101010101" pitchFamily="2" charset="-122"/>
              </a:rPr>
              <a:t>  </a:t>
            </a:r>
            <a:r>
              <a:rPr lang="en-US" altLang="en-US" sz="2000" b="1">
                <a:solidFill>
                  <a:schemeClr val="bg1"/>
                </a:solidFill>
                <a:latin typeface="Times New Roman" panose="02020603050405020304"/>
                <a:ea typeface="SimSun" panose="02010600030101010101" pitchFamily="2" charset="-122"/>
              </a:rPr>
              <a:t>Screen Management controls how information is displayed to the warehouse operator on the RF/mobile device.</a:t>
            </a:r>
            <a:endParaRPr lang="en-US" altLang="en-US" sz="2000" b="1">
              <a:solidFill>
                <a:schemeClr val="bg1"/>
              </a:solidFill>
              <a:latin typeface="Times New Roman" panose="02020603050405020304"/>
              <a:ea typeface="SimSun" panose="02010600030101010101" pitchFamily="2" charset="-122"/>
            </a:endParaRPr>
          </a:p>
          <a:p>
            <a:pPr marL="0" indent="0" algn="l" defTabSz="266700">
              <a:spcBef>
                <a:spcPts val="500"/>
              </a:spcBef>
              <a:spcAft>
                <a:spcPts val="500"/>
              </a:spcAft>
              <a:buClr>
                <a:srgbClr val="FFFFFF"/>
              </a:buClr>
            </a:pPr>
            <a:r>
              <a:rPr lang="en-IN" altLang="en-US" sz="2000" b="1">
                <a:solidFill>
                  <a:schemeClr val="bg1"/>
                </a:solidFill>
                <a:latin typeface="Times New Roman" panose="02020603050405020304"/>
                <a:ea typeface="SimSun" panose="02010600030101010101" pitchFamily="2" charset="-122"/>
              </a:rPr>
              <a:t>  </a:t>
            </a:r>
            <a:r>
              <a:rPr lang="en-US" altLang="en-US" sz="2000" b="1">
                <a:solidFill>
                  <a:schemeClr val="bg1"/>
                </a:solidFill>
                <a:latin typeface="Times New Roman" panose="02020603050405020304"/>
                <a:ea typeface="SimSun" panose="02010600030101010101" pitchFamily="2" charset="-122"/>
              </a:rPr>
              <a:t>In simple words, it connects the logical RF screen with the screen format that should be shown to the user. </a:t>
            </a:r>
            <a:endParaRPr lang="en-US" altLang="en-US" sz="2000" b="1">
              <a:solidFill>
                <a:schemeClr val="bg1"/>
              </a:solidFill>
              <a:latin typeface="Times New Roman" panose="02020603050405020304"/>
              <a:ea typeface="SimSun" panose="02010600030101010101" pitchFamily="2" charset="-122"/>
            </a:endParaRPr>
          </a:p>
          <a:p>
            <a:pPr marL="0" indent="0" algn="l" defTabSz="266700">
              <a:spcBef>
                <a:spcPts val="500"/>
              </a:spcBef>
              <a:spcAft>
                <a:spcPts val="500"/>
              </a:spcAft>
              <a:buClr>
                <a:srgbClr val="FFFFFF"/>
              </a:buClr>
            </a:pPr>
            <a:r>
              <a:rPr lang="en-IN" altLang="en-US" sz="2000" b="1">
                <a:solidFill>
                  <a:schemeClr val="bg1"/>
                </a:solidFill>
                <a:latin typeface="Times New Roman" panose="02020603050405020304"/>
                <a:ea typeface="SimSun" panose="02010600030101010101" pitchFamily="2" charset="-122"/>
              </a:rPr>
              <a:t>  </a:t>
            </a:r>
            <a:r>
              <a:rPr lang="en-US" altLang="en-US" sz="2000" b="1">
                <a:solidFill>
                  <a:schemeClr val="bg1"/>
                </a:solidFill>
                <a:latin typeface="Times New Roman" panose="02020603050405020304"/>
                <a:ea typeface="SimSun" panose="02010600030101010101" pitchFamily="2" charset="-122"/>
              </a:rPr>
              <a:t>We can define different formats, such as narrow or large, depending on the type of RF device being used.</a:t>
            </a:r>
            <a:endParaRPr lang="en-US" altLang="en-US" sz="2000" b="1">
              <a:solidFill>
                <a:schemeClr val="bg1"/>
              </a:solidFill>
              <a:latin typeface="Times New Roman" panose="02020603050405020304"/>
              <a:ea typeface="SimSun" panose="02010600030101010101" pitchFamily="2" charset="-122"/>
            </a:endParaRPr>
          </a:p>
          <a:p>
            <a:pPr marL="0" indent="0" algn="l" defTabSz="266700">
              <a:spcBef>
                <a:spcPts val="500"/>
              </a:spcBef>
              <a:spcAft>
                <a:spcPts val="500"/>
              </a:spcAft>
              <a:buClr>
                <a:srgbClr val="FFFFFF"/>
              </a:buClr>
            </a:pPr>
            <a:r>
              <a:rPr lang="en-IN" altLang="en-US" sz="2000" b="1">
                <a:solidFill>
                  <a:schemeClr val="bg1"/>
                </a:solidFill>
                <a:latin typeface="Times New Roman" panose="02020603050405020304"/>
                <a:ea typeface="SimSun" panose="02010600030101010101" pitchFamily="2" charset="-122"/>
              </a:rPr>
              <a:t>  </a:t>
            </a:r>
            <a:r>
              <a:rPr lang="en-US" altLang="en-US" sz="2000" b="1">
                <a:solidFill>
                  <a:schemeClr val="bg1"/>
                </a:solidFill>
                <a:latin typeface="Times New Roman" panose="02020603050405020304"/>
                <a:ea typeface="SimSun" panose="02010600030101010101" pitchFamily="2" charset="-122"/>
              </a:rPr>
              <a:t>It can also control what information the user sees first, such as the source location or the destination location.</a:t>
            </a:r>
            <a:endParaRPr lang="en-US" altLang="en-US" sz="2000" b="1">
              <a:solidFill>
                <a:schemeClr val="bg1"/>
              </a:solidFill>
              <a:latin typeface="Times New Roman" panose="02020603050405020304"/>
              <a:ea typeface="SimSun" panose="02010600030101010101" pitchFamily="2" charset="-122"/>
            </a:endParaRPr>
          </a:p>
          <a:p>
            <a:pPr marL="0" indent="0" algn="l" defTabSz="266700">
              <a:spcBef>
                <a:spcPts val="500"/>
              </a:spcBef>
              <a:spcAft>
                <a:spcPts val="500"/>
              </a:spcAft>
            </a:pPr>
            <a:r>
              <a:rPr lang="en-US" altLang="en-US" sz="2000" b="1">
                <a:solidFill>
                  <a:schemeClr val="bg1"/>
                </a:solidFill>
                <a:latin typeface="Times New Roman" panose="02020603050405020304"/>
                <a:ea typeface="SimSun" panose="02010600030101010101" pitchFamily="2" charset="-122"/>
              </a:rPr>
              <a:t>Here you can:</a:t>
            </a:r>
            <a:endParaRPr lang="en-US" altLang="en-US" sz="2000" b="1">
              <a:solidFill>
                <a:schemeClr val="bg1"/>
              </a:solidFill>
              <a:latin typeface="Times New Roman" panose="02020603050405020304"/>
              <a:ea typeface="SimSun" panose="02010600030101010101" pitchFamily="2" charset="-122"/>
            </a:endParaRPr>
          </a:p>
          <a:p>
            <a:pPr marL="0" indent="0" algn="l" defTabSz="266700">
              <a:spcBef>
                <a:spcPts val="500"/>
              </a:spcBef>
              <a:spcAft>
                <a:spcPts val="500"/>
              </a:spcAft>
            </a:pPr>
            <a:r>
              <a:rPr lang="en-US" altLang="en-US" sz="2000" b="1">
                <a:solidFill>
                  <a:schemeClr val="bg1"/>
                </a:solidFill>
                <a:latin typeface="Times New Roman" panose="02020603050405020304"/>
                <a:ea typeface="SimSun" panose="02010600030101010101" pitchFamily="2" charset="-122"/>
              </a:rPr>
              <a:t>Define logical screen names </a:t>
            </a:r>
            <a:endParaRPr lang="en-US" altLang="en-US" sz="2000" b="1">
              <a:solidFill>
                <a:schemeClr val="bg1"/>
              </a:solidFill>
              <a:latin typeface="Times New Roman" panose="02020603050405020304"/>
              <a:ea typeface="SimSun" panose="02010600030101010101" pitchFamily="2" charset="-122"/>
            </a:endParaRPr>
          </a:p>
          <a:p>
            <a:pPr marL="0" indent="0" algn="l" defTabSz="266700">
              <a:spcBef>
                <a:spcPts val="500"/>
              </a:spcBef>
              <a:spcAft>
                <a:spcPts val="500"/>
              </a:spcAft>
            </a:pPr>
            <a:r>
              <a:rPr lang="en-US" altLang="en-US" sz="2000" b="1">
                <a:solidFill>
                  <a:schemeClr val="bg1"/>
                </a:solidFill>
                <a:latin typeface="Times New Roman" panose="02020603050405020304"/>
                <a:ea typeface="SimSun" panose="02010600030101010101" pitchFamily="2" charset="-122"/>
              </a:rPr>
              <a:t>Assign screen formats </a:t>
            </a:r>
            <a:endParaRPr lang="en-US" altLang="en-US" sz="2000" b="1">
              <a:solidFill>
                <a:schemeClr val="bg1"/>
              </a:solidFill>
              <a:latin typeface="Times New Roman" panose="02020603050405020304"/>
              <a:ea typeface="SimSun" panose="02010600030101010101" pitchFamily="2" charset="-122"/>
            </a:endParaRPr>
          </a:p>
          <a:p>
            <a:pPr marL="0" indent="0" algn="l" defTabSz="266700">
              <a:spcBef>
                <a:spcPts val="500"/>
              </a:spcBef>
              <a:spcAft>
                <a:spcPts val="500"/>
              </a:spcAft>
            </a:pPr>
            <a:r>
              <a:rPr lang="en-US" altLang="en-US" sz="2000" b="1">
                <a:solidFill>
                  <a:schemeClr val="bg1"/>
                </a:solidFill>
                <a:latin typeface="Times New Roman" panose="02020603050405020304"/>
                <a:ea typeface="SimSun" panose="02010600030101010101" pitchFamily="2" charset="-122"/>
              </a:rPr>
              <a:t>Configure narrow and large screen formats </a:t>
            </a:r>
            <a:endParaRPr lang="en-US" altLang="en-US" sz="2000" b="1">
              <a:solidFill>
                <a:schemeClr val="bg1"/>
              </a:solidFill>
              <a:latin typeface="Times New Roman" panose="02020603050405020304"/>
              <a:ea typeface="SimSun" panose="02010600030101010101" pitchFamily="2" charset="-122"/>
            </a:endParaRPr>
          </a:p>
        </p:txBody>
      </p:sp>
      <p:pic>
        <p:nvPicPr>
          <p:cNvPr id="4" name="Picture 3" descr="WMForgeLogo"/>
          <p:cNvPicPr>
            <a:picLocks noChangeAspect="1"/>
          </p:cNvPicPr>
          <p:nvPr/>
        </p:nvPicPr>
        <p:blipFill>
          <a:blip r:embed="rId1"/>
          <a:stretch>
            <a:fillRect/>
          </a:stretch>
        </p:blipFill>
        <p:spPr>
          <a:xfrm>
            <a:off x="16355695" y="173355"/>
            <a:ext cx="1623695" cy="1623695"/>
          </a:xfrm>
          <a:prstGeom prst="rect">
            <a:avLst/>
          </a:prstGeom>
        </p:spPr>
      </p:pic>
      <p:pic>
        <p:nvPicPr>
          <p:cNvPr id="12" name="Picture 26"/>
          <p:cNvPicPr>
            <a:picLocks noChangeAspect="1"/>
          </p:cNvPicPr>
          <p:nvPr/>
        </p:nvPicPr>
        <p:blipFill>
          <a:blip r:embed="rId2"/>
          <a:stretch>
            <a:fillRect/>
          </a:stretch>
        </p:blipFill>
        <p:spPr>
          <a:xfrm>
            <a:off x="10203180" y="1974850"/>
            <a:ext cx="6731635" cy="6388100"/>
          </a:xfrm>
          <a:prstGeom prst="rect">
            <a:avLst/>
          </a:prstGeom>
          <a:noFill/>
          <a:ln w="38100">
            <a:solidFill>
              <a:schemeClr val="bg1"/>
            </a:solidFill>
          </a:ln>
        </p:spPr>
      </p:pic>
      <p:sp>
        <p:nvSpPr>
          <p:cNvPr id="5" name="Text Box 4"/>
          <p:cNvSpPr txBox="1"/>
          <p:nvPr/>
        </p:nvSpPr>
        <p:spPr>
          <a:xfrm>
            <a:off x="346075" y="2135505"/>
            <a:ext cx="8394065" cy="645160"/>
          </a:xfrm>
          <a:prstGeom prst="rect">
            <a:avLst/>
          </a:prstGeom>
        </p:spPr>
        <p:txBody>
          <a:bodyPr wrap="square">
            <a:spAutoFit/>
          </a:bodyPr>
          <a:p>
            <a:pPr defTabSz="266700"/>
            <a:r>
              <a:rPr lang="en-IN" altLang="en-US" sz="1800" b="1">
                <a:solidFill>
                  <a:schemeClr val="bg1"/>
                </a:solidFill>
                <a:latin typeface="Times New Roman" panose="02020603050405020304" charset="0"/>
                <a:ea typeface="SimSun" panose="02010600030101010101" pitchFamily="2" charset="-122"/>
                <a:cs typeface="Times New Roman" panose="02020603050405020304" charset="0"/>
              </a:rPr>
              <a:t>SPRO </a:t>
            </a:r>
            <a:r>
              <a:rPr lang="en-US" altLang="zh-CN" sz="1800" b="1">
                <a:solidFill>
                  <a:schemeClr val="bg1"/>
                </a:solidFill>
                <a:latin typeface="Times New Roman" panose="02020603050405020304" charset="0"/>
                <a:ea typeface="SimSun" panose="02010600030101010101" pitchFamily="2" charset="-122"/>
                <a:cs typeface="Times New Roman" panose="02020603050405020304" charset="0"/>
                <a:sym typeface="+mn-ea"/>
              </a:rPr>
              <a:t>→</a:t>
            </a:r>
            <a:r>
              <a:rPr lang="en-IN" altLang="en-US" sz="1800" b="1">
                <a:solidFill>
                  <a:schemeClr val="bg1"/>
                </a:solidFill>
                <a:latin typeface="Times New Roman" panose="02020603050405020304" charset="0"/>
                <a:ea typeface="SimSun" panose="02010600030101010101" pitchFamily="2" charset="-122"/>
                <a:cs typeface="Times New Roman" panose="02020603050405020304" charset="0"/>
                <a:sym typeface="+mn-ea"/>
              </a:rPr>
              <a:t> </a:t>
            </a:r>
            <a:r>
              <a:rPr lang="en-US" altLang="zh-CN" sz="1800" b="1">
                <a:solidFill>
                  <a:schemeClr val="bg1"/>
                </a:solidFill>
                <a:latin typeface="Times New Roman" panose="02020603050405020304" charset="0"/>
                <a:ea typeface="SimSun" panose="02010600030101010101" pitchFamily="2" charset="-122"/>
                <a:cs typeface="Times New Roman" panose="02020603050405020304" charset="0"/>
              </a:rPr>
              <a:t>IMG → Logistics Execution → Mobile Data Entry → Define Screen Management</a:t>
            </a:r>
            <a:endParaRPr lang="en-US" altLang="zh-CN" sz="1800" b="1">
              <a:solidFill>
                <a:schemeClr val="bg1"/>
              </a:solidFill>
              <a:latin typeface="Times New Roman" panose="02020603050405020304" charset="0"/>
              <a:ea typeface="SimSun" panose="02010600030101010101" pitchFamily="2"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994E5"/>
        </a:solidFill>
        <a:effectLst/>
      </p:bgPr>
    </p:bg>
    <p:spTree>
      <p:nvGrpSpPr>
        <p:cNvPr id="115" name="Shape 115"/>
        <p:cNvGrpSpPr/>
        <p:nvPr/>
      </p:nvGrpSpPr>
      <p:grpSpPr>
        <a:xfrm>
          <a:off x="0" y="0"/>
          <a:ext cx="0" cy="0"/>
          <a:chOff x="0" y="0"/>
          <a:chExt cx="0" cy="0"/>
        </a:xfrm>
      </p:grpSpPr>
      <p:sp>
        <p:nvSpPr>
          <p:cNvPr id="134" name="Google Shape;134;p15"/>
          <p:cNvSpPr txBox="1"/>
          <p:nvPr/>
        </p:nvSpPr>
        <p:spPr>
          <a:xfrm>
            <a:off x="346075" y="616585"/>
            <a:ext cx="3575685" cy="660400"/>
          </a:xfrm>
          <a:prstGeom prst="flowChartAlternateProcess">
            <a:avLst/>
          </a:prstGeom>
          <a:solidFill>
            <a:schemeClr val="bg2">
              <a:alpha val="30000"/>
            </a:schemeClr>
          </a:solidFill>
          <a:ln w="25400">
            <a:solidFill>
              <a:schemeClr val="bg1"/>
            </a:solidFill>
          </a:ln>
        </p:spPr>
        <p:txBody>
          <a:bodyPr spcFirstLastPara="1" wrap="square" lIns="0" tIns="0" rIns="0" bIns="0" anchor="t" anchorCtr="0">
            <a:noAutofit/>
          </a:bodyPr>
          <a:lstStyle/>
          <a:p>
            <a:pPr marL="0" marR="0" lvl="0" indent="0" algn="ctr" rtl="0">
              <a:lnSpc>
                <a:spcPct val="120000"/>
              </a:lnSpc>
              <a:spcBef>
                <a:spcPts val="0"/>
              </a:spcBef>
              <a:spcAft>
                <a:spcPts val="0"/>
              </a:spcAft>
              <a:buNone/>
            </a:pPr>
            <a:r>
              <a:rPr lang="en-US" altLang="en-US" sz="28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rPr>
              <a:t>Define RF Queues</a:t>
            </a:r>
            <a:endParaRPr lang="en-US" altLang="en-US" sz="28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6" name="Text Box 5"/>
          <p:cNvSpPr txBox="1"/>
          <p:nvPr/>
        </p:nvSpPr>
        <p:spPr>
          <a:xfrm>
            <a:off x="346075" y="6852920"/>
            <a:ext cx="17633315" cy="3183890"/>
          </a:xfrm>
          <a:prstGeom prst="flowChartAlternateProcess">
            <a:avLst/>
          </a:prstGeom>
          <a:solidFill>
            <a:schemeClr val="bg2">
              <a:alpha val="30000"/>
            </a:schemeClr>
          </a:solidFill>
          <a:ln w="38100">
            <a:solidFill>
              <a:schemeClr val="bg2"/>
            </a:solidFill>
          </a:ln>
        </p:spPr>
        <p:txBody>
          <a:bodyPr>
            <a:noAutofit/>
          </a:bodyPr>
          <a:p>
            <a:pPr marL="342900" indent="-342900" algn="l" defTabSz="266700">
              <a:spcBef>
                <a:spcPts val="500"/>
              </a:spcBef>
              <a:spcAft>
                <a:spcPts val="500"/>
              </a:spcAft>
              <a:buClr>
                <a:srgbClr val="FFFFFF"/>
              </a:buClr>
              <a:buFont typeface="Arial" panose="020B0604020202020204" pitchFamily="34" charset="0"/>
              <a:buChar char="•"/>
            </a:pPr>
            <a:r>
              <a:rPr lang="en-US" altLang="en-US" sz="2000" b="1">
                <a:solidFill>
                  <a:schemeClr val="bg1"/>
                </a:solidFill>
                <a:latin typeface="Times New Roman" panose="02020603050405020304"/>
                <a:ea typeface="SimSun" panose="02010600030101010101" pitchFamily="2" charset="-122"/>
              </a:rPr>
              <a:t>Think of a queue as a work bucket. We group similar warehouse activities into a queue and then assign that queue to the appropriate users or warehouse areas.</a:t>
            </a:r>
            <a:endParaRPr lang="en-US" altLang="en-US" sz="2000" b="1">
              <a:solidFill>
                <a:schemeClr val="bg1"/>
              </a:solidFill>
              <a:latin typeface="Times New Roman" panose="02020603050405020304"/>
              <a:ea typeface="SimSun" panose="02010600030101010101" pitchFamily="2" charset="-122"/>
            </a:endParaRPr>
          </a:p>
          <a:p>
            <a:pPr marL="342900" indent="-342900" algn="l" defTabSz="266700">
              <a:spcBef>
                <a:spcPts val="500"/>
              </a:spcBef>
              <a:spcAft>
                <a:spcPts val="500"/>
              </a:spcAft>
              <a:buClr>
                <a:srgbClr val="FFFFFF"/>
              </a:buClr>
              <a:buFont typeface="Arial" panose="020B0604020202020204" pitchFamily="34" charset="0"/>
              <a:buChar char="•"/>
            </a:pPr>
            <a:r>
              <a:rPr lang="en-US" altLang="en-US" sz="2000" b="1">
                <a:solidFill>
                  <a:schemeClr val="bg1"/>
                </a:solidFill>
                <a:latin typeface="Times New Roman" panose="02020603050405020304"/>
                <a:ea typeface="SimSun" panose="02010600030101010101" pitchFamily="2" charset="-122"/>
              </a:rPr>
              <a:t>Suppose we have 10 warehouse operators, but 4 of them are responsible for picking. We can assign those users to the Picking Queue. When picking work is available, those users can process the tasks assigned to their queue through RF.</a:t>
            </a:r>
            <a:endParaRPr lang="en-US" altLang="en-US" sz="2000" b="1">
              <a:solidFill>
                <a:schemeClr val="bg1"/>
              </a:solidFill>
              <a:latin typeface="Times New Roman" panose="02020603050405020304"/>
              <a:ea typeface="SimSun" panose="02010600030101010101" pitchFamily="2" charset="-122"/>
            </a:endParaRPr>
          </a:p>
          <a:p>
            <a:pPr marL="342900" indent="-342900" algn="l" defTabSz="266700">
              <a:spcBef>
                <a:spcPts val="500"/>
              </a:spcBef>
              <a:spcAft>
                <a:spcPts val="500"/>
              </a:spcAft>
              <a:buClr>
                <a:srgbClr val="FFFFFF"/>
              </a:buClr>
              <a:buFont typeface="Arial" panose="020B0604020202020204" pitchFamily="34" charset="0"/>
              <a:buChar char="•"/>
            </a:pPr>
            <a:r>
              <a:rPr lang="en-US" altLang="en-US" sz="2000" b="1">
                <a:solidFill>
                  <a:schemeClr val="bg1"/>
                </a:solidFill>
                <a:latin typeface="Times New Roman" panose="02020603050405020304"/>
                <a:ea typeface="SimSun" panose="02010600030101010101" pitchFamily="2" charset="-122"/>
              </a:rPr>
              <a:t>Create and maintain queues for different warehouse activities.</a:t>
            </a:r>
            <a:r>
              <a:rPr lang="en-IN" altLang="en-US" sz="2000" b="1">
                <a:solidFill>
                  <a:schemeClr val="bg1"/>
                </a:solidFill>
                <a:latin typeface="Times New Roman" panose="02020603050405020304"/>
                <a:ea typeface="SimSun" panose="02010600030101010101" pitchFamily="2" charset="-122"/>
              </a:rPr>
              <a:t> </a:t>
            </a:r>
            <a:r>
              <a:rPr lang="en-US" altLang="en-US" sz="2000" b="1">
                <a:solidFill>
                  <a:schemeClr val="bg1"/>
                </a:solidFill>
                <a:latin typeface="Times New Roman" panose="02020603050405020304"/>
                <a:ea typeface="SimSun" panose="02010600030101010101" pitchFamily="2" charset="-122"/>
                <a:sym typeface="+mn-ea"/>
              </a:rPr>
              <a:t>Typical examples include:</a:t>
            </a:r>
            <a:endParaRPr lang="en-US" altLang="en-US" sz="2000" b="1">
              <a:solidFill>
                <a:schemeClr val="bg1"/>
              </a:solidFill>
              <a:latin typeface="Times New Roman" panose="02020603050405020304"/>
              <a:ea typeface="SimSun" panose="02010600030101010101" pitchFamily="2" charset="-122"/>
              <a:sym typeface="+mn-ea"/>
            </a:endParaRPr>
          </a:p>
          <a:p>
            <a:pPr marL="0" indent="0" algn="l" defTabSz="266700">
              <a:spcBef>
                <a:spcPts val="500"/>
              </a:spcBef>
              <a:spcAft>
                <a:spcPts val="500"/>
              </a:spcAft>
              <a:buClr>
                <a:srgbClr val="FFFFFF"/>
              </a:buClr>
              <a:buFont typeface="Arial" panose="020B0604020202020204" pitchFamily="34" charset="0"/>
              <a:buNone/>
            </a:pPr>
            <a:r>
              <a:rPr lang="en-IN" altLang="en-US" sz="2000" b="1">
                <a:solidFill>
                  <a:schemeClr val="bg1"/>
                </a:solidFill>
                <a:latin typeface="Times New Roman" panose="02020603050405020304"/>
                <a:ea typeface="SimSun" panose="02010600030101010101" pitchFamily="2" charset="-122"/>
              </a:rPr>
              <a:t>      </a:t>
            </a:r>
            <a:r>
              <a:rPr lang="en-US" altLang="en-US" sz="2000" b="1">
                <a:solidFill>
                  <a:schemeClr val="bg1"/>
                </a:solidFill>
                <a:latin typeface="Times New Roman" panose="02020603050405020304"/>
                <a:ea typeface="SimSun" panose="02010600030101010101" pitchFamily="2" charset="-122"/>
              </a:rPr>
              <a:t>Picking</a:t>
            </a:r>
            <a:r>
              <a:rPr lang="en-IN" altLang="en-US" sz="2000" b="1">
                <a:solidFill>
                  <a:schemeClr val="bg1"/>
                </a:solidFill>
                <a:latin typeface="Times New Roman" panose="02020603050405020304"/>
                <a:ea typeface="SimSun" panose="02010600030101010101" pitchFamily="2" charset="-122"/>
              </a:rPr>
              <a:t>,</a:t>
            </a:r>
            <a:r>
              <a:rPr lang="en-US" altLang="en-US" sz="2000" b="1">
                <a:solidFill>
                  <a:schemeClr val="bg1"/>
                </a:solidFill>
                <a:latin typeface="Times New Roman" panose="02020603050405020304"/>
                <a:ea typeface="SimSun" panose="02010600030101010101" pitchFamily="2" charset="-122"/>
              </a:rPr>
              <a:t> </a:t>
            </a:r>
            <a:r>
              <a:rPr lang="en-IN" altLang="en-US" sz="2000" b="1">
                <a:solidFill>
                  <a:schemeClr val="bg1"/>
                </a:solidFill>
                <a:latin typeface="Times New Roman" panose="02020603050405020304"/>
                <a:ea typeface="SimSun" panose="02010600030101010101" pitchFamily="2" charset="-122"/>
              </a:rPr>
              <a:t>  </a:t>
            </a:r>
            <a:r>
              <a:rPr lang="en-US" altLang="en-US" sz="2000" b="1">
                <a:solidFill>
                  <a:schemeClr val="bg1"/>
                </a:solidFill>
                <a:latin typeface="Times New Roman" panose="02020603050405020304"/>
                <a:ea typeface="SimSun" panose="02010600030101010101" pitchFamily="2" charset="-122"/>
              </a:rPr>
              <a:t>Putaway</a:t>
            </a:r>
            <a:r>
              <a:rPr lang="en-IN" altLang="en-US" sz="2000" b="1">
                <a:solidFill>
                  <a:schemeClr val="bg1"/>
                </a:solidFill>
                <a:latin typeface="Times New Roman" panose="02020603050405020304"/>
                <a:ea typeface="SimSun" panose="02010600030101010101" pitchFamily="2" charset="-122"/>
              </a:rPr>
              <a:t>,  </a:t>
            </a:r>
            <a:r>
              <a:rPr lang="en-US" altLang="en-US" sz="2000" b="1">
                <a:solidFill>
                  <a:schemeClr val="bg1"/>
                </a:solidFill>
                <a:latin typeface="Times New Roman" panose="02020603050405020304"/>
                <a:ea typeface="SimSun" panose="02010600030101010101" pitchFamily="2" charset="-122"/>
              </a:rPr>
              <a:t>Goods Receipt </a:t>
            </a:r>
            <a:endParaRPr lang="en-US" altLang="en-US" sz="2000" b="1">
              <a:solidFill>
                <a:schemeClr val="bg1"/>
              </a:solidFill>
              <a:latin typeface="Times New Roman" panose="02020603050405020304"/>
              <a:ea typeface="SimSun" panose="02010600030101010101" pitchFamily="2" charset="-122"/>
            </a:endParaRPr>
          </a:p>
          <a:p>
            <a:pPr marL="342900" indent="-342900" algn="l" defTabSz="266700">
              <a:spcBef>
                <a:spcPts val="500"/>
              </a:spcBef>
              <a:spcAft>
                <a:spcPts val="500"/>
              </a:spcAft>
              <a:buClr>
                <a:srgbClr val="FFFFFF"/>
              </a:buClr>
              <a:buFont typeface="Arial" panose="020B0604020202020204" pitchFamily="34" charset="0"/>
              <a:buChar char="•"/>
            </a:pPr>
            <a:r>
              <a:rPr lang="en-US" altLang="en-US" sz="2000" b="1">
                <a:solidFill>
                  <a:schemeClr val="bg1"/>
                </a:solidFill>
                <a:latin typeface="Times New Roman" panose="02020603050405020304"/>
                <a:ea typeface="SimSun" panose="02010600030101010101" pitchFamily="2" charset="-122"/>
              </a:rPr>
              <a:t>Queues help organize warehouse work and distribute activities efficiently.</a:t>
            </a:r>
            <a:endParaRPr lang="en-US" altLang="en-US" sz="2000" b="1">
              <a:solidFill>
                <a:schemeClr val="bg1"/>
              </a:solidFill>
              <a:latin typeface="Times New Roman" panose="02020603050405020304"/>
              <a:ea typeface="SimSun" panose="02010600030101010101" pitchFamily="2" charset="-122"/>
            </a:endParaRPr>
          </a:p>
        </p:txBody>
      </p:sp>
      <p:pic>
        <p:nvPicPr>
          <p:cNvPr id="4" name="Picture 3" descr="WMForgeLogo"/>
          <p:cNvPicPr>
            <a:picLocks noChangeAspect="1"/>
          </p:cNvPicPr>
          <p:nvPr/>
        </p:nvPicPr>
        <p:blipFill>
          <a:blip r:embed="rId1"/>
          <a:stretch>
            <a:fillRect/>
          </a:stretch>
        </p:blipFill>
        <p:spPr>
          <a:xfrm>
            <a:off x="16355695" y="173355"/>
            <a:ext cx="1623695" cy="1623695"/>
          </a:xfrm>
          <a:prstGeom prst="rect">
            <a:avLst/>
          </a:prstGeom>
        </p:spPr>
      </p:pic>
      <p:sp>
        <p:nvSpPr>
          <p:cNvPr id="5" name="Text Box 4"/>
          <p:cNvSpPr txBox="1"/>
          <p:nvPr/>
        </p:nvSpPr>
        <p:spPr>
          <a:xfrm>
            <a:off x="346075" y="1421765"/>
            <a:ext cx="8830945" cy="481330"/>
          </a:xfrm>
          <a:prstGeom prst="rect">
            <a:avLst/>
          </a:prstGeom>
        </p:spPr>
        <p:txBody>
          <a:bodyPr wrap="square">
            <a:noAutofit/>
          </a:bodyPr>
          <a:p>
            <a:pPr defTabSz="266700"/>
            <a:r>
              <a:rPr lang="en-IN" altLang="en-US" sz="1800" b="1">
                <a:solidFill>
                  <a:schemeClr val="bg1"/>
                </a:solidFill>
                <a:latin typeface="Times New Roman" panose="02020603050405020304" charset="0"/>
                <a:ea typeface="SimSun" panose="02010600030101010101" pitchFamily="2" charset="-122"/>
                <a:cs typeface="Times New Roman" panose="02020603050405020304" charset="0"/>
              </a:rPr>
              <a:t>SPRO </a:t>
            </a:r>
            <a:r>
              <a:rPr lang="en-US" altLang="zh-CN" sz="1800" b="1">
                <a:solidFill>
                  <a:schemeClr val="bg1"/>
                </a:solidFill>
                <a:latin typeface="Times New Roman" panose="02020603050405020304" charset="0"/>
                <a:ea typeface="SimSun" panose="02010600030101010101" pitchFamily="2" charset="-122"/>
                <a:cs typeface="Times New Roman" panose="02020603050405020304" charset="0"/>
                <a:sym typeface="+mn-ea"/>
              </a:rPr>
              <a:t>→</a:t>
            </a:r>
            <a:r>
              <a:rPr lang="en-US" altLang="en-US" sz="1800" b="1">
                <a:solidFill>
                  <a:schemeClr val="bg1"/>
                </a:solidFill>
                <a:latin typeface="Times New Roman" panose="02020603050405020304" charset="0"/>
                <a:ea typeface="SimSun" panose="02010600030101010101" pitchFamily="2" charset="-122"/>
                <a:cs typeface="Times New Roman" panose="02020603050405020304" charset="0"/>
                <a:sym typeface="+mn-ea"/>
              </a:rPr>
              <a:t>IMG → Logistics Execution → Mobile Data Entry → RF Queue Management</a:t>
            </a:r>
            <a:endParaRPr lang="en-US" altLang="en-US" sz="1800" b="1">
              <a:solidFill>
                <a:schemeClr val="bg1"/>
              </a:solidFill>
              <a:latin typeface="Times New Roman" panose="02020603050405020304" charset="0"/>
              <a:ea typeface="SimSun" panose="02010600030101010101" pitchFamily="2" charset="-122"/>
              <a:cs typeface="Times New Roman" panose="02020603050405020304" charset="0"/>
              <a:sym typeface="+mn-ea"/>
            </a:endParaRPr>
          </a:p>
        </p:txBody>
      </p:sp>
      <p:sp>
        <p:nvSpPr>
          <p:cNvPr id="2" name="Frame 1"/>
          <p:cNvSpPr/>
          <p:nvPr/>
        </p:nvSpPr>
        <p:spPr>
          <a:xfrm>
            <a:off x="346710" y="2047240"/>
            <a:ext cx="8830945" cy="4548505"/>
          </a:xfrm>
          <a:prstGeom prst="frame">
            <a:avLst/>
          </a:prstGeom>
          <a:gradFill>
            <a:gsLst>
              <a:gs pos="50000">
                <a:schemeClr val="accent1"/>
              </a:gs>
              <a:gs pos="0">
                <a:schemeClr val="accent1">
                  <a:lumMod val="25000"/>
                  <a:lumOff val="75000"/>
                </a:schemeClr>
              </a:gs>
              <a:gs pos="100000">
                <a:schemeClr val="accent1">
                  <a:lumMod val="85000"/>
                </a:schemeClr>
              </a:gs>
            </a:gsLst>
            <a:lin ang="5400000" scaled="1"/>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solidFill>
                <a:schemeClr val="tx1"/>
              </a:solidFill>
            </a:endParaRPr>
          </a:p>
        </p:txBody>
      </p:sp>
      <p:sp>
        <p:nvSpPr>
          <p:cNvPr id="3" name="Frame 2"/>
          <p:cNvSpPr/>
          <p:nvPr/>
        </p:nvSpPr>
        <p:spPr>
          <a:xfrm>
            <a:off x="9686290" y="2047240"/>
            <a:ext cx="8104505" cy="4547235"/>
          </a:xfrm>
          <a:prstGeom prst="frame">
            <a:avLst/>
          </a:prstGeom>
          <a:gradFill>
            <a:gsLst>
              <a:gs pos="50000">
                <a:schemeClr val="accent1"/>
              </a:gs>
              <a:gs pos="0">
                <a:schemeClr val="accent1">
                  <a:lumMod val="25000"/>
                  <a:lumOff val="75000"/>
                </a:schemeClr>
              </a:gs>
              <a:gs pos="100000">
                <a:schemeClr val="accent1">
                  <a:lumMod val="85000"/>
                </a:schemeClr>
              </a:gs>
            </a:gsLst>
            <a:lin ang="5400000" scaled="0"/>
          </a:gra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solidFill>
                <a:schemeClr val="tx1"/>
              </a:solidFill>
            </a:endParaRPr>
          </a:p>
        </p:txBody>
      </p:sp>
      <p:pic>
        <p:nvPicPr>
          <p:cNvPr id="13" name="Picture 27"/>
          <p:cNvPicPr>
            <a:picLocks noChangeAspect="1"/>
          </p:cNvPicPr>
          <p:nvPr/>
        </p:nvPicPr>
        <p:blipFill>
          <a:blip r:embed="rId2"/>
          <a:stretch>
            <a:fillRect/>
          </a:stretch>
        </p:blipFill>
        <p:spPr>
          <a:xfrm>
            <a:off x="916305" y="2599055"/>
            <a:ext cx="7683500" cy="3465830"/>
          </a:xfrm>
          <a:prstGeom prst="rect">
            <a:avLst/>
          </a:prstGeom>
          <a:noFill/>
          <a:ln w="28575" cmpd="sng">
            <a:solidFill>
              <a:schemeClr val="accent1">
                <a:shade val="50000"/>
              </a:schemeClr>
            </a:solidFill>
            <a:prstDash val="solid"/>
          </a:ln>
        </p:spPr>
      </p:pic>
      <p:pic>
        <p:nvPicPr>
          <p:cNvPr id="14" name="Picture 28"/>
          <p:cNvPicPr>
            <a:picLocks noChangeAspect="1"/>
          </p:cNvPicPr>
          <p:nvPr/>
        </p:nvPicPr>
        <p:blipFill>
          <a:blip r:embed="rId3"/>
          <a:stretch>
            <a:fillRect/>
          </a:stretch>
        </p:blipFill>
        <p:spPr>
          <a:xfrm>
            <a:off x="10252710" y="2599055"/>
            <a:ext cx="6939915" cy="3465830"/>
          </a:xfrm>
          <a:prstGeom prst="rect">
            <a:avLst/>
          </a:prstGeom>
          <a:noFill/>
          <a:ln w="28575" cmpd="sng">
            <a:solidFill>
              <a:schemeClr val="accent1">
                <a:shade val="50000"/>
              </a:schemeClr>
            </a:solidFill>
            <a:prstDash val="solid"/>
          </a:ln>
        </p:spPr>
      </p:pic>
    </p:spTree>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994E5"/>
        </a:solidFill>
        <a:effectLst/>
      </p:bgPr>
    </p:bg>
    <p:spTree>
      <p:nvGrpSpPr>
        <p:cNvPr id="115" name="Shape 115"/>
        <p:cNvGrpSpPr/>
        <p:nvPr/>
      </p:nvGrpSpPr>
      <p:grpSpPr>
        <a:xfrm>
          <a:off x="0" y="0"/>
          <a:ext cx="0" cy="0"/>
          <a:chOff x="0" y="0"/>
          <a:chExt cx="0" cy="0"/>
        </a:xfrm>
      </p:grpSpPr>
      <p:sp>
        <p:nvSpPr>
          <p:cNvPr id="134" name="Google Shape;134;p15"/>
          <p:cNvSpPr txBox="1"/>
          <p:nvPr/>
        </p:nvSpPr>
        <p:spPr>
          <a:xfrm>
            <a:off x="1704975" y="616585"/>
            <a:ext cx="6089650" cy="660400"/>
          </a:xfrm>
          <a:prstGeom prst="round2DiagRect">
            <a:avLst/>
          </a:prstGeom>
          <a:solidFill>
            <a:schemeClr val="bg2">
              <a:alpha val="30000"/>
            </a:schemeClr>
          </a:solidFill>
          <a:ln w="25400">
            <a:solidFill>
              <a:schemeClr val="bg1"/>
            </a:solidFill>
          </a:ln>
        </p:spPr>
        <p:txBody>
          <a:bodyPr spcFirstLastPara="1" wrap="square" lIns="0" tIns="0" rIns="0" bIns="0" anchor="t" anchorCtr="0">
            <a:noAutofit/>
          </a:bodyPr>
          <a:lstStyle/>
          <a:p>
            <a:pPr marL="0" marR="0" lvl="0" indent="0" algn="ctr" rtl="0">
              <a:lnSpc>
                <a:spcPct val="120000"/>
              </a:lnSpc>
              <a:spcBef>
                <a:spcPts val="0"/>
              </a:spcBef>
              <a:spcAft>
                <a:spcPts val="0"/>
              </a:spcAft>
              <a:buNone/>
            </a:pPr>
            <a:r>
              <a:rPr lang="en-US" altLang="en-US" sz="24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rPr>
              <a:t>Assign Areas and Activities to Queues</a:t>
            </a:r>
            <a:endParaRPr lang="en-US" altLang="en-US" sz="24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2" name="Text Box 1"/>
          <p:cNvSpPr txBox="1"/>
          <p:nvPr/>
        </p:nvSpPr>
        <p:spPr>
          <a:xfrm>
            <a:off x="831850" y="6852920"/>
            <a:ext cx="7836535" cy="3183890"/>
          </a:xfrm>
          <a:prstGeom prst="round2DiagRect">
            <a:avLst/>
          </a:prstGeom>
          <a:solidFill>
            <a:schemeClr val="bg2">
              <a:alpha val="30000"/>
            </a:schemeClr>
          </a:solidFill>
          <a:ln w="38100">
            <a:solidFill>
              <a:schemeClr val="bg2"/>
            </a:solidFill>
          </a:ln>
        </p:spPr>
        <p:txBody>
          <a:bodyPr>
            <a:noAutofit/>
          </a:bodyPr>
          <a:p>
            <a:pPr marL="342900" indent="-342900" algn="l" defTabSz="266700">
              <a:spcBef>
                <a:spcPts val="500"/>
              </a:spcBef>
              <a:spcAft>
                <a:spcPts val="500"/>
              </a:spcAft>
              <a:buClr>
                <a:srgbClr val="FFFFFF"/>
              </a:buClr>
              <a:buFont typeface="Arial" panose="020B0604020202020204" pitchFamily="34" charset="0"/>
              <a:buChar char="•"/>
            </a:pPr>
            <a:r>
              <a:rPr lang="en-US" altLang="en-US" sz="2000" b="1">
                <a:solidFill>
                  <a:schemeClr val="bg1"/>
                </a:solidFill>
                <a:latin typeface="Times New Roman" panose="02020603050405020304"/>
                <a:ea typeface="SimSun" panose="02010600030101010101" pitchFamily="2" charset="-122"/>
              </a:rPr>
              <a:t>SAP looks at where a Transfer Order is moving stock from and where it is moving stock to, and based on those details, it decides which RF queue the TO should go to</a:t>
            </a:r>
            <a:endParaRPr lang="en-US" altLang="en-US" sz="2000" b="1">
              <a:solidFill>
                <a:schemeClr val="bg1"/>
              </a:solidFill>
              <a:latin typeface="Times New Roman" panose="02020603050405020304"/>
              <a:ea typeface="SimSun" panose="02010600030101010101" pitchFamily="2" charset="-122"/>
            </a:endParaRPr>
          </a:p>
          <a:p>
            <a:pPr marL="342900" indent="-342900" algn="l" defTabSz="266700">
              <a:spcBef>
                <a:spcPts val="500"/>
              </a:spcBef>
              <a:spcAft>
                <a:spcPts val="500"/>
              </a:spcAft>
              <a:buClr>
                <a:srgbClr val="FFFFFF"/>
              </a:buClr>
              <a:buFont typeface="Arial" panose="020B0604020202020204" pitchFamily="34" charset="0"/>
              <a:buChar char="•"/>
            </a:pPr>
            <a:r>
              <a:rPr lang="en-US" altLang="en-US" sz="2000" b="1">
                <a:solidFill>
                  <a:schemeClr val="bg1"/>
                </a:solidFill>
                <a:latin typeface="Times New Roman" panose="02020603050405020304"/>
                <a:ea typeface="SimSun" panose="02010600030101010101" pitchFamily="2" charset="-122"/>
              </a:rPr>
              <a:t>Assign the relevant warehouse areas and activities to the appropriate queues.</a:t>
            </a:r>
            <a:endParaRPr lang="en-US" altLang="en-US" sz="2000" b="1">
              <a:solidFill>
                <a:schemeClr val="bg1"/>
              </a:solidFill>
              <a:latin typeface="Times New Roman" panose="02020603050405020304"/>
              <a:ea typeface="SimSun" panose="02010600030101010101" pitchFamily="2" charset="-122"/>
            </a:endParaRPr>
          </a:p>
        </p:txBody>
      </p:sp>
      <p:pic>
        <p:nvPicPr>
          <p:cNvPr id="4" name="Picture 3" descr="WMForgeLogo"/>
          <p:cNvPicPr>
            <a:picLocks noChangeAspect="1"/>
          </p:cNvPicPr>
          <p:nvPr/>
        </p:nvPicPr>
        <p:blipFill>
          <a:blip r:embed="rId1"/>
          <a:stretch>
            <a:fillRect/>
          </a:stretch>
        </p:blipFill>
        <p:spPr>
          <a:xfrm>
            <a:off x="16355695" y="173355"/>
            <a:ext cx="1623695" cy="1623695"/>
          </a:xfrm>
          <a:prstGeom prst="rect">
            <a:avLst/>
          </a:prstGeom>
        </p:spPr>
      </p:pic>
      <p:sp>
        <p:nvSpPr>
          <p:cNvPr id="5" name="Text Box 4"/>
          <p:cNvSpPr txBox="1"/>
          <p:nvPr/>
        </p:nvSpPr>
        <p:spPr>
          <a:xfrm>
            <a:off x="1704975" y="1421130"/>
            <a:ext cx="8830945" cy="481330"/>
          </a:xfrm>
          <a:prstGeom prst="rect">
            <a:avLst/>
          </a:prstGeom>
        </p:spPr>
        <p:txBody>
          <a:bodyPr wrap="square">
            <a:noAutofit/>
          </a:bodyPr>
          <a:p>
            <a:pPr defTabSz="266700"/>
            <a:r>
              <a:rPr lang="en-IN" altLang="en-US" sz="1800" b="1">
                <a:solidFill>
                  <a:schemeClr val="bg1"/>
                </a:solidFill>
                <a:latin typeface="Times New Roman" panose="02020603050405020304" charset="0"/>
                <a:ea typeface="SimSun" panose="02010600030101010101" pitchFamily="2" charset="-122"/>
                <a:cs typeface="Times New Roman" panose="02020603050405020304" charset="0"/>
              </a:rPr>
              <a:t>SPRO </a:t>
            </a:r>
            <a:r>
              <a:rPr lang="en-US" altLang="zh-CN" sz="1800" b="1">
                <a:solidFill>
                  <a:schemeClr val="bg1"/>
                </a:solidFill>
                <a:latin typeface="Times New Roman" panose="02020603050405020304" charset="0"/>
                <a:ea typeface="SimSun" panose="02010600030101010101" pitchFamily="2" charset="-122"/>
                <a:cs typeface="Times New Roman" panose="02020603050405020304" charset="0"/>
                <a:sym typeface="+mn-ea"/>
              </a:rPr>
              <a:t>→</a:t>
            </a:r>
            <a:r>
              <a:rPr lang="en-US" altLang="en-US" sz="1800" b="1">
                <a:solidFill>
                  <a:schemeClr val="bg1"/>
                </a:solidFill>
                <a:latin typeface="Times New Roman" panose="02020603050405020304" charset="0"/>
                <a:ea typeface="SimSun" panose="02010600030101010101" pitchFamily="2" charset="-122"/>
                <a:cs typeface="Times New Roman" panose="02020603050405020304" charset="0"/>
                <a:sym typeface="+mn-ea"/>
              </a:rPr>
              <a:t>IMG → Logistics Execution → Mobile Data Entry → RF Queue Management</a:t>
            </a:r>
            <a:endParaRPr lang="en-US" altLang="en-US" sz="1800" b="1">
              <a:solidFill>
                <a:schemeClr val="bg1"/>
              </a:solidFill>
              <a:latin typeface="Times New Roman" panose="02020603050405020304" charset="0"/>
              <a:ea typeface="SimSun" panose="02010600030101010101" pitchFamily="2" charset="-122"/>
              <a:cs typeface="Times New Roman" panose="02020603050405020304" charset="0"/>
              <a:sym typeface="+mn-ea"/>
            </a:endParaRPr>
          </a:p>
        </p:txBody>
      </p:sp>
      <p:sp>
        <p:nvSpPr>
          <p:cNvPr id="6" name="Google Shape;134;p15"/>
          <p:cNvSpPr txBox="1"/>
          <p:nvPr/>
        </p:nvSpPr>
        <p:spPr>
          <a:xfrm>
            <a:off x="10988675" y="616585"/>
            <a:ext cx="4705350" cy="660400"/>
          </a:xfrm>
          <a:prstGeom prst="round2DiagRect">
            <a:avLst/>
          </a:prstGeom>
          <a:solidFill>
            <a:schemeClr val="bg2">
              <a:alpha val="30000"/>
            </a:schemeClr>
          </a:solidFill>
          <a:ln w="25400">
            <a:solidFill>
              <a:schemeClr val="bg1"/>
            </a:solidFill>
          </a:ln>
        </p:spPr>
        <p:txBody>
          <a:bodyPr spcFirstLastPara="1" wrap="square" lIns="0" tIns="0" rIns="0" bIns="0" anchor="t" anchorCtr="0">
            <a:noAutofit/>
          </a:bodyPr>
          <a:lstStyle/>
          <a:p>
            <a:pPr marL="0" marR="0" lvl="0" indent="0" algn="ctr" rtl="0">
              <a:lnSpc>
                <a:spcPct val="120000"/>
              </a:lnSpc>
              <a:spcBef>
                <a:spcPts val="0"/>
              </a:spcBef>
              <a:spcAft>
                <a:spcPts val="0"/>
              </a:spcAft>
              <a:buNone/>
            </a:pPr>
            <a:r>
              <a:rPr lang="en-US" altLang="en-US" sz="24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rPr>
              <a:t>Assign Processors to Queues</a:t>
            </a:r>
            <a:endParaRPr lang="en-US" altLang="en-US" sz="24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7" name="Diagonal Corners Rounded Rectangle 6"/>
          <p:cNvSpPr/>
          <p:nvPr/>
        </p:nvSpPr>
        <p:spPr>
          <a:xfrm>
            <a:off x="831215" y="2047875"/>
            <a:ext cx="7837805" cy="4479925"/>
          </a:xfrm>
          <a:prstGeom prst="round2Diag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15" name="Picture 29"/>
          <p:cNvPicPr>
            <a:picLocks noChangeAspect="1"/>
          </p:cNvPicPr>
          <p:nvPr/>
        </p:nvPicPr>
        <p:blipFill>
          <a:blip r:embed="rId2"/>
          <a:stretch>
            <a:fillRect/>
          </a:stretch>
        </p:blipFill>
        <p:spPr>
          <a:xfrm>
            <a:off x="1164590" y="2352040"/>
            <a:ext cx="7197090" cy="3922395"/>
          </a:xfrm>
          <a:prstGeom prst="round2DiagRect">
            <a:avLst/>
          </a:prstGeom>
          <a:noFill/>
          <a:ln w="28575" cmpd="sng">
            <a:solidFill>
              <a:schemeClr val="bg1"/>
            </a:solidFill>
            <a:prstDash val="solid"/>
          </a:ln>
        </p:spPr>
      </p:pic>
      <p:sp>
        <p:nvSpPr>
          <p:cNvPr id="10" name="Diagonal Corners Rounded Rectangle 9"/>
          <p:cNvSpPr/>
          <p:nvPr/>
        </p:nvSpPr>
        <p:spPr>
          <a:xfrm>
            <a:off x="9422130" y="2046605"/>
            <a:ext cx="7837805" cy="4479925"/>
          </a:xfrm>
          <a:prstGeom prst="round2DiagRect">
            <a:avLst/>
          </a:prstGeom>
          <a:solidFill>
            <a:schemeClr val="bg2"/>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11" name="Picture 30"/>
          <p:cNvPicPr>
            <a:picLocks noChangeAspect="1"/>
          </p:cNvPicPr>
          <p:nvPr/>
        </p:nvPicPr>
        <p:blipFill>
          <a:blip r:embed="rId3"/>
          <a:stretch>
            <a:fillRect/>
          </a:stretch>
        </p:blipFill>
        <p:spPr>
          <a:xfrm>
            <a:off x="9742805" y="2352040"/>
            <a:ext cx="7197090" cy="3870960"/>
          </a:xfrm>
          <a:prstGeom prst="round2DiagRect">
            <a:avLst/>
          </a:prstGeom>
          <a:noFill/>
          <a:ln w="28575" cmpd="sng">
            <a:solidFill>
              <a:schemeClr val="bg1"/>
            </a:solidFill>
            <a:prstDash val="solid"/>
          </a:ln>
        </p:spPr>
      </p:pic>
      <p:sp>
        <p:nvSpPr>
          <p:cNvPr id="12" name="Text Box 11"/>
          <p:cNvSpPr txBox="1"/>
          <p:nvPr/>
        </p:nvSpPr>
        <p:spPr>
          <a:xfrm>
            <a:off x="9422130" y="6877050"/>
            <a:ext cx="7837170" cy="3183890"/>
          </a:xfrm>
          <a:prstGeom prst="round2DiagRect">
            <a:avLst/>
          </a:prstGeom>
          <a:solidFill>
            <a:schemeClr val="bg2">
              <a:alpha val="30000"/>
            </a:schemeClr>
          </a:solidFill>
          <a:ln w="38100">
            <a:solidFill>
              <a:schemeClr val="bg2"/>
            </a:solidFill>
          </a:ln>
        </p:spPr>
        <p:txBody>
          <a:bodyPr>
            <a:noAutofit/>
          </a:bodyPr>
          <a:p>
            <a:pPr marL="342900" indent="-342900" algn="l" defTabSz="266700">
              <a:spcBef>
                <a:spcPts val="500"/>
              </a:spcBef>
              <a:spcAft>
                <a:spcPts val="500"/>
              </a:spcAft>
              <a:buClr>
                <a:srgbClr val="FFFFFF"/>
              </a:buClr>
              <a:buFont typeface="Arial" panose="020B0604020202020204" pitchFamily="34" charset="0"/>
              <a:buChar char="•"/>
            </a:pPr>
            <a:r>
              <a:rPr lang="en-US" altLang="en-US" sz="2000" b="1">
                <a:solidFill>
                  <a:schemeClr val="bg1"/>
                </a:solidFill>
                <a:latin typeface="Times New Roman" panose="02020603050405020304"/>
                <a:ea typeface="SimSun" panose="02010600030101010101" pitchFamily="2" charset="-122"/>
              </a:rPr>
              <a:t>Assign the relevant warehouse users/processors to the queues.</a:t>
            </a:r>
            <a:endParaRPr lang="en-US" altLang="en-US" sz="2000" b="1">
              <a:solidFill>
                <a:schemeClr val="bg1"/>
              </a:solidFill>
              <a:latin typeface="Times New Roman" panose="02020603050405020304"/>
              <a:ea typeface="SimSun" panose="02010600030101010101" pitchFamily="2" charset="-122"/>
            </a:endParaRPr>
          </a:p>
          <a:p>
            <a:pPr marL="342900" indent="-342900" algn="l" defTabSz="266700">
              <a:spcBef>
                <a:spcPts val="500"/>
              </a:spcBef>
              <a:spcAft>
                <a:spcPts val="500"/>
              </a:spcAft>
              <a:buClr>
                <a:srgbClr val="FFFFFF"/>
              </a:buClr>
              <a:buFont typeface="Arial" panose="020B0604020202020204" pitchFamily="34" charset="0"/>
              <a:buChar char="•"/>
            </a:pPr>
            <a:r>
              <a:rPr lang="en-US" altLang="en-US" sz="2000" b="1">
                <a:solidFill>
                  <a:schemeClr val="bg1"/>
                </a:solidFill>
                <a:latin typeface="Times New Roman" panose="02020603050405020304"/>
                <a:ea typeface="SimSun" panose="02010600030101010101" pitchFamily="2" charset="-122"/>
              </a:rPr>
              <a:t>This determines which users can process the warehouse activities assigned to those queues.</a:t>
            </a:r>
            <a:endParaRPr lang="en-US" altLang="en-US" sz="2000" b="1">
              <a:solidFill>
                <a:schemeClr val="bg1"/>
              </a:solidFill>
              <a:latin typeface="Times New Roman" panose="02020603050405020304"/>
              <a:ea typeface="SimSun"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994E5"/>
        </a:solidFill>
        <a:effectLst/>
      </p:bgPr>
    </p:bg>
    <p:spTree>
      <p:nvGrpSpPr>
        <p:cNvPr id="115" name="Shape 115"/>
        <p:cNvGrpSpPr/>
        <p:nvPr/>
      </p:nvGrpSpPr>
      <p:grpSpPr>
        <a:xfrm>
          <a:off x="0" y="0"/>
          <a:ext cx="0" cy="0"/>
          <a:chOff x="0" y="0"/>
          <a:chExt cx="0" cy="0"/>
        </a:xfrm>
      </p:grpSpPr>
      <p:sp>
        <p:nvSpPr>
          <p:cNvPr id="134" name="Google Shape;134;p15"/>
          <p:cNvSpPr txBox="1"/>
          <p:nvPr/>
        </p:nvSpPr>
        <p:spPr>
          <a:xfrm>
            <a:off x="1704975" y="394335"/>
            <a:ext cx="6089650" cy="660400"/>
          </a:xfrm>
          <a:prstGeom prst="rect">
            <a:avLst/>
          </a:prstGeom>
          <a:solidFill>
            <a:schemeClr val="bg2">
              <a:alpha val="30000"/>
            </a:schemeClr>
          </a:solidFill>
          <a:ln w="25400">
            <a:solidFill>
              <a:schemeClr val="bg1"/>
            </a:solidFill>
          </a:ln>
        </p:spPr>
        <p:txBody>
          <a:bodyPr spcFirstLastPara="1" wrap="square" lIns="0" tIns="0" rIns="0" bIns="0" anchor="t" anchorCtr="0">
            <a:noAutofit/>
          </a:bodyPr>
          <a:lstStyle/>
          <a:p>
            <a:pPr marL="0" marR="0" lvl="0" indent="0" algn="ctr" rtl="0">
              <a:lnSpc>
                <a:spcPct val="150000"/>
              </a:lnSpc>
              <a:spcBef>
                <a:spcPts val="0"/>
              </a:spcBef>
              <a:spcAft>
                <a:spcPts val="0"/>
              </a:spcAft>
              <a:buNone/>
            </a:pPr>
            <a:r>
              <a:rPr lang="en-US" altLang="en-US" sz="24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rPr>
              <a:t>Add User for Mobile Data Entry</a:t>
            </a:r>
            <a:endParaRPr lang="en-US" altLang="en-US" sz="24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2" name="Text Box 1"/>
          <p:cNvSpPr txBox="1"/>
          <p:nvPr/>
        </p:nvSpPr>
        <p:spPr>
          <a:xfrm>
            <a:off x="831850" y="6852920"/>
            <a:ext cx="7836535" cy="3183890"/>
          </a:xfrm>
          <a:prstGeom prst="rect">
            <a:avLst/>
          </a:prstGeom>
          <a:solidFill>
            <a:schemeClr val="bg2">
              <a:alpha val="30000"/>
            </a:schemeClr>
          </a:solidFill>
          <a:ln w="38100">
            <a:solidFill>
              <a:schemeClr val="bg2"/>
            </a:solidFill>
          </a:ln>
        </p:spPr>
        <p:txBody>
          <a:bodyPr>
            <a:noAutofit/>
          </a:bodyPr>
          <a:p>
            <a:pPr marL="342900" indent="-342900" algn="l" defTabSz="266700">
              <a:spcBef>
                <a:spcPts val="500"/>
              </a:spcBef>
              <a:spcAft>
                <a:spcPts val="500"/>
              </a:spcAft>
              <a:buClr>
                <a:srgbClr val="FFFFFF"/>
              </a:buClr>
              <a:buFont typeface="Arial" panose="020B0604020202020204" pitchFamily="34" charset="0"/>
              <a:buChar char="•"/>
            </a:pPr>
            <a:r>
              <a:rPr lang="en-US" altLang="en-US" sz="2000" b="1">
                <a:solidFill>
                  <a:schemeClr val="bg1"/>
                </a:solidFill>
                <a:latin typeface="Times New Roman" panose="02020603050405020304"/>
                <a:ea typeface="SimSun" panose="02010600030101010101" pitchFamily="2" charset="-122"/>
              </a:rPr>
              <a:t>SAP looks at where a Transfer Order is moving stock from and where it is moving stock to, and based on those details, it decides which RF queue the TO should go to</a:t>
            </a:r>
            <a:endParaRPr lang="en-US" altLang="en-US" sz="2000" b="1">
              <a:solidFill>
                <a:schemeClr val="bg1"/>
              </a:solidFill>
              <a:latin typeface="Times New Roman" panose="02020603050405020304"/>
              <a:ea typeface="SimSun" panose="02010600030101010101" pitchFamily="2" charset="-122"/>
            </a:endParaRPr>
          </a:p>
          <a:p>
            <a:pPr marL="342900" indent="-342900" algn="l" defTabSz="266700">
              <a:spcBef>
                <a:spcPts val="500"/>
              </a:spcBef>
              <a:spcAft>
                <a:spcPts val="500"/>
              </a:spcAft>
              <a:buClr>
                <a:srgbClr val="FFFFFF"/>
              </a:buClr>
              <a:buFont typeface="Arial" panose="020B0604020202020204" pitchFamily="34" charset="0"/>
              <a:buChar char="•"/>
            </a:pPr>
            <a:r>
              <a:rPr lang="en-US" altLang="en-US" sz="2000" b="1">
                <a:solidFill>
                  <a:schemeClr val="bg1"/>
                </a:solidFill>
                <a:latin typeface="Times New Roman" panose="02020603050405020304"/>
                <a:ea typeface="SimSun" panose="02010600030101010101" pitchFamily="2" charset="-122"/>
              </a:rPr>
              <a:t>Assign the relevant warehouse areas and activities to the appropriate queues.</a:t>
            </a:r>
            <a:endParaRPr lang="en-US" altLang="en-US" sz="2000" b="1">
              <a:solidFill>
                <a:schemeClr val="bg1"/>
              </a:solidFill>
              <a:latin typeface="Times New Roman" panose="02020603050405020304"/>
              <a:ea typeface="SimSun" panose="02010600030101010101" pitchFamily="2" charset="-122"/>
            </a:endParaRPr>
          </a:p>
        </p:txBody>
      </p:sp>
      <p:pic>
        <p:nvPicPr>
          <p:cNvPr id="4" name="Picture 3" descr="WMForgeLogo"/>
          <p:cNvPicPr>
            <a:picLocks noChangeAspect="1"/>
          </p:cNvPicPr>
          <p:nvPr/>
        </p:nvPicPr>
        <p:blipFill>
          <a:blip r:embed="rId1"/>
          <a:stretch>
            <a:fillRect/>
          </a:stretch>
        </p:blipFill>
        <p:spPr>
          <a:xfrm>
            <a:off x="16355695" y="173355"/>
            <a:ext cx="1623695" cy="1623695"/>
          </a:xfrm>
          <a:prstGeom prst="rect">
            <a:avLst/>
          </a:prstGeom>
        </p:spPr>
      </p:pic>
      <p:sp>
        <p:nvSpPr>
          <p:cNvPr id="6" name="Google Shape;134;p15"/>
          <p:cNvSpPr txBox="1"/>
          <p:nvPr/>
        </p:nvSpPr>
        <p:spPr>
          <a:xfrm>
            <a:off x="10536555" y="394335"/>
            <a:ext cx="5157470" cy="660400"/>
          </a:xfrm>
          <a:prstGeom prst="rect">
            <a:avLst/>
          </a:prstGeom>
          <a:solidFill>
            <a:schemeClr val="bg2">
              <a:alpha val="30000"/>
            </a:schemeClr>
          </a:solidFill>
          <a:ln w="25400">
            <a:solidFill>
              <a:schemeClr val="bg1"/>
            </a:solidFill>
          </a:ln>
        </p:spPr>
        <p:txBody>
          <a:bodyPr spcFirstLastPara="1" wrap="square" lIns="0" tIns="0" rIns="0" bIns="0" anchor="t" anchorCtr="0">
            <a:noAutofit/>
          </a:bodyPr>
          <a:lstStyle/>
          <a:p>
            <a:pPr marL="0" marR="0" lvl="0" indent="0" algn="ctr" rtl="0">
              <a:lnSpc>
                <a:spcPct val="150000"/>
              </a:lnSpc>
              <a:spcBef>
                <a:spcPts val="0"/>
              </a:spcBef>
              <a:spcAft>
                <a:spcPts val="0"/>
              </a:spcAft>
              <a:buNone/>
            </a:pPr>
            <a:r>
              <a:rPr lang="en-US" altLang="en-US" sz="24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rPr>
              <a:t>Log On to Mobile Data Entry</a:t>
            </a:r>
            <a:endParaRPr lang="en-US" altLang="en-US" sz="24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7" name="Rectangle 6"/>
          <p:cNvSpPr/>
          <p:nvPr/>
        </p:nvSpPr>
        <p:spPr>
          <a:xfrm>
            <a:off x="831215" y="2047875"/>
            <a:ext cx="7837805" cy="4479925"/>
          </a:xfrm>
          <a:prstGeom prst="rect">
            <a:avLst/>
          </a:prstGeom>
          <a:solidFill>
            <a:schemeClr val="bg2">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2" name="Text Box 11"/>
          <p:cNvSpPr txBox="1"/>
          <p:nvPr/>
        </p:nvSpPr>
        <p:spPr>
          <a:xfrm>
            <a:off x="9335135" y="8595360"/>
            <a:ext cx="8156575" cy="1465580"/>
          </a:xfrm>
          <a:prstGeom prst="rect">
            <a:avLst/>
          </a:prstGeom>
          <a:solidFill>
            <a:schemeClr val="bg2">
              <a:alpha val="30000"/>
            </a:schemeClr>
          </a:solidFill>
          <a:ln w="38100">
            <a:solidFill>
              <a:schemeClr val="bg2"/>
            </a:solidFill>
          </a:ln>
        </p:spPr>
        <p:txBody>
          <a:bodyPr>
            <a:noAutofit/>
          </a:bodyPr>
          <a:p>
            <a:pPr marL="342900" indent="-342900" algn="l" defTabSz="266700">
              <a:spcBef>
                <a:spcPts val="500"/>
              </a:spcBef>
              <a:spcAft>
                <a:spcPts val="500"/>
              </a:spcAft>
              <a:buClr>
                <a:srgbClr val="FFFFFF"/>
              </a:buClr>
              <a:buFont typeface="Arial" panose="020B0604020202020204" pitchFamily="34" charset="0"/>
              <a:buChar char="•"/>
            </a:pPr>
            <a:r>
              <a:rPr lang="en-US" altLang="en-US" sz="2000" b="1">
                <a:solidFill>
                  <a:schemeClr val="bg1"/>
                </a:solidFill>
                <a:latin typeface="Times New Roman" panose="02020603050405020304"/>
                <a:ea typeface="SimSun" panose="02010600030101010101" pitchFamily="2" charset="-122"/>
              </a:rPr>
              <a:t>This is the RF/Mobile Data Entry initial logon transaction.</a:t>
            </a:r>
            <a:endParaRPr lang="en-US" altLang="en-US" sz="2000" b="1">
              <a:solidFill>
                <a:schemeClr val="bg1"/>
              </a:solidFill>
              <a:latin typeface="Times New Roman" panose="02020603050405020304"/>
              <a:ea typeface="SimSun" panose="02010600030101010101" pitchFamily="2" charset="-122"/>
            </a:endParaRPr>
          </a:p>
          <a:p>
            <a:pPr marL="342900" indent="-342900" algn="l" defTabSz="266700">
              <a:spcBef>
                <a:spcPts val="500"/>
              </a:spcBef>
              <a:spcAft>
                <a:spcPts val="500"/>
              </a:spcAft>
              <a:buClr>
                <a:srgbClr val="FFFFFF"/>
              </a:buClr>
              <a:buFont typeface="Arial" panose="020B0604020202020204" pitchFamily="34" charset="0"/>
              <a:buChar char="•"/>
            </a:pPr>
            <a:r>
              <a:rPr lang="en-US" altLang="en-US" sz="2000" b="1">
                <a:solidFill>
                  <a:schemeClr val="bg1"/>
                </a:solidFill>
                <a:latin typeface="Times New Roman" panose="02020603050405020304"/>
                <a:ea typeface="SimSun" panose="02010600030101010101" pitchFamily="2" charset="-122"/>
              </a:rPr>
              <a:t>After logging in, the user can access the RF menu and perform the warehouse activities assigned to them.</a:t>
            </a:r>
            <a:endParaRPr lang="en-US" altLang="en-US" sz="2000" b="1">
              <a:solidFill>
                <a:schemeClr val="bg1"/>
              </a:solidFill>
              <a:latin typeface="Times New Roman" panose="02020603050405020304"/>
              <a:ea typeface="SimSun" panose="02010600030101010101" pitchFamily="2" charset="-122"/>
            </a:endParaRPr>
          </a:p>
        </p:txBody>
      </p:sp>
      <p:pic>
        <p:nvPicPr>
          <p:cNvPr id="17" name="Picture 31"/>
          <p:cNvPicPr>
            <a:picLocks noChangeAspect="1"/>
          </p:cNvPicPr>
          <p:nvPr/>
        </p:nvPicPr>
        <p:blipFill>
          <a:blip r:embed="rId2"/>
          <a:stretch>
            <a:fillRect/>
          </a:stretch>
        </p:blipFill>
        <p:spPr>
          <a:xfrm>
            <a:off x="1151255" y="2384425"/>
            <a:ext cx="7228205" cy="3902075"/>
          </a:xfrm>
          <a:prstGeom prst="rect">
            <a:avLst/>
          </a:prstGeom>
          <a:gradFill>
            <a:gsLst>
              <a:gs pos="50000">
                <a:schemeClr val="accent5"/>
              </a:gs>
              <a:gs pos="0">
                <a:schemeClr val="accent5">
                  <a:lumMod val="25000"/>
                  <a:lumOff val="75000"/>
                </a:schemeClr>
              </a:gs>
              <a:gs pos="100000">
                <a:schemeClr val="accent5">
                  <a:lumMod val="85000"/>
                </a:schemeClr>
              </a:gs>
            </a:gsLst>
            <a:lin ang="5400000" scaled="0"/>
          </a:gradFill>
          <a:ln w="28575" cmpd="sng">
            <a:solidFill>
              <a:schemeClr val="accent1">
                <a:shade val="50000"/>
              </a:schemeClr>
            </a:solidFill>
            <a:prstDash val="solid"/>
          </a:ln>
        </p:spPr>
      </p:pic>
      <p:sp>
        <p:nvSpPr>
          <p:cNvPr id="13" name="Rectangle 12"/>
          <p:cNvSpPr/>
          <p:nvPr/>
        </p:nvSpPr>
        <p:spPr>
          <a:xfrm>
            <a:off x="9335770" y="2116455"/>
            <a:ext cx="3872865" cy="5925185"/>
          </a:xfrm>
          <a:prstGeom prst="rect">
            <a:avLst/>
          </a:prstGeom>
          <a:solidFill>
            <a:schemeClr val="bg2">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sp>
        <p:nvSpPr>
          <p:cNvPr id="14" name="Rectangle 13"/>
          <p:cNvSpPr/>
          <p:nvPr/>
        </p:nvSpPr>
        <p:spPr>
          <a:xfrm>
            <a:off x="13618210" y="2116455"/>
            <a:ext cx="3872865" cy="5925185"/>
          </a:xfrm>
          <a:prstGeom prst="rect">
            <a:avLst/>
          </a:prstGeom>
          <a:solidFill>
            <a:schemeClr val="bg2">
              <a:lumMod val="60000"/>
              <a:lumOff val="4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p>
        </p:txBody>
      </p:sp>
      <p:pic>
        <p:nvPicPr>
          <p:cNvPr id="16" name="Picture 32"/>
          <p:cNvPicPr>
            <a:picLocks noChangeAspect="1"/>
          </p:cNvPicPr>
          <p:nvPr/>
        </p:nvPicPr>
        <p:blipFill>
          <a:blip r:embed="rId3"/>
          <a:stretch>
            <a:fillRect/>
          </a:stretch>
        </p:blipFill>
        <p:spPr>
          <a:xfrm>
            <a:off x="9627235" y="2384425"/>
            <a:ext cx="3279140" cy="5339715"/>
          </a:xfrm>
          <a:prstGeom prst="rect">
            <a:avLst/>
          </a:prstGeom>
          <a:noFill/>
          <a:ln w="28575" cmpd="sng">
            <a:solidFill>
              <a:schemeClr val="accent1">
                <a:shade val="50000"/>
              </a:schemeClr>
            </a:solidFill>
            <a:prstDash val="solid"/>
          </a:ln>
        </p:spPr>
      </p:pic>
      <p:pic>
        <p:nvPicPr>
          <p:cNvPr id="19" name="Picture 33"/>
          <p:cNvPicPr>
            <a:picLocks noChangeAspect="1"/>
          </p:cNvPicPr>
          <p:nvPr/>
        </p:nvPicPr>
        <p:blipFill>
          <a:blip r:embed="rId4"/>
          <a:stretch>
            <a:fillRect/>
          </a:stretch>
        </p:blipFill>
        <p:spPr>
          <a:xfrm>
            <a:off x="13940155" y="2384425"/>
            <a:ext cx="3230245" cy="5339080"/>
          </a:xfrm>
          <a:prstGeom prst="rect">
            <a:avLst/>
          </a:prstGeom>
          <a:noFill/>
          <a:ln w="28575" cmpd="sng">
            <a:solidFill>
              <a:schemeClr val="accent1">
                <a:shade val="50000"/>
              </a:schemeClr>
            </a:solidFill>
            <a:prstDash val="solid"/>
          </a:ln>
        </p:spPr>
      </p:pic>
      <p:sp>
        <p:nvSpPr>
          <p:cNvPr id="20" name="Text Box 19"/>
          <p:cNvSpPr txBox="1"/>
          <p:nvPr/>
        </p:nvSpPr>
        <p:spPr>
          <a:xfrm>
            <a:off x="3299460" y="1296035"/>
            <a:ext cx="2857500" cy="521970"/>
          </a:xfrm>
          <a:prstGeom prst="rect">
            <a:avLst/>
          </a:prstGeom>
          <a:gradFill>
            <a:gsLst>
              <a:gs pos="50000">
                <a:schemeClr val="accent1"/>
              </a:gs>
              <a:gs pos="0">
                <a:schemeClr val="accent1">
                  <a:lumMod val="25000"/>
                  <a:lumOff val="75000"/>
                </a:schemeClr>
              </a:gs>
              <a:gs pos="100000">
                <a:schemeClr val="accent1">
                  <a:lumMod val="85000"/>
                </a:schemeClr>
              </a:gs>
            </a:gsLst>
            <a:lin ang="5400000" scaled="1"/>
          </a:gradFill>
          <a:ln w="25400">
            <a:solidFill>
              <a:schemeClr val="bg1"/>
            </a:solidFill>
          </a:ln>
        </p:spPr>
        <p:txBody>
          <a:bodyPr wrap="square">
            <a:spAutoFit/>
          </a:bodyPr>
          <a:p>
            <a:pPr defTabSz="266700"/>
            <a:r>
              <a:rPr lang="en-US" altLang="zh-CN" sz="2800" b="1">
                <a:solidFill>
                  <a:schemeClr val="bg1"/>
                </a:solidFill>
                <a:latin typeface="Times New Roman" panose="02020603050405020304" charset="0"/>
                <a:ea typeface="SimSun" panose="02010600030101010101" pitchFamily="2" charset="-122"/>
                <a:cs typeface="Times New Roman" panose="02020603050405020304" charset="0"/>
              </a:rPr>
              <a:t>T-Code: LRFMD</a:t>
            </a:r>
            <a:endParaRPr lang="en-US" altLang="zh-CN" sz="2800" b="1">
              <a:solidFill>
                <a:schemeClr val="bg1"/>
              </a:solidFill>
              <a:latin typeface="Times New Roman" panose="02020603050405020304" charset="0"/>
              <a:ea typeface="SimSun" panose="02010600030101010101" pitchFamily="2" charset="-122"/>
              <a:cs typeface="Times New Roman" panose="02020603050405020304" charset="0"/>
            </a:endParaRPr>
          </a:p>
        </p:txBody>
      </p:sp>
      <p:sp>
        <p:nvSpPr>
          <p:cNvPr id="23" name="Text Box 22"/>
          <p:cNvSpPr txBox="1"/>
          <p:nvPr/>
        </p:nvSpPr>
        <p:spPr>
          <a:xfrm>
            <a:off x="11686540" y="1391285"/>
            <a:ext cx="2857500" cy="521970"/>
          </a:xfrm>
          <a:prstGeom prst="rect">
            <a:avLst/>
          </a:prstGeom>
          <a:gradFill>
            <a:gsLst>
              <a:gs pos="50000">
                <a:schemeClr val="accent1"/>
              </a:gs>
              <a:gs pos="0">
                <a:schemeClr val="accent1">
                  <a:lumMod val="25000"/>
                  <a:lumOff val="75000"/>
                </a:schemeClr>
              </a:gs>
              <a:gs pos="100000">
                <a:schemeClr val="accent1">
                  <a:lumMod val="85000"/>
                </a:schemeClr>
              </a:gs>
            </a:gsLst>
            <a:lin ang="5400000" scaled="1"/>
          </a:gradFill>
          <a:ln w="25400">
            <a:solidFill>
              <a:schemeClr val="bg1"/>
            </a:solidFill>
          </a:ln>
        </p:spPr>
        <p:txBody>
          <a:bodyPr wrap="square">
            <a:spAutoFit/>
          </a:bodyPr>
          <a:p>
            <a:pPr defTabSz="266700"/>
            <a:r>
              <a:rPr lang="en-US" altLang="zh-CN" sz="2800" b="1">
                <a:solidFill>
                  <a:schemeClr val="bg1"/>
                </a:solidFill>
                <a:latin typeface="Times New Roman" panose="02020603050405020304" charset="0"/>
                <a:ea typeface="SimSun" panose="02010600030101010101" pitchFamily="2" charset="-122"/>
                <a:cs typeface="Times New Roman" panose="02020603050405020304" charset="0"/>
              </a:rPr>
              <a:t>T-Code: L</a:t>
            </a:r>
            <a:r>
              <a:rPr lang="en-IN" altLang="en-US" sz="2800" b="1">
                <a:solidFill>
                  <a:schemeClr val="bg1"/>
                </a:solidFill>
                <a:latin typeface="Times New Roman" panose="02020603050405020304" charset="0"/>
                <a:ea typeface="SimSun" panose="02010600030101010101" pitchFamily="2" charset="-122"/>
                <a:cs typeface="Times New Roman" panose="02020603050405020304" charset="0"/>
              </a:rPr>
              <a:t>M00</a:t>
            </a:r>
            <a:endParaRPr lang="en-IN" altLang="en-US" sz="2800" b="1">
              <a:solidFill>
                <a:schemeClr val="bg1"/>
              </a:solidFill>
              <a:latin typeface="Times New Roman" panose="02020603050405020304" charset="0"/>
              <a:ea typeface="SimSun" panose="02010600030101010101" pitchFamily="2" charset="-122"/>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14E97"/>
        </a:solidFill>
        <a:effectLst/>
      </p:bgPr>
    </p:bg>
    <p:spTree>
      <p:nvGrpSpPr>
        <p:cNvPr id="150" name="Shape 150"/>
        <p:cNvGrpSpPr/>
        <p:nvPr/>
      </p:nvGrpSpPr>
      <p:grpSpPr>
        <a:xfrm>
          <a:off x="0" y="0"/>
          <a:ext cx="0" cy="0"/>
          <a:chOff x="0" y="0"/>
          <a:chExt cx="0" cy="0"/>
        </a:xfrm>
      </p:grpSpPr>
      <p:grpSp>
        <p:nvGrpSpPr>
          <p:cNvPr id="151" name="Google Shape;151;p17"/>
          <p:cNvGrpSpPr/>
          <p:nvPr/>
        </p:nvGrpSpPr>
        <p:grpSpPr>
          <a:xfrm>
            <a:off x="-3399096" y="-701386"/>
            <a:ext cx="11970327" cy="10988386"/>
            <a:chOff x="0" y="-47625"/>
            <a:chExt cx="812800" cy="746125"/>
          </a:xfrm>
        </p:grpSpPr>
        <p:sp>
          <p:nvSpPr>
            <p:cNvPr id="152" name="Google Shape;152;p17"/>
            <p:cNvSpPr/>
            <p:nvPr/>
          </p:nvSpPr>
          <p:spPr>
            <a:xfrm>
              <a:off x="0" y="0"/>
              <a:ext cx="812800" cy="698500"/>
            </a:xfrm>
            <a:custGeom>
              <a:avLst/>
              <a:gdLst/>
              <a:ahLst/>
              <a:cxnLst/>
              <a:rect l="l" t="t" r="r" b="b"/>
              <a:pathLst>
                <a:path w="812800" h="698500" extrusionOk="0">
                  <a:moveTo>
                    <a:pt x="812800" y="349250"/>
                  </a:moveTo>
                  <a:lnTo>
                    <a:pt x="609600" y="698500"/>
                  </a:lnTo>
                  <a:lnTo>
                    <a:pt x="203200" y="698500"/>
                  </a:lnTo>
                  <a:lnTo>
                    <a:pt x="0" y="349250"/>
                  </a:lnTo>
                  <a:lnTo>
                    <a:pt x="203200" y="0"/>
                  </a:lnTo>
                  <a:lnTo>
                    <a:pt x="609600" y="0"/>
                  </a:lnTo>
                  <a:lnTo>
                    <a:pt x="812800" y="349250"/>
                  </a:lnTo>
                  <a:close/>
                </a:path>
              </a:pathLst>
            </a:custGeom>
            <a:solidFill>
              <a:srgbClr val="2994E5"/>
            </a:solidFill>
            <a:ln>
              <a:noFill/>
            </a:ln>
          </p:spPr>
        </p:sp>
        <p:sp>
          <p:nvSpPr>
            <p:cNvPr id="153" name="Google Shape;153;p17"/>
            <p:cNvSpPr txBox="1"/>
            <p:nvPr/>
          </p:nvSpPr>
          <p:spPr>
            <a:xfrm>
              <a:off x="114300" y="-47625"/>
              <a:ext cx="584200" cy="746125"/>
            </a:xfrm>
            <a:prstGeom prst="rect">
              <a:avLst/>
            </a:prstGeom>
            <a:noFill/>
            <a:ln>
              <a:noFill/>
            </a:ln>
          </p:spPr>
          <p:txBody>
            <a:bodyPr spcFirstLastPara="1" wrap="square" lIns="50800" tIns="50800" rIns="50800" bIns="50800" anchor="ctr" anchorCtr="0">
              <a:noAutofit/>
            </a:bodyPr>
            <a:lstStyle/>
            <a:p>
              <a:pPr marL="0" marR="0" lvl="0" indent="0" algn="ctr" rtl="0">
                <a:lnSpc>
                  <a:spcPct val="187000"/>
                </a:lnSpc>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sp>
        <p:nvSpPr>
          <p:cNvPr id="155" name="Google Shape;155;p17"/>
          <p:cNvSpPr txBox="1"/>
          <p:nvPr/>
        </p:nvSpPr>
        <p:spPr>
          <a:xfrm>
            <a:off x="8725552" y="1019175"/>
            <a:ext cx="9062746" cy="2769870"/>
          </a:xfrm>
          <a:prstGeom prst="rect">
            <a:avLst/>
          </a:prstGeom>
          <a:noFill/>
          <a:ln>
            <a:noFill/>
          </a:ln>
        </p:spPr>
        <p:txBody>
          <a:bodyPr spcFirstLastPara="1" wrap="square" lIns="0" tIns="0" rIns="0" bIns="0" anchor="t" anchorCtr="0">
            <a:spAutoFit/>
          </a:bodyPr>
          <a:lstStyle/>
          <a:p>
            <a:pPr marL="0" marR="0" lvl="0" indent="0" algn="r" rtl="0">
              <a:lnSpc>
                <a:spcPct val="120000"/>
              </a:lnSpc>
              <a:spcBef>
                <a:spcPts val="0"/>
              </a:spcBef>
              <a:spcAft>
                <a:spcPts val="0"/>
              </a:spcAft>
              <a:buNone/>
            </a:pPr>
            <a:r>
              <a:rPr lang="en-US" altLang="en-US" sz="75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rPr>
              <a:t>Thank You for Watching</a:t>
            </a:r>
            <a:endParaRPr lang="en-US" altLang="en-US" sz="7500" b="0" i="0" u="none" strike="noStrike" cap="none">
              <a:solidFill>
                <a:srgbClr val="FFFFFF"/>
              </a:solidFill>
              <a:latin typeface="Libre Baskerville" panose="02000000000000000000"/>
              <a:ea typeface="Libre Baskerville" panose="02000000000000000000"/>
              <a:cs typeface="Libre Baskerville" panose="02000000000000000000"/>
              <a:sym typeface="Libre Baskerville" panose="02000000000000000000"/>
            </a:endParaRPr>
          </a:p>
        </p:txBody>
      </p:sp>
      <p:sp>
        <p:nvSpPr>
          <p:cNvPr id="156" name="Google Shape;156;p17"/>
          <p:cNvSpPr txBox="1"/>
          <p:nvPr/>
        </p:nvSpPr>
        <p:spPr>
          <a:xfrm>
            <a:off x="10314936" y="4643120"/>
            <a:ext cx="7473362" cy="1000125"/>
          </a:xfrm>
          <a:prstGeom prst="rect">
            <a:avLst/>
          </a:prstGeom>
          <a:noFill/>
          <a:ln>
            <a:noFill/>
          </a:ln>
        </p:spPr>
        <p:txBody>
          <a:bodyPr spcFirstLastPara="1" wrap="square" lIns="0" tIns="0" rIns="0" bIns="0" anchor="t" anchorCtr="0">
            <a:spAutoFit/>
          </a:bodyPr>
          <a:lstStyle/>
          <a:p>
            <a:pPr marL="0" marR="0" lvl="0" indent="0" algn="r" rtl="0">
              <a:lnSpc>
                <a:spcPct val="130000"/>
              </a:lnSpc>
              <a:spcBef>
                <a:spcPts val="0"/>
              </a:spcBef>
              <a:spcAft>
                <a:spcPts val="0"/>
              </a:spcAft>
              <a:buNone/>
            </a:pPr>
            <a:r>
              <a:rPr lang="en-US" altLang="en-US" sz="2500" b="1" i="0" u="none" strike="noStrike" cap="none">
                <a:solidFill>
                  <a:srgbClr val="FFFFFF"/>
                </a:solidFill>
                <a:latin typeface="Times New Roman" panose="02020603050405020304" charset="0"/>
                <a:ea typeface="Libre Franklin Light"/>
                <a:cs typeface="Times New Roman" panose="02020603050405020304" charset="0"/>
                <a:sym typeface="Libre Franklin Light"/>
              </a:rPr>
              <a:t>Connecting Warehouse Operations with Real-Time SAP Execution</a:t>
            </a:r>
            <a:endParaRPr lang="en-US" altLang="en-US" sz="2500" b="1" i="0" u="none" strike="noStrike" cap="none">
              <a:solidFill>
                <a:srgbClr val="FFFFFF"/>
              </a:solidFill>
              <a:latin typeface="Times New Roman" panose="02020603050405020304" charset="0"/>
              <a:ea typeface="Libre Franklin Light"/>
              <a:cs typeface="Times New Roman" panose="02020603050405020304" charset="0"/>
              <a:sym typeface="Libre Franklin Light"/>
            </a:endParaRPr>
          </a:p>
        </p:txBody>
      </p:sp>
      <p:grpSp>
        <p:nvGrpSpPr>
          <p:cNvPr id="158" name="Google Shape;158;p17"/>
          <p:cNvGrpSpPr/>
          <p:nvPr/>
        </p:nvGrpSpPr>
        <p:grpSpPr>
          <a:xfrm>
            <a:off x="12670406" y="6773074"/>
            <a:ext cx="11235187" cy="10313551"/>
            <a:chOff x="0" y="-47625"/>
            <a:chExt cx="812800" cy="746125"/>
          </a:xfrm>
        </p:grpSpPr>
        <p:sp>
          <p:nvSpPr>
            <p:cNvPr id="159" name="Google Shape;159;p17"/>
            <p:cNvSpPr/>
            <p:nvPr/>
          </p:nvSpPr>
          <p:spPr>
            <a:xfrm>
              <a:off x="0" y="0"/>
              <a:ext cx="812800" cy="698500"/>
            </a:xfrm>
            <a:custGeom>
              <a:avLst/>
              <a:gdLst/>
              <a:ahLst/>
              <a:cxnLst/>
              <a:rect l="l" t="t" r="r" b="b"/>
              <a:pathLst>
                <a:path w="812800" h="698500" extrusionOk="0">
                  <a:moveTo>
                    <a:pt x="812800" y="349250"/>
                  </a:moveTo>
                  <a:lnTo>
                    <a:pt x="609600" y="698500"/>
                  </a:lnTo>
                  <a:lnTo>
                    <a:pt x="203200" y="698500"/>
                  </a:lnTo>
                  <a:lnTo>
                    <a:pt x="0" y="349250"/>
                  </a:lnTo>
                  <a:lnTo>
                    <a:pt x="203200" y="0"/>
                  </a:lnTo>
                  <a:lnTo>
                    <a:pt x="609600" y="0"/>
                  </a:lnTo>
                  <a:lnTo>
                    <a:pt x="812800" y="349250"/>
                  </a:lnTo>
                  <a:close/>
                </a:path>
              </a:pathLst>
            </a:custGeom>
            <a:solidFill>
              <a:srgbClr val="2994E5"/>
            </a:solidFill>
            <a:ln>
              <a:noFill/>
            </a:ln>
          </p:spPr>
        </p:sp>
        <p:sp>
          <p:nvSpPr>
            <p:cNvPr id="160" name="Google Shape;160;p17"/>
            <p:cNvSpPr txBox="1"/>
            <p:nvPr/>
          </p:nvSpPr>
          <p:spPr>
            <a:xfrm>
              <a:off x="114300" y="-47625"/>
              <a:ext cx="584200" cy="746125"/>
            </a:xfrm>
            <a:prstGeom prst="rect">
              <a:avLst/>
            </a:prstGeom>
            <a:noFill/>
            <a:ln>
              <a:noFill/>
            </a:ln>
          </p:spPr>
          <p:txBody>
            <a:bodyPr spcFirstLastPara="1" wrap="square" lIns="50800" tIns="50800" rIns="50800" bIns="50800" anchor="ctr" anchorCtr="0">
              <a:noAutofit/>
            </a:bodyPr>
            <a:lstStyle/>
            <a:p>
              <a:pPr marL="0" marR="0" lvl="0" indent="0" algn="ctr" rtl="0">
                <a:lnSpc>
                  <a:spcPct val="187000"/>
                </a:lnSpc>
                <a:spcBef>
                  <a:spcPts val="0"/>
                </a:spcBef>
                <a:spcAft>
                  <a:spcPts val="0"/>
                </a:spcAft>
                <a:buNone/>
              </a:pPr>
              <a:endParaRPr sz="18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grpSp>
      <p:pic>
        <p:nvPicPr>
          <p:cNvPr id="5" name="Picture 4" descr="ChatGPT Image Sep 23, 2026, 12_54_14 PM"/>
          <p:cNvPicPr>
            <a:picLocks noChangeAspect="1"/>
          </p:cNvPicPr>
          <p:nvPr/>
        </p:nvPicPr>
        <p:blipFill>
          <a:blip r:embed="rId1"/>
          <a:stretch>
            <a:fillRect/>
          </a:stretch>
        </p:blipFill>
        <p:spPr>
          <a:xfrm>
            <a:off x="-361950" y="1519555"/>
            <a:ext cx="13032105" cy="9753600"/>
          </a:xfrm>
          <a:prstGeom prst="rect">
            <a:avLst/>
          </a:prstGeom>
        </p:spPr>
      </p:pic>
      <p:sp>
        <p:nvSpPr>
          <p:cNvPr id="2" name="Text Box 1"/>
          <p:cNvSpPr txBox="1"/>
          <p:nvPr/>
        </p:nvSpPr>
        <p:spPr>
          <a:xfrm>
            <a:off x="11271885" y="3924300"/>
            <a:ext cx="6516370" cy="551815"/>
          </a:xfrm>
          <a:prstGeom prst="rect">
            <a:avLst/>
          </a:prstGeom>
        </p:spPr>
        <p:txBody>
          <a:bodyPr wrap="square">
            <a:noAutofit/>
          </a:bodyPr>
          <a:p>
            <a:pPr algn="r"/>
            <a:r>
              <a:rPr lang="en-US" altLang="zh-CN" sz="3200" b="1">
                <a:solidFill>
                  <a:schemeClr val="bg1"/>
                </a:solidFill>
                <a:latin typeface="Times New Roman" panose="02020603050405020304" charset="0"/>
                <a:cs typeface="Times New Roman" panose="02020603050405020304" charset="0"/>
              </a:rPr>
              <a:t>Mobile Data Entry in SAP WM</a:t>
            </a:r>
            <a:endParaRPr lang="en-US" altLang="zh-CN" sz="3200" b="1">
              <a:solidFill>
                <a:schemeClr val="bg1"/>
              </a:solidFill>
              <a:latin typeface="Times New Roman" panose="02020603050405020304" charset="0"/>
              <a:cs typeface="Times New Roman" panose="02020603050405020304" charset="0"/>
            </a:endParaRPr>
          </a:p>
        </p:txBody>
      </p:sp>
      <p:pic>
        <p:nvPicPr>
          <p:cNvPr id="4" name="Picture 3" descr="WMForgeLogo"/>
          <p:cNvPicPr>
            <a:picLocks noChangeAspect="1"/>
          </p:cNvPicPr>
          <p:nvPr/>
        </p:nvPicPr>
        <p:blipFill>
          <a:blip r:embed="rId2"/>
          <a:stretch>
            <a:fillRect/>
          </a:stretch>
        </p:blipFill>
        <p:spPr>
          <a:xfrm>
            <a:off x="16772890" y="127000"/>
            <a:ext cx="1296670" cy="1296670"/>
          </a:xfrm>
          <a:prstGeom prst="rect">
            <a:avLst/>
          </a:prstGeom>
        </p:spPr>
      </p:pic>
      <p:sp>
        <p:nvSpPr>
          <p:cNvPr id="3" name="Text Box 2"/>
          <p:cNvSpPr txBox="1"/>
          <p:nvPr/>
        </p:nvSpPr>
        <p:spPr>
          <a:xfrm>
            <a:off x="12926695" y="5810250"/>
            <a:ext cx="4861560" cy="4248785"/>
          </a:xfrm>
          <a:prstGeom prst="rect">
            <a:avLst/>
          </a:prstGeom>
        </p:spPr>
        <p:txBody>
          <a:bodyPr wrap="square">
            <a:spAutoFit/>
          </a:bodyPr>
          <a:p>
            <a:pPr algn="r" defTabSz="266700"/>
            <a:r>
              <a:rPr lang="en-US" altLang="zh-CN" sz="2400" b="1">
                <a:solidFill>
                  <a:schemeClr val="bg1"/>
                </a:solidFill>
                <a:latin typeface="Times New Roman" panose="02020603050405020304"/>
                <a:ea typeface="SimSun" panose="02010600030101010101" pitchFamily="2" charset="-122"/>
              </a:rPr>
              <a:t>RF Support Following Functions:</a:t>
            </a:r>
            <a:endParaRPr lang="en-US" altLang="zh-CN" sz="2400" b="1">
              <a:solidFill>
                <a:schemeClr val="bg1"/>
              </a:solidFill>
              <a:latin typeface="Times New Roman" panose="02020603050405020304"/>
              <a:ea typeface="SimSun" panose="02010600030101010101" pitchFamily="2" charset="-122"/>
            </a:endParaRPr>
          </a:p>
          <a:p>
            <a:pPr marL="914400" indent="-228600" algn="r" defTabSz="266700">
              <a:spcBef>
                <a:spcPts val="500"/>
              </a:spcBef>
              <a:spcAft>
                <a:spcPts val="500"/>
              </a:spcAft>
              <a:buClr>
                <a:srgbClr val="FFFFFF"/>
              </a:buClr>
              <a:buFont typeface="Symbol" panose="05050102010706020507"/>
              <a:buChar char=""/>
              <a:tabLst>
                <a:tab pos="457200" algn="l"/>
              </a:tabLst>
            </a:pPr>
            <a:r>
              <a:rPr lang="en-US" altLang="zh-CN" sz="2400" b="1">
                <a:solidFill>
                  <a:schemeClr val="bg1"/>
                </a:solidFill>
                <a:latin typeface="Times New Roman" panose="02020603050405020304"/>
                <a:ea typeface="SimSun" panose="02010600030101010101" pitchFamily="2" charset="-122"/>
              </a:rPr>
              <a:t>Good Receipt</a:t>
            </a:r>
            <a:endParaRPr lang="en-US" altLang="zh-CN" sz="2400" b="1">
              <a:solidFill>
                <a:schemeClr val="bg1"/>
              </a:solidFill>
              <a:latin typeface="Times New Roman" panose="02020603050405020304"/>
              <a:ea typeface="SimSun" panose="02010600030101010101" pitchFamily="2" charset="-122"/>
            </a:endParaRPr>
          </a:p>
          <a:p>
            <a:pPr marL="914400" indent="-228600" algn="r" defTabSz="266700">
              <a:spcBef>
                <a:spcPts val="500"/>
              </a:spcBef>
              <a:spcAft>
                <a:spcPts val="500"/>
              </a:spcAft>
              <a:buClr>
                <a:srgbClr val="FFFFFF"/>
              </a:buClr>
              <a:buFont typeface="Symbol" panose="05050102010706020507"/>
              <a:buChar char=""/>
              <a:tabLst>
                <a:tab pos="457200" algn="l"/>
              </a:tabLst>
            </a:pPr>
            <a:r>
              <a:rPr lang="en-US" altLang="zh-CN" sz="2400" b="1">
                <a:solidFill>
                  <a:schemeClr val="bg1"/>
                </a:solidFill>
                <a:latin typeface="Times New Roman" panose="02020603050405020304"/>
                <a:ea typeface="SimSun" panose="02010600030101010101" pitchFamily="2" charset="-122"/>
              </a:rPr>
              <a:t>Good Issues</a:t>
            </a:r>
            <a:endParaRPr lang="en-US" altLang="zh-CN" sz="2400" b="1">
              <a:solidFill>
                <a:schemeClr val="bg1"/>
              </a:solidFill>
              <a:latin typeface="Times New Roman" panose="02020603050405020304"/>
              <a:ea typeface="SimSun" panose="02010600030101010101" pitchFamily="2" charset="-122"/>
            </a:endParaRPr>
          </a:p>
          <a:p>
            <a:pPr marL="914400" indent="-228600" algn="r" defTabSz="266700">
              <a:spcBef>
                <a:spcPts val="500"/>
              </a:spcBef>
              <a:spcAft>
                <a:spcPts val="500"/>
              </a:spcAft>
              <a:buClr>
                <a:srgbClr val="FFFFFF"/>
              </a:buClr>
              <a:buFont typeface="Symbol" panose="05050102010706020507"/>
              <a:buChar char=""/>
              <a:tabLst>
                <a:tab pos="457200" algn="l"/>
              </a:tabLst>
            </a:pPr>
            <a:r>
              <a:rPr lang="en-US" altLang="zh-CN" sz="2400" b="1">
                <a:solidFill>
                  <a:schemeClr val="bg1"/>
                </a:solidFill>
                <a:latin typeface="Times New Roman" panose="02020603050405020304"/>
                <a:ea typeface="SimSun" panose="02010600030101010101" pitchFamily="2" charset="-122"/>
              </a:rPr>
              <a:t>Putaway</a:t>
            </a:r>
            <a:endParaRPr lang="en-US" altLang="zh-CN" sz="2400" b="1">
              <a:solidFill>
                <a:schemeClr val="bg1"/>
              </a:solidFill>
              <a:latin typeface="Times New Roman" panose="02020603050405020304"/>
              <a:ea typeface="SimSun" panose="02010600030101010101" pitchFamily="2" charset="-122"/>
            </a:endParaRPr>
          </a:p>
          <a:p>
            <a:pPr marL="914400" indent="-228600" algn="r" defTabSz="266700">
              <a:spcBef>
                <a:spcPts val="500"/>
              </a:spcBef>
              <a:spcAft>
                <a:spcPts val="500"/>
              </a:spcAft>
              <a:buClr>
                <a:srgbClr val="FFFFFF"/>
              </a:buClr>
              <a:buFont typeface="Symbol" panose="05050102010706020507"/>
              <a:buChar char=""/>
              <a:tabLst>
                <a:tab pos="457200" algn="l"/>
              </a:tabLst>
            </a:pPr>
            <a:r>
              <a:rPr lang="en-US" altLang="zh-CN" sz="2400" b="1">
                <a:solidFill>
                  <a:schemeClr val="bg1"/>
                </a:solidFill>
                <a:latin typeface="Times New Roman" panose="02020603050405020304"/>
                <a:ea typeface="SimSun" panose="02010600030101010101" pitchFamily="2" charset="-122"/>
              </a:rPr>
              <a:t>Picking</a:t>
            </a:r>
            <a:endParaRPr lang="en-US" altLang="zh-CN" sz="2400" b="1">
              <a:solidFill>
                <a:schemeClr val="bg1"/>
              </a:solidFill>
              <a:latin typeface="Times New Roman" panose="02020603050405020304"/>
              <a:ea typeface="SimSun" panose="02010600030101010101" pitchFamily="2" charset="-122"/>
            </a:endParaRPr>
          </a:p>
          <a:p>
            <a:pPr marL="914400" indent="-228600" algn="r" defTabSz="266700">
              <a:spcBef>
                <a:spcPts val="500"/>
              </a:spcBef>
              <a:spcAft>
                <a:spcPts val="500"/>
              </a:spcAft>
              <a:buClr>
                <a:srgbClr val="FFFFFF"/>
              </a:buClr>
              <a:buFont typeface="Symbol" panose="05050102010706020507"/>
              <a:buChar char=""/>
              <a:tabLst>
                <a:tab pos="457200" algn="l"/>
              </a:tabLst>
            </a:pPr>
            <a:r>
              <a:rPr lang="en-US" altLang="zh-CN" sz="2400" b="1">
                <a:solidFill>
                  <a:schemeClr val="bg1"/>
                </a:solidFill>
                <a:latin typeface="Times New Roman" panose="02020603050405020304"/>
                <a:ea typeface="SimSun" panose="02010600030101010101" pitchFamily="2" charset="-122"/>
              </a:rPr>
              <a:t>Packing and Unpacking</a:t>
            </a:r>
            <a:endParaRPr lang="en-US" altLang="zh-CN" sz="2400" b="1">
              <a:solidFill>
                <a:schemeClr val="bg1"/>
              </a:solidFill>
              <a:latin typeface="Times New Roman" panose="02020603050405020304"/>
              <a:ea typeface="SimSun" panose="02010600030101010101" pitchFamily="2" charset="-122"/>
            </a:endParaRPr>
          </a:p>
          <a:p>
            <a:pPr marL="914400" indent="-228600" algn="r" defTabSz="266700">
              <a:spcBef>
                <a:spcPts val="500"/>
              </a:spcBef>
              <a:spcAft>
                <a:spcPts val="500"/>
              </a:spcAft>
              <a:buClr>
                <a:srgbClr val="FFFFFF"/>
              </a:buClr>
              <a:buFont typeface="Symbol" panose="05050102010706020507"/>
              <a:buChar char=""/>
              <a:tabLst>
                <a:tab pos="457200" algn="l"/>
              </a:tabLst>
            </a:pPr>
            <a:r>
              <a:rPr lang="en-US" altLang="zh-CN" sz="2400" b="1">
                <a:solidFill>
                  <a:schemeClr val="bg1"/>
                </a:solidFill>
                <a:latin typeface="Times New Roman" panose="02020603050405020304"/>
                <a:ea typeface="SimSun" panose="02010600030101010101" pitchFamily="2" charset="-122"/>
              </a:rPr>
              <a:t>Inventory Counting</a:t>
            </a:r>
            <a:endParaRPr lang="en-US" altLang="zh-CN" sz="2400" b="1">
              <a:solidFill>
                <a:schemeClr val="bg1"/>
              </a:solidFill>
              <a:latin typeface="Times New Roman" panose="02020603050405020304"/>
              <a:ea typeface="SimSun" panose="02010600030101010101" pitchFamily="2" charset="-122"/>
            </a:endParaRPr>
          </a:p>
          <a:p>
            <a:pPr marL="914400" indent="-228600" algn="r" defTabSz="266700">
              <a:spcBef>
                <a:spcPts val="500"/>
              </a:spcBef>
              <a:spcAft>
                <a:spcPts val="500"/>
              </a:spcAft>
              <a:buClr>
                <a:srgbClr val="FFFFFF"/>
              </a:buClr>
              <a:buFont typeface="Symbol" panose="05050102010706020507"/>
              <a:buChar char=""/>
              <a:tabLst>
                <a:tab pos="457200" algn="l"/>
              </a:tabLst>
            </a:pPr>
            <a:r>
              <a:rPr lang="en-US" altLang="zh-CN" sz="2400" b="1">
                <a:solidFill>
                  <a:schemeClr val="bg1"/>
                </a:solidFill>
                <a:latin typeface="Times New Roman" panose="02020603050405020304"/>
                <a:ea typeface="SimSun" panose="02010600030101010101" pitchFamily="2" charset="-122"/>
              </a:rPr>
              <a:t>Serial Number Capturing (LM80)</a:t>
            </a:r>
            <a:endParaRPr lang="en-US" altLang="zh-CN" sz="2400" b="1">
              <a:solidFill>
                <a:schemeClr val="bg1"/>
              </a:solidFill>
              <a:latin typeface="Times New Roman" panose="02020603050405020304"/>
              <a:ea typeface="SimSun" panose="02010600030101010101"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250">
        <p14:switch dir="r"/>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6634</Words>
  <Application>WPS Presentation</Application>
  <PresentationFormat/>
  <Paragraphs>150</Paragraphs>
  <Slides>12</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12</vt:i4>
      </vt:variant>
    </vt:vector>
  </HeadingPairs>
  <TitlesOfParts>
    <vt:vector size="26" baseType="lpstr">
      <vt:lpstr>Arial</vt:lpstr>
      <vt:lpstr>SimSun</vt:lpstr>
      <vt:lpstr>Wingdings</vt:lpstr>
      <vt:lpstr>Arial</vt:lpstr>
      <vt:lpstr>Calibri</vt:lpstr>
      <vt:lpstr>Libre Baskerville</vt:lpstr>
      <vt:lpstr>Times New Roman</vt:lpstr>
      <vt:lpstr>Libre Franklin Light</vt:lpstr>
      <vt:lpstr>Libre Franklin</vt:lpstr>
      <vt:lpstr>Times New Roman</vt:lpstr>
      <vt:lpstr>Symbol</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Anshul Khatiyan</cp:lastModifiedBy>
  <cp:revision>91</cp:revision>
  <dcterms:created xsi:type="dcterms:W3CDTF">2026-09-22T12:01:00Z</dcterms:created>
  <dcterms:modified xsi:type="dcterms:W3CDTF">2026-09-28T08:58:14Z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9D0C33BEC91F439F82DEBAEC2EF09EEE_13</vt:lpwstr>
  </property>
</Properties>
</file>